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0A1018"/>
          </a:solidFill>
          <a:ln w="12700">
            <a:solidFill>
              <a:srgbClr val="0A10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37160"/>
            <a:ext cx="109728" cy="109728"/>
          </a:xfrm>
          <a:prstGeom prst="ellipse">
            <a:avLst/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37160"/>
            <a:ext cx="109728" cy="109728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7160"/>
            <a:ext cx="109728" cy="109728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731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900" dirty="0">
                <a:solidFill>
                  <a:srgbClr val="7D8DA1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incident-agent / ablation / overview</a:t>
            </a:r>
            <a:endParaRPr lang="ko-KR" sz="900" dirty="0"/>
          </a:p>
        </p:txBody>
      </p:sp>
      <p:sp>
        <p:nvSpPr>
          <p:cNvPr id="7" name="Shape 5"/>
          <p:cNvSpPr/>
          <p:nvPr/>
        </p:nvSpPr>
        <p:spPr>
          <a:xfrm>
            <a:off x="7818120" y="146304"/>
            <a:ext cx="91440" cy="91440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731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800" b="1" dirty="0">
                <a:solidFill>
                  <a:srgbClr val="3DDC97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ALL SYSTEMS OK</a:t>
            </a:r>
            <a:endParaRPr lang="ko-KR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1005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spc="200" kern="0" dirty="0">
                <a:solidFill>
                  <a:srgbClr val="4CC9F0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&gt; INCIDENT RESPONSE AGENT</a:t>
            </a:r>
            <a:endParaRPr lang="ko-KR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37160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3000" b="1" dirty="0">
                <a:solidFill>
                  <a:srgbClr val="E6EDF3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장애 대응 AI 비서, 무엇이 진짜 효과였나</a:t>
            </a:r>
            <a:endParaRPr lang="ko-KR" sz="3000" dirty="0"/>
          </a:p>
        </p:txBody>
      </p:sp>
      <p:sp>
        <p:nvSpPr>
          <p:cNvPr id="11" name="Text 9"/>
          <p:cNvSpPr/>
          <p:nvPr/>
        </p:nvSpPr>
        <p:spPr>
          <a:xfrm>
            <a:off x="548640" y="26974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D8DA1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개선 5가지를 하나씩 켜고 끄며 실측한 7개 구성 비교</a:t>
            </a:r>
            <a:endParaRPr lang="ko-KR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17212F"/>
          </a:solidFill>
          <a:ln w="12700">
            <a:solidFill>
              <a:srgbClr val="2634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5204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800" b="1" dirty="0">
                <a:solidFill>
                  <a:srgbClr val="7D8DA1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CONFIGS</a:t>
            </a:r>
            <a:endParaRPr lang="ko-KR" sz="800" dirty="0"/>
          </a:p>
        </p:txBody>
      </p:sp>
      <p:sp>
        <p:nvSpPr>
          <p:cNvPr id="14" name="Text 12"/>
          <p:cNvSpPr/>
          <p:nvPr/>
        </p:nvSpPr>
        <p:spPr>
          <a:xfrm>
            <a:off x="685800" y="37490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4CC9F0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7</a:t>
            </a:r>
            <a:endParaRPr lang="ko-KR" sz="2400" dirty="0"/>
          </a:p>
        </p:txBody>
      </p:sp>
      <p:sp>
        <p:nvSpPr>
          <p:cNvPr id="15" name="Shape 13"/>
          <p:cNvSpPr/>
          <p:nvPr/>
        </p:nvSpPr>
        <p:spPr>
          <a:xfrm>
            <a:off x="2514600" y="342900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17212F"/>
          </a:solidFill>
          <a:ln w="12700">
            <a:solidFill>
              <a:srgbClr val="2634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51760" y="35204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800" b="1" dirty="0">
                <a:solidFill>
                  <a:srgbClr val="7D8DA1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SWITCHES</a:t>
            </a:r>
            <a:endParaRPr lang="ko-KR" sz="800" dirty="0"/>
          </a:p>
        </p:txBody>
      </p:sp>
      <p:sp>
        <p:nvSpPr>
          <p:cNvPr id="17" name="Text 15"/>
          <p:cNvSpPr/>
          <p:nvPr/>
        </p:nvSpPr>
        <p:spPr>
          <a:xfrm>
            <a:off x="2651760" y="37490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3DDC97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5</a:t>
            </a:r>
            <a:endParaRPr lang="ko-KR" sz="2400" dirty="0"/>
          </a:p>
        </p:txBody>
      </p:sp>
      <p:sp>
        <p:nvSpPr>
          <p:cNvPr id="18" name="Shape 16"/>
          <p:cNvSpPr/>
          <p:nvPr/>
        </p:nvSpPr>
        <p:spPr>
          <a:xfrm>
            <a:off x="4480560" y="342900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17212F"/>
          </a:solidFill>
          <a:ln w="12700">
            <a:solidFill>
              <a:srgbClr val="2634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35204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800" b="1" dirty="0">
                <a:solidFill>
                  <a:srgbClr val="7D8DA1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PRESENTER</a:t>
            </a:r>
            <a:endParaRPr lang="ko-KR" sz="800" dirty="0"/>
          </a:p>
        </p:txBody>
      </p:sp>
      <p:sp>
        <p:nvSpPr>
          <p:cNvPr id="20" name="Text 18"/>
          <p:cNvSpPr/>
          <p:nvPr/>
        </p:nvSpPr>
        <p:spPr>
          <a:xfrm>
            <a:off x="4617720" y="37490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F5B942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G062</a:t>
            </a:r>
            <a:endParaRPr lang="ko-KR" sz="2400" dirty="0"/>
          </a:p>
        </p:txBody>
      </p:sp>
      <p:sp>
        <p:nvSpPr>
          <p:cNvPr id="21" name="Text 19"/>
          <p:cNvSpPr/>
          <p:nvPr/>
        </p:nvSpPr>
        <p:spPr>
          <a:xfrm>
            <a:off x="548640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D8DA1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SKALA 4기 · 광주 2반 · G062 장병헌</a:t>
            </a:r>
            <a:endParaRPr lang="ko-KR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0A1018"/>
          </a:solidFill>
          <a:ln w="12700">
            <a:solidFill>
              <a:srgbClr val="0A10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37160"/>
            <a:ext cx="109728" cy="109728"/>
          </a:xfrm>
          <a:prstGeom prst="ellipse">
            <a:avLst/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37160"/>
            <a:ext cx="109728" cy="109728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7160"/>
            <a:ext cx="109728" cy="109728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731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900" dirty="0">
                <a:solidFill>
                  <a:srgbClr val="7D8DA1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incident-agent / ablation / metrics  (base → final)</a:t>
            </a:r>
            <a:endParaRPr lang="ko-KR" sz="900" dirty="0"/>
          </a:p>
        </p:txBody>
      </p:sp>
      <p:sp>
        <p:nvSpPr>
          <p:cNvPr id="7" name="Shape 5"/>
          <p:cNvSpPr/>
          <p:nvPr/>
        </p:nvSpPr>
        <p:spPr>
          <a:xfrm>
            <a:off x="7818120" y="146304"/>
            <a:ext cx="91440" cy="91440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731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800" b="1" dirty="0">
                <a:solidFill>
                  <a:srgbClr val="3DDC97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ALL SYSTEMS OK</a:t>
            </a:r>
            <a:endParaRPr lang="ko-KR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5486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000" b="1" dirty="0">
                <a:solidFill>
                  <a:srgbClr val="E6EDF3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핵심 결과</a:t>
            </a:r>
            <a:endParaRPr lang="ko-KR" sz="2000" dirty="0"/>
          </a:p>
        </p:txBody>
      </p:sp>
      <p:sp>
        <p:nvSpPr>
          <p:cNvPr id="10" name="Text 8"/>
          <p:cNvSpPr/>
          <p:nvPr/>
        </p:nvSpPr>
        <p:spPr>
          <a:xfrm>
            <a:off x="3840480" y="62179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00" dirty="0">
                <a:solidFill>
                  <a:srgbClr val="7D8DA1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같은 질문, 같은 채점으로 원본과 최종을 비교</a:t>
            </a:r>
            <a:endParaRPr lang="ko-KR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143000"/>
            <a:ext cx="2651760" cy="1920240"/>
          </a:xfrm>
          <a:prstGeom prst="roundRect">
            <a:avLst>
              <a:gd name="adj" fmla="val 2857"/>
            </a:avLst>
          </a:prstGeom>
          <a:solidFill>
            <a:srgbClr val="17212F"/>
          </a:solidFill>
          <a:ln w="12700">
            <a:solidFill>
              <a:srgbClr val="26344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1325880"/>
            <a:ext cx="109728" cy="109728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126187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b="1" dirty="0">
                <a:solidFill>
                  <a:srgbClr val="7D8DA1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맞는 매뉴얼 누락</a:t>
            </a:r>
            <a:endParaRPr lang="ko-KR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16002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4600" b="1" dirty="0">
                <a:solidFill>
                  <a:srgbClr val="3DDC97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9%</a:t>
            </a:r>
            <a:endParaRPr lang="ko-KR" sz="4600" dirty="0"/>
          </a:p>
        </p:txBody>
      </p:sp>
      <p:sp>
        <p:nvSpPr>
          <p:cNvPr id="15" name="Text 13"/>
          <p:cNvSpPr/>
          <p:nvPr/>
        </p:nvSpPr>
        <p:spPr>
          <a:xfrm>
            <a:off x="640080" y="2560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FF5C5C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prev 56%</a:t>
            </a:r>
            <a:endParaRPr lang="ko-KR" sz="1000" dirty="0"/>
          </a:p>
        </p:txBody>
      </p:sp>
      <p:sp>
        <p:nvSpPr>
          <p:cNvPr id="16" name="Shape 14"/>
          <p:cNvSpPr/>
          <p:nvPr/>
        </p:nvSpPr>
        <p:spPr>
          <a:xfrm>
            <a:off x="3246120" y="1143000"/>
            <a:ext cx="2651760" cy="1920240"/>
          </a:xfrm>
          <a:prstGeom prst="roundRect">
            <a:avLst>
              <a:gd name="adj" fmla="val 2857"/>
            </a:avLst>
          </a:prstGeom>
          <a:solidFill>
            <a:srgbClr val="17212F"/>
          </a:solidFill>
          <a:ln w="12700">
            <a:solidFill>
              <a:srgbClr val="2634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29000" y="1325880"/>
            <a:ext cx="109728" cy="109728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30168" y="126187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b="1" dirty="0">
                <a:solidFill>
                  <a:srgbClr val="7D8DA1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엉뚱한 매뉴얼 혼입</a:t>
            </a:r>
            <a:endParaRPr lang="ko-KR" sz="1000" dirty="0"/>
          </a:p>
        </p:txBody>
      </p:sp>
      <p:sp>
        <p:nvSpPr>
          <p:cNvPr id="19" name="Text 17"/>
          <p:cNvSpPr/>
          <p:nvPr/>
        </p:nvSpPr>
        <p:spPr>
          <a:xfrm>
            <a:off x="3429000" y="16002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4600" b="1" dirty="0">
                <a:solidFill>
                  <a:srgbClr val="3DDC97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35%</a:t>
            </a:r>
            <a:endParaRPr lang="ko-KR" sz="4600" dirty="0"/>
          </a:p>
        </p:txBody>
      </p:sp>
      <p:sp>
        <p:nvSpPr>
          <p:cNvPr id="20" name="Text 18"/>
          <p:cNvSpPr/>
          <p:nvPr/>
        </p:nvSpPr>
        <p:spPr>
          <a:xfrm>
            <a:off x="3429000" y="2560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FF5C5C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prev 65%</a:t>
            </a:r>
            <a:endParaRPr lang="ko-KR" sz="1000" dirty="0"/>
          </a:p>
        </p:txBody>
      </p:sp>
      <p:sp>
        <p:nvSpPr>
          <p:cNvPr id="21" name="Shape 19"/>
          <p:cNvSpPr/>
          <p:nvPr/>
        </p:nvSpPr>
        <p:spPr>
          <a:xfrm>
            <a:off x="6035040" y="1143000"/>
            <a:ext cx="2651760" cy="1920240"/>
          </a:xfrm>
          <a:prstGeom prst="roundRect">
            <a:avLst>
              <a:gd name="adj" fmla="val 2857"/>
            </a:avLst>
          </a:prstGeom>
          <a:solidFill>
            <a:srgbClr val="17212F"/>
          </a:solidFill>
          <a:ln w="12700">
            <a:solidFill>
              <a:srgbClr val="26344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1325880"/>
            <a:ext cx="109728" cy="109728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19088" y="126187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b="1" dirty="0">
                <a:solidFill>
                  <a:srgbClr val="7D8DA1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장애 1건 비용</a:t>
            </a:r>
            <a:endParaRPr lang="ko-KR" sz="1000" dirty="0"/>
          </a:p>
        </p:txBody>
      </p:sp>
      <p:sp>
        <p:nvSpPr>
          <p:cNvPr id="24" name="Text 22"/>
          <p:cNvSpPr/>
          <p:nvPr/>
        </p:nvSpPr>
        <p:spPr>
          <a:xfrm>
            <a:off x="6217920" y="16002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4600" b="1" dirty="0">
                <a:solidFill>
                  <a:srgbClr val="3DDC97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-84%</a:t>
            </a:r>
            <a:endParaRPr lang="ko-KR" sz="4600" dirty="0"/>
          </a:p>
        </p:txBody>
      </p:sp>
      <p:sp>
        <p:nvSpPr>
          <p:cNvPr id="25" name="Text 23"/>
          <p:cNvSpPr/>
          <p:nvPr/>
        </p:nvSpPr>
        <p:spPr>
          <a:xfrm>
            <a:off x="6217920" y="2560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FF5C5C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vs base</a:t>
            </a:r>
            <a:endParaRPr lang="ko-KR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246120"/>
            <a:ext cx="4069080" cy="1325880"/>
          </a:xfrm>
          <a:prstGeom prst="roundRect">
            <a:avLst>
              <a:gd name="adj" fmla="val 4138"/>
            </a:avLst>
          </a:prstGeom>
          <a:solidFill>
            <a:srgbClr val="17212F"/>
          </a:solidFill>
          <a:ln w="12700">
            <a:solidFill>
              <a:srgbClr val="26344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3429000"/>
            <a:ext cx="109728" cy="109728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1248" y="336499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b="1" dirty="0">
                <a:solidFill>
                  <a:srgbClr val="7D8DA1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동시 질문 10개</a:t>
            </a:r>
            <a:endParaRPr lang="ko-KR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37033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800" dirty="0">
                <a:solidFill>
                  <a:srgbClr val="FF5C5C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62.8초</a:t>
            </a:r>
            <a:pPr indent="0" marL="0">
              <a:buNone/>
            </a:pPr>
            <a:r>
              <a:rPr lang="ko-KR" altLang="en-US" sz="1600" dirty="0">
                <a:solidFill>
                  <a:srgbClr val="7D8DA1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  ▸  </a:t>
            </a:r>
            <a:pPr indent="0" marL="0">
              <a:buNone/>
            </a:pPr>
            <a:r>
              <a:rPr lang="ko-KR" altLang="en-US" sz="3000" b="1" dirty="0">
                <a:solidFill>
                  <a:srgbClr val="4CC9F0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9.2초</a:t>
            </a:r>
            <a:endParaRPr lang="ko-KR" sz="1800" dirty="0"/>
          </a:p>
        </p:txBody>
      </p:sp>
      <p:sp>
        <p:nvSpPr>
          <p:cNvPr id="30" name="Shape 28"/>
          <p:cNvSpPr/>
          <p:nvPr/>
        </p:nvSpPr>
        <p:spPr>
          <a:xfrm>
            <a:off x="4663440" y="3246120"/>
            <a:ext cx="4069080" cy="1325880"/>
          </a:xfrm>
          <a:prstGeom prst="roundRect">
            <a:avLst>
              <a:gd name="adj" fmla="val 4138"/>
            </a:avLst>
          </a:prstGeom>
          <a:solidFill>
            <a:srgbClr val="17212F"/>
          </a:solidFill>
          <a:ln w="12700">
            <a:solidFill>
              <a:srgbClr val="26344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3429000"/>
            <a:ext cx="109728" cy="109728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47488" y="336499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b="1" dirty="0">
                <a:solidFill>
                  <a:srgbClr val="7D8DA1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고장 시 완주</a:t>
            </a:r>
            <a:endParaRPr lang="ko-KR" sz="1000" dirty="0"/>
          </a:p>
        </p:txBody>
      </p:sp>
      <p:sp>
        <p:nvSpPr>
          <p:cNvPr id="33" name="Text 31"/>
          <p:cNvSpPr/>
          <p:nvPr/>
        </p:nvSpPr>
        <p:spPr>
          <a:xfrm>
            <a:off x="4846320" y="37033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800" dirty="0">
                <a:solidFill>
                  <a:srgbClr val="FF5C5C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0/19</a:t>
            </a:r>
            <a:pPr indent="0" marL="0">
              <a:buNone/>
            </a:pPr>
            <a:r>
              <a:rPr lang="ko-KR" altLang="en-US" sz="1600" dirty="0">
                <a:solidFill>
                  <a:srgbClr val="7D8DA1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  ▸  </a:t>
            </a:r>
            <a:pPr indent="0" marL="0">
              <a:buNone/>
            </a:pPr>
            <a:r>
              <a:rPr lang="ko-KR" altLang="en-US" sz="3000" b="1" dirty="0">
                <a:solidFill>
                  <a:srgbClr val="4CC9F0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18/18</a:t>
            </a:r>
            <a:endParaRPr lang="ko-KR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0A1018"/>
          </a:solidFill>
          <a:ln w="12700">
            <a:solidFill>
              <a:srgbClr val="0A10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37160"/>
            <a:ext cx="109728" cy="109728"/>
          </a:xfrm>
          <a:prstGeom prst="ellipse">
            <a:avLst/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37160"/>
            <a:ext cx="109728" cy="109728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7160"/>
            <a:ext cx="109728" cy="109728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731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900" dirty="0">
                <a:solidFill>
                  <a:srgbClr val="7D8DA1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incident-agent / pipeline / feature-flags</a:t>
            </a:r>
            <a:endParaRPr lang="ko-KR" sz="900" dirty="0"/>
          </a:p>
        </p:txBody>
      </p:sp>
      <p:sp>
        <p:nvSpPr>
          <p:cNvPr id="7" name="Shape 5"/>
          <p:cNvSpPr/>
          <p:nvPr/>
        </p:nvSpPr>
        <p:spPr>
          <a:xfrm>
            <a:off x="7818120" y="146304"/>
            <a:ext cx="91440" cy="91440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731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800" b="1" dirty="0">
                <a:solidFill>
                  <a:srgbClr val="3DDC97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ALL SYSTEMS OK</a:t>
            </a:r>
            <a:endParaRPr lang="ko-KR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5486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000" b="1" dirty="0">
                <a:solidFill>
                  <a:srgbClr val="E6EDF3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내가 바꾼 것: 기능 플래그 5개</a:t>
            </a:r>
            <a:endParaRPr lang="ko-KR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1115568" cy="658368"/>
          </a:xfrm>
          <a:prstGeom prst="rect">
            <a:avLst>
              <a:gd name="adj" fmla="val 16667"/>
            </a:avLst>
          </a:prstGeom>
          <a:solidFill>
            <a:srgbClr val="17212F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31720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E6EDF3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route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800" dirty="0">
                <a:solidFill>
                  <a:srgbClr val="7D8DA1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질문 분류</a:t>
            </a:r>
            <a:endParaRPr lang="ko-KR" sz="1100" dirty="0"/>
          </a:p>
        </p:txBody>
      </p:sp>
      <p:sp>
        <p:nvSpPr>
          <p:cNvPr id="12" name="Shape 10"/>
          <p:cNvSpPr/>
          <p:nvPr/>
        </p:nvSpPr>
        <p:spPr>
          <a:xfrm>
            <a:off x="1600200" y="2660904"/>
            <a:ext cx="228600" cy="0"/>
          </a:xfrm>
          <a:prstGeom prst="line">
            <a:avLst/>
          </a:prstGeom>
          <a:noFill/>
          <a:ln w="19050">
            <a:solidFill>
              <a:srgbClr val="7D8DA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856232" y="2331720"/>
            <a:ext cx="1115568" cy="658368"/>
          </a:xfrm>
          <a:prstGeom prst="rect">
            <a:avLst>
              <a:gd name="adj" fmla="val 16667"/>
            </a:avLst>
          </a:prstGeom>
          <a:solidFill>
            <a:srgbClr val="17212F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56232" y="2331720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E6EDF3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plan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800" dirty="0">
                <a:solidFill>
                  <a:srgbClr val="7D8DA1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계획</a:t>
            </a:r>
            <a:endParaRPr lang="ko-KR" sz="1100" dirty="0"/>
          </a:p>
        </p:txBody>
      </p:sp>
      <p:sp>
        <p:nvSpPr>
          <p:cNvPr id="15" name="Shape 13"/>
          <p:cNvSpPr/>
          <p:nvPr/>
        </p:nvSpPr>
        <p:spPr>
          <a:xfrm>
            <a:off x="2999232" y="2660904"/>
            <a:ext cx="228600" cy="0"/>
          </a:xfrm>
          <a:prstGeom prst="line">
            <a:avLst/>
          </a:prstGeom>
          <a:noFill/>
          <a:ln w="19050">
            <a:solidFill>
              <a:srgbClr val="7D8DA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255264" y="2331720"/>
            <a:ext cx="1115568" cy="658368"/>
          </a:xfrm>
          <a:prstGeom prst="rect">
            <a:avLst>
              <a:gd name="adj" fmla="val 16667"/>
            </a:avLst>
          </a:prstGeom>
          <a:solidFill>
            <a:srgbClr val="17212F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55264" y="2331720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E6EDF3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research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800" dirty="0">
                <a:solidFill>
                  <a:srgbClr val="7D8DA1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MCP 도구 조회</a:t>
            </a:r>
            <a:endParaRPr lang="ko-KR" sz="1100" dirty="0"/>
          </a:p>
        </p:txBody>
      </p:sp>
      <p:sp>
        <p:nvSpPr>
          <p:cNvPr id="18" name="Shape 16"/>
          <p:cNvSpPr/>
          <p:nvPr/>
        </p:nvSpPr>
        <p:spPr>
          <a:xfrm>
            <a:off x="4398264" y="2660904"/>
            <a:ext cx="228600" cy="0"/>
          </a:xfrm>
          <a:prstGeom prst="line">
            <a:avLst/>
          </a:prstGeom>
          <a:noFill/>
          <a:ln w="19050">
            <a:solidFill>
              <a:srgbClr val="7D8DA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654296" y="2331720"/>
            <a:ext cx="1115568" cy="658368"/>
          </a:xfrm>
          <a:prstGeom prst="rect">
            <a:avLst>
              <a:gd name="adj" fmla="val 16667"/>
            </a:avLst>
          </a:prstGeom>
          <a:solidFill>
            <a:srgbClr val="17212F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54296" y="2331720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E6EDF3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analysis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800" dirty="0">
                <a:solidFill>
                  <a:srgbClr val="7D8DA1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분석</a:t>
            </a:r>
            <a:endParaRPr lang="ko-KR" sz="1100" dirty="0"/>
          </a:p>
        </p:txBody>
      </p:sp>
      <p:sp>
        <p:nvSpPr>
          <p:cNvPr id="21" name="Shape 19"/>
          <p:cNvSpPr/>
          <p:nvPr/>
        </p:nvSpPr>
        <p:spPr>
          <a:xfrm>
            <a:off x="5797296" y="2660904"/>
            <a:ext cx="228600" cy="0"/>
          </a:xfrm>
          <a:prstGeom prst="line">
            <a:avLst/>
          </a:prstGeom>
          <a:noFill/>
          <a:ln w="19050">
            <a:solidFill>
              <a:srgbClr val="7D8DA1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053328" y="2331720"/>
            <a:ext cx="1115568" cy="658368"/>
          </a:xfrm>
          <a:prstGeom prst="rect">
            <a:avLst>
              <a:gd name="adj" fmla="val 16667"/>
            </a:avLst>
          </a:prstGeom>
          <a:solidFill>
            <a:srgbClr val="17212F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53328" y="2331720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E6EDF3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write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800" dirty="0">
                <a:solidFill>
                  <a:srgbClr val="7D8DA1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답 작성</a:t>
            </a:r>
            <a:endParaRPr lang="ko-KR" sz="1100" dirty="0"/>
          </a:p>
        </p:txBody>
      </p:sp>
      <p:sp>
        <p:nvSpPr>
          <p:cNvPr id="24" name="Shape 22"/>
          <p:cNvSpPr/>
          <p:nvPr/>
        </p:nvSpPr>
        <p:spPr>
          <a:xfrm>
            <a:off x="7196328" y="2660904"/>
            <a:ext cx="228600" cy="0"/>
          </a:xfrm>
          <a:prstGeom prst="line">
            <a:avLst/>
          </a:prstGeom>
          <a:noFill/>
          <a:ln w="19050">
            <a:solidFill>
              <a:srgbClr val="7D8DA1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452360" y="2331720"/>
            <a:ext cx="1115568" cy="658368"/>
          </a:xfrm>
          <a:prstGeom prst="rect">
            <a:avLst>
              <a:gd name="adj" fmla="val 16667"/>
            </a:avLst>
          </a:prstGeom>
          <a:solidFill>
            <a:srgbClr val="17212F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52360" y="2331720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E6EDF3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validate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800" dirty="0">
                <a:solidFill>
                  <a:srgbClr val="7D8DA1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검수</a:t>
            </a:r>
            <a:endParaRPr lang="ko-KR" sz="1100" dirty="0"/>
          </a:p>
        </p:txBody>
      </p:sp>
      <p:sp>
        <p:nvSpPr>
          <p:cNvPr id="27" name="Shape 25"/>
          <p:cNvSpPr/>
          <p:nvPr/>
        </p:nvSpPr>
        <p:spPr>
          <a:xfrm>
            <a:off x="3813048" y="2139696"/>
            <a:ext cx="0" cy="192024"/>
          </a:xfrm>
          <a:prstGeom prst="line">
            <a:avLst/>
          </a:prstGeom>
          <a:noFill/>
          <a:ln w="12700">
            <a:solidFill>
              <a:srgbClr val="3DDC97"/>
            </a:solidFill>
            <a:prstDash val="sysDot"/>
          </a:ln>
        </p:spPr>
      </p:sp>
      <p:sp>
        <p:nvSpPr>
          <p:cNvPr id="28" name="Shape 26"/>
          <p:cNvSpPr/>
          <p:nvPr/>
        </p:nvSpPr>
        <p:spPr>
          <a:xfrm>
            <a:off x="3813048" y="1947672"/>
            <a:ext cx="0" cy="192024"/>
          </a:xfrm>
          <a:prstGeom prst="line">
            <a:avLst/>
          </a:prstGeom>
          <a:noFill/>
          <a:ln w="12700">
            <a:solidFill>
              <a:srgbClr val="3DDC97"/>
            </a:solidFill>
            <a:prstDash val="sysDot"/>
          </a:ln>
        </p:spPr>
      </p:sp>
      <p:sp>
        <p:nvSpPr>
          <p:cNvPr id="29" name="Shape 27"/>
          <p:cNvSpPr/>
          <p:nvPr/>
        </p:nvSpPr>
        <p:spPr>
          <a:xfrm>
            <a:off x="3012948" y="1234440"/>
            <a:ext cx="1600200" cy="713232"/>
          </a:xfrm>
          <a:prstGeom prst="roundRect">
            <a:avLst>
              <a:gd name="adj" fmla="val 6410"/>
            </a:avLst>
          </a:prstGeom>
          <a:solidFill>
            <a:srgbClr val="0A1018"/>
          </a:solidFill>
          <a:ln w="12700">
            <a:solidFill>
              <a:srgbClr val="26344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22676" y="1344168"/>
            <a:ext cx="384048" cy="201168"/>
          </a:xfrm>
          <a:prstGeom prst="roundRect">
            <a:avLst>
              <a:gd name="adj" fmla="val 50000"/>
            </a:avLst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14700" y="136245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79876" y="1307592"/>
            <a:ext cx="996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900" b="1" dirty="0">
                <a:solidFill>
                  <a:srgbClr val="E6EDF3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RAG 매뉴얼 검색</a:t>
            </a:r>
            <a:endParaRPr lang="ko-KR" sz="900" dirty="0"/>
          </a:p>
        </p:txBody>
      </p:sp>
      <p:sp>
        <p:nvSpPr>
          <p:cNvPr id="33" name="Text 31"/>
          <p:cNvSpPr/>
          <p:nvPr/>
        </p:nvSpPr>
        <p:spPr>
          <a:xfrm>
            <a:off x="3122676" y="163677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850" dirty="0">
                <a:solidFill>
                  <a:srgbClr val="7D8DA1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뜻으로 매뉴얼 찾기</a:t>
            </a:r>
            <a:endParaRPr lang="ko-KR" sz="850" dirty="0"/>
          </a:p>
        </p:txBody>
      </p:sp>
      <p:sp>
        <p:nvSpPr>
          <p:cNvPr id="34" name="Shape 32"/>
          <p:cNvSpPr/>
          <p:nvPr/>
        </p:nvSpPr>
        <p:spPr>
          <a:xfrm>
            <a:off x="6396228" y="2139696"/>
            <a:ext cx="214884" cy="0"/>
          </a:xfrm>
          <a:prstGeom prst="line">
            <a:avLst/>
          </a:prstGeom>
          <a:noFill/>
          <a:ln w="12700">
            <a:solidFill>
              <a:srgbClr val="3DDC97"/>
            </a:solidFill>
            <a:prstDash val="sysDot"/>
          </a:ln>
        </p:spPr>
      </p:sp>
      <p:sp>
        <p:nvSpPr>
          <p:cNvPr id="35" name="Shape 33"/>
          <p:cNvSpPr/>
          <p:nvPr/>
        </p:nvSpPr>
        <p:spPr>
          <a:xfrm>
            <a:off x="6611112" y="2139696"/>
            <a:ext cx="0" cy="192024"/>
          </a:xfrm>
          <a:prstGeom prst="line">
            <a:avLst/>
          </a:prstGeom>
          <a:noFill/>
          <a:ln w="12700">
            <a:solidFill>
              <a:srgbClr val="3DDC97"/>
            </a:solidFill>
            <a:prstDash val="sysDot"/>
          </a:ln>
        </p:spPr>
      </p:sp>
      <p:sp>
        <p:nvSpPr>
          <p:cNvPr id="36" name="Shape 34"/>
          <p:cNvSpPr/>
          <p:nvPr/>
        </p:nvSpPr>
        <p:spPr>
          <a:xfrm>
            <a:off x="6396228" y="1947672"/>
            <a:ext cx="0" cy="192024"/>
          </a:xfrm>
          <a:prstGeom prst="line">
            <a:avLst/>
          </a:prstGeom>
          <a:noFill/>
          <a:ln w="12700">
            <a:solidFill>
              <a:srgbClr val="3DDC97"/>
            </a:solidFill>
            <a:prstDash val="sysDot"/>
          </a:ln>
        </p:spPr>
      </p:sp>
      <p:sp>
        <p:nvSpPr>
          <p:cNvPr id="37" name="Shape 35"/>
          <p:cNvSpPr/>
          <p:nvPr/>
        </p:nvSpPr>
        <p:spPr>
          <a:xfrm>
            <a:off x="5596128" y="1234440"/>
            <a:ext cx="1600200" cy="713232"/>
          </a:xfrm>
          <a:prstGeom prst="roundRect">
            <a:avLst>
              <a:gd name="adj" fmla="val 6410"/>
            </a:avLst>
          </a:prstGeom>
          <a:solidFill>
            <a:srgbClr val="0A1018"/>
          </a:solidFill>
          <a:ln w="12700">
            <a:solidFill>
              <a:srgbClr val="26344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705856" y="1344168"/>
            <a:ext cx="384048" cy="201168"/>
          </a:xfrm>
          <a:prstGeom prst="roundRect">
            <a:avLst>
              <a:gd name="adj" fmla="val 50000"/>
            </a:avLst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97880" y="136245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63056" y="1307592"/>
            <a:ext cx="996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900" b="1" dirty="0">
                <a:solidFill>
                  <a:srgbClr val="E6EDF3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캐스케이드</a:t>
            </a:r>
            <a:endParaRPr lang="ko-KR" sz="900" dirty="0"/>
          </a:p>
        </p:txBody>
      </p:sp>
      <p:sp>
        <p:nvSpPr>
          <p:cNvPr id="41" name="Text 39"/>
          <p:cNvSpPr/>
          <p:nvPr/>
        </p:nvSpPr>
        <p:spPr>
          <a:xfrm>
            <a:off x="5705856" y="163677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850" dirty="0">
                <a:solidFill>
                  <a:srgbClr val="7D8DA1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작은 모델 먼저</a:t>
            </a:r>
            <a:endParaRPr lang="ko-KR" sz="850" dirty="0"/>
          </a:p>
        </p:txBody>
      </p:sp>
      <p:sp>
        <p:nvSpPr>
          <p:cNvPr id="42" name="Shape 40"/>
          <p:cNvSpPr/>
          <p:nvPr/>
        </p:nvSpPr>
        <p:spPr>
          <a:xfrm>
            <a:off x="8010144" y="2139696"/>
            <a:ext cx="59436" cy="0"/>
          </a:xfrm>
          <a:prstGeom prst="line">
            <a:avLst/>
          </a:prstGeom>
          <a:noFill/>
          <a:ln w="12700">
            <a:solidFill>
              <a:srgbClr val="3DDC97"/>
            </a:solidFill>
            <a:prstDash val="sysDot"/>
          </a:ln>
        </p:spPr>
      </p:sp>
      <p:sp>
        <p:nvSpPr>
          <p:cNvPr id="43" name="Shape 41"/>
          <p:cNvSpPr/>
          <p:nvPr/>
        </p:nvSpPr>
        <p:spPr>
          <a:xfrm>
            <a:off x="8010144" y="2139696"/>
            <a:ext cx="0" cy="192024"/>
          </a:xfrm>
          <a:prstGeom prst="line">
            <a:avLst/>
          </a:prstGeom>
          <a:noFill/>
          <a:ln w="12700">
            <a:solidFill>
              <a:srgbClr val="3DDC97"/>
            </a:solidFill>
            <a:prstDash val="sysDot"/>
          </a:ln>
        </p:spPr>
      </p:sp>
      <p:sp>
        <p:nvSpPr>
          <p:cNvPr id="44" name="Shape 42"/>
          <p:cNvSpPr/>
          <p:nvPr/>
        </p:nvSpPr>
        <p:spPr>
          <a:xfrm>
            <a:off x="8069580" y="1947672"/>
            <a:ext cx="0" cy="192024"/>
          </a:xfrm>
          <a:prstGeom prst="line">
            <a:avLst/>
          </a:prstGeom>
          <a:noFill/>
          <a:ln w="12700">
            <a:solidFill>
              <a:srgbClr val="3DDC97"/>
            </a:solidFill>
            <a:prstDash val="sysDot"/>
          </a:ln>
        </p:spPr>
      </p:sp>
      <p:sp>
        <p:nvSpPr>
          <p:cNvPr id="45" name="Shape 43"/>
          <p:cNvSpPr/>
          <p:nvPr/>
        </p:nvSpPr>
        <p:spPr>
          <a:xfrm>
            <a:off x="7269480" y="1234440"/>
            <a:ext cx="1600200" cy="713232"/>
          </a:xfrm>
          <a:prstGeom prst="roundRect">
            <a:avLst>
              <a:gd name="adj" fmla="val 6410"/>
            </a:avLst>
          </a:prstGeom>
          <a:solidFill>
            <a:srgbClr val="0A1018"/>
          </a:solidFill>
          <a:ln w="12700">
            <a:solidFill>
              <a:srgbClr val="26344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379208" y="1344168"/>
            <a:ext cx="384048" cy="201168"/>
          </a:xfrm>
          <a:prstGeom prst="roundRect">
            <a:avLst>
              <a:gd name="adj" fmla="val 50000"/>
            </a:avLst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571232" y="136245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836408" y="1307592"/>
            <a:ext cx="996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900" b="1" dirty="0">
                <a:solidFill>
                  <a:srgbClr val="E6EDF3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LLM Judge 검수</a:t>
            </a:r>
            <a:endParaRPr lang="ko-KR" sz="900" dirty="0"/>
          </a:p>
        </p:txBody>
      </p:sp>
      <p:sp>
        <p:nvSpPr>
          <p:cNvPr id="49" name="Text 47"/>
          <p:cNvSpPr/>
          <p:nvPr/>
        </p:nvSpPr>
        <p:spPr>
          <a:xfrm>
            <a:off x="7379208" y="163677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850" dirty="0">
                <a:solidFill>
                  <a:srgbClr val="7D8DA1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점수 미달이면 다시 쓰기</a:t>
            </a:r>
            <a:endParaRPr lang="ko-KR" sz="850" dirty="0"/>
          </a:p>
        </p:txBody>
      </p:sp>
      <p:sp>
        <p:nvSpPr>
          <p:cNvPr id="50" name="Shape 48"/>
          <p:cNvSpPr/>
          <p:nvPr/>
        </p:nvSpPr>
        <p:spPr>
          <a:xfrm>
            <a:off x="1014984" y="3182112"/>
            <a:ext cx="2798064" cy="0"/>
          </a:xfrm>
          <a:prstGeom prst="line">
            <a:avLst/>
          </a:prstGeom>
          <a:noFill/>
          <a:ln w="12700">
            <a:solidFill>
              <a:srgbClr val="3DDC97"/>
            </a:solidFill>
            <a:prstDash val="sysDot"/>
          </a:ln>
        </p:spPr>
      </p:sp>
      <p:sp>
        <p:nvSpPr>
          <p:cNvPr id="51" name="Shape 49"/>
          <p:cNvSpPr/>
          <p:nvPr/>
        </p:nvSpPr>
        <p:spPr>
          <a:xfrm>
            <a:off x="1014984" y="2990088"/>
            <a:ext cx="0" cy="192024"/>
          </a:xfrm>
          <a:prstGeom prst="line">
            <a:avLst/>
          </a:prstGeom>
          <a:noFill/>
          <a:ln w="12700">
            <a:solidFill>
              <a:srgbClr val="3DDC97"/>
            </a:solidFill>
            <a:prstDash val="sysDot"/>
          </a:ln>
        </p:spPr>
      </p:sp>
      <p:sp>
        <p:nvSpPr>
          <p:cNvPr id="52" name="Shape 50"/>
          <p:cNvSpPr/>
          <p:nvPr/>
        </p:nvSpPr>
        <p:spPr>
          <a:xfrm>
            <a:off x="2414016" y="2990088"/>
            <a:ext cx="0" cy="192024"/>
          </a:xfrm>
          <a:prstGeom prst="line">
            <a:avLst/>
          </a:prstGeom>
          <a:noFill/>
          <a:ln w="12700">
            <a:solidFill>
              <a:srgbClr val="3DDC97"/>
            </a:solidFill>
            <a:prstDash val="sysDot"/>
          </a:ln>
        </p:spPr>
      </p:sp>
      <p:sp>
        <p:nvSpPr>
          <p:cNvPr id="53" name="Shape 51"/>
          <p:cNvSpPr/>
          <p:nvPr/>
        </p:nvSpPr>
        <p:spPr>
          <a:xfrm>
            <a:off x="3813048" y="2990088"/>
            <a:ext cx="0" cy="192024"/>
          </a:xfrm>
          <a:prstGeom prst="line">
            <a:avLst/>
          </a:prstGeom>
          <a:noFill/>
          <a:ln w="12700">
            <a:solidFill>
              <a:srgbClr val="3DDC97"/>
            </a:solidFill>
            <a:prstDash val="sysDot"/>
          </a:ln>
        </p:spPr>
      </p:sp>
      <p:sp>
        <p:nvSpPr>
          <p:cNvPr id="54" name="Shape 52"/>
          <p:cNvSpPr/>
          <p:nvPr/>
        </p:nvSpPr>
        <p:spPr>
          <a:xfrm>
            <a:off x="2414016" y="3182112"/>
            <a:ext cx="0" cy="192024"/>
          </a:xfrm>
          <a:prstGeom prst="line">
            <a:avLst/>
          </a:prstGeom>
          <a:noFill/>
          <a:ln w="12700">
            <a:solidFill>
              <a:srgbClr val="3DDC97"/>
            </a:solidFill>
            <a:prstDash val="sysDot"/>
          </a:ln>
        </p:spPr>
      </p:sp>
      <p:sp>
        <p:nvSpPr>
          <p:cNvPr id="55" name="Shape 53"/>
          <p:cNvSpPr/>
          <p:nvPr/>
        </p:nvSpPr>
        <p:spPr>
          <a:xfrm>
            <a:off x="1613916" y="3374136"/>
            <a:ext cx="1600200" cy="713232"/>
          </a:xfrm>
          <a:prstGeom prst="roundRect">
            <a:avLst>
              <a:gd name="adj" fmla="val 6410"/>
            </a:avLst>
          </a:prstGeom>
          <a:solidFill>
            <a:srgbClr val="0A1018"/>
          </a:solidFill>
          <a:ln w="12700">
            <a:solidFill>
              <a:srgbClr val="263447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723644" y="3483864"/>
            <a:ext cx="384048" cy="201168"/>
          </a:xfrm>
          <a:prstGeom prst="roundRect">
            <a:avLst>
              <a:gd name="adj" fmla="val 50000"/>
            </a:avLst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915668" y="3502152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180844" y="3447288"/>
            <a:ext cx="996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900" b="1" dirty="0">
                <a:solidFill>
                  <a:srgbClr val="E6EDF3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비동기 · 도구 고장 허용</a:t>
            </a:r>
            <a:endParaRPr lang="ko-KR" sz="900" dirty="0"/>
          </a:p>
        </p:txBody>
      </p:sp>
      <p:sp>
        <p:nvSpPr>
          <p:cNvPr id="59" name="Text 57"/>
          <p:cNvSpPr/>
          <p:nvPr/>
        </p:nvSpPr>
        <p:spPr>
          <a:xfrm>
            <a:off x="1723644" y="377647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850" dirty="0">
                <a:solidFill>
                  <a:srgbClr val="7D8DA1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기다림 줄이고 끝까지</a:t>
            </a:r>
            <a:endParaRPr lang="ko-KR" sz="850" dirty="0"/>
          </a:p>
        </p:txBody>
      </p:sp>
      <p:sp>
        <p:nvSpPr>
          <p:cNvPr id="60" name="Shape 58"/>
          <p:cNvSpPr/>
          <p:nvPr/>
        </p:nvSpPr>
        <p:spPr>
          <a:xfrm>
            <a:off x="3813048" y="3182112"/>
            <a:ext cx="4197096" cy="0"/>
          </a:xfrm>
          <a:prstGeom prst="line">
            <a:avLst/>
          </a:prstGeom>
          <a:noFill/>
          <a:ln w="12700">
            <a:solidFill>
              <a:srgbClr val="3DDC97"/>
            </a:solidFill>
            <a:prstDash val="sysDot"/>
          </a:ln>
        </p:spPr>
      </p:sp>
      <p:sp>
        <p:nvSpPr>
          <p:cNvPr id="61" name="Shape 59"/>
          <p:cNvSpPr/>
          <p:nvPr/>
        </p:nvSpPr>
        <p:spPr>
          <a:xfrm>
            <a:off x="3813048" y="2990088"/>
            <a:ext cx="0" cy="192024"/>
          </a:xfrm>
          <a:prstGeom prst="line">
            <a:avLst/>
          </a:prstGeom>
          <a:noFill/>
          <a:ln w="12700">
            <a:solidFill>
              <a:srgbClr val="3DDC97"/>
            </a:solidFill>
            <a:prstDash val="sysDot"/>
          </a:ln>
        </p:spPr>
      </p:sp>
      <p:sp>
        <p:nvSpPr>
          <p:cNvPr id="62" name="Shape 60"/>
          <p:cNvSpPr/>
          <p:nvPr/>
        </p:nvSpPr>
        <p:spPr>
          <a:xfrm>
            <a:off x="8010144" y="2990088"/>
            <a:ext cx="0" cy="192024"/>
          </a:xfrm>
          <a:prstGeom prst="line">
            <a:avLst/>
          </a:prstGeom>
          <a:noFill/>
          <a:ln w="12700">
            <a:solidFill>
              <a:srgbClr val="3DDC97"/>
            </a:solidFill>
            <a:prstDash val="sysDot"/>
          </a:ln>
        </p:spPr>
      </p:sp>
      <p:sp>
        <p:nvSpPr>
          <p:cNvPr id="63" name="Shape 61"/>
          <p:cNvSpPr/>
          <p:nvPr/>
        </p:nvSpPr>
        <p:spPr>
          <a:xfrm>
            <a:off x="6839712" y="3182112"/>
            <a:ext cx="0" cy="192024"/>
          </a:xfrm>
          <a:prstGeom prst="line">
            <a:avLst/>
          </a:prstGeom>
          <a:noFill/>
          <a:ln w="12700">
            <a:solidFill>
              <a:srgbClr val="3DDC97"/>
            </a:solidFill>
            <a:prstDash val="sysDot"/>
          </a:ln>
        </p:spPr>
      </p:sp>
      <p:sp>
        <p:nvSpPr>
          <p:cNvPr id="64" name="Shape 62"/>
          <p:cNvSpPr/>
          <p:nvPr/>
        </p:nvSpPr>
        <p:spPr>
          <a:xfrm>
            <a:off x="6039612" y="3374136"/>
            <a:ext cx="1600200" cy="713232"/>
          </a:xfrm>
          <a:prstGeom prst="roundRect">
            <a:avLst>
              <a:gd name="adj" fmla="val 6410"/>
            </a:avLst>
          </a:prstGeom>
          <a:solidFill>
            <a:srgbClr val="0A1018"/>
          </a:solidFill>
          <a:ln w="12700">
            <a:solidFill>
              <a:srgbClr val="263447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149340" y="3483864"/>
            <a:ext cx="384048" cy="201168"/>
          </a:xfrm>
          <a:prstGeom prst="roundRect">
            <a:avLst>
              <a:gd name="adj" fmla="val 50000"/>
            </a:avLst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341364" y="3502152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606540" y="3447288"/>
            <a:ext cx="996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900" b="1" dirty="0">
                <a:solidFill>
                  <a:srgbClr val="E6EDF3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v2 보완</a:t>
            </a:r>
            <a:endParaRPr lang="ko-KR" sz="900" dirty="0"/>
          </a:p>
        </p:txBody>
      </p:sp>
      <p:sp>
        <p:nvSpPr>
          <p:cNvPr id="68" name="Text 66"/>
          <p:cNvSpPr/>
          <p:nvPr/>
        </p:nvSpPr>
        <p:spPr>
          <a:xfrm>
            <a:off x="6149340" y="377647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850" dirty="0">
                <a:solidFill>
                  <a:srgbClr val="7D8DA1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최소 유사도 · 수치 검증</a:t>
            </a:r>
            <a:endParaRPr lang="ko-KR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장병헌 (G062)</dc:creator>
  <cp:lastModifiedBy>장병헌 (G062)</cp:lastModifiedBy>
  <cp:revision>1</cp:revision>
  <dcterms:created xsi:type="dcterms:W3CDTF">2026-10-22T02:44:01Z</dcterms:created>
  <dcterms:modified xsi:type="dcterms:W3CDTF">2026-10-22T02:44:01Z</dcterms:modified>
</cp:coreProperties>
</file>