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256032" cy="256032"/>
          </a:xfrm>
          <a:prstGeom prst="ellipse">
            <a:avLst/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916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191F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장애 대응 AI 비서, 무엇이 진짜 효과였나</a:t>
            </a:r>
            <a:endParaRPr lang="ko-KR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개선 5가지, 하나씩 켜 보며 확인했어요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SKALA 4기 · 광주 2반 · G062 장병헌</a:t>
            </a:r>
            <a:endParaRPr lang="ko-KR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91F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이렇게 좋아졌어요</a:t>
            </a:r>
            <a:endParaRPr lang="ko-KR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560320" cy="2057400"/>
          </a:xfrm>
          <a:prstGeom prst="roundRect">
            <a:avLst>
              <a:gd name="adj" fmla="val 8889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맞는 매뉴얼 누락</a:t>
            </a:r>
            <a:endParaRPr lang="ko-KR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5200" b="1" dirty="0">
                <a:solidFill>
                  <a:srgbClr val="3182F6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9%</a:t>
            </a:r>
            <a:endParaRPr lang="ko-KR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56%에서</a:t>
            </a:r>
            <a:endParaRPr lang="ko-KR" sz="1200" dirty="0"/>
          </a:p>
        </p:txBody>
      </p:sp>
      <p:sp>
        <p:nvSpPr>
          <p:cNvPr id="7" name="Shape 5"/>
          <p:cNvSpPr/>
          <p:nvPr/>
        </p:nvSpPr>
        <p:spPr>
          <a:xfrm>
            <a:off x="3273552" y="1143000"/>
            <a:ext cx="2560320" cy="2057400"/>
          </a:xfrm>
          <a:prstGeom prst="roundRect">
            <a:avLst>
              <a:gd name="adj" fmla="val 8889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엉뚱한 매뉴얼 혼입</a:t>
            </a:r>
            <a:endParaRPr lang="ko-KR" sz="1200" dirty="0"/>
          </a:p>
        </p:txBody>
      </p:sp>
      <p:sp>
        <p:nvSpPr>
          <p:cNvPr id="9" name="Text 7"/>
          <p:cNvSpPr/>
          <p:nvPr/>
        </p:nvSpPr>
        <p:spPr>
          <a:xfrm>
            <a:off x="3502152" y="1691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5200" b="1" dirty="0">
                <a:solidFill>
                  <a:srgbClr val="3182F6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35%</a:t>
            </a:r>
            <a:endParaRPr lang="ko-KR" sz="5200" dirty="0"/>
          </a:p>
        </p:txBody>
      </p:sp>
      <p:sp>
        <p:nvSpPr>
          <p:cNvPr id="10" name="Text 8"/>
          <p:cNvSpPr/>
          <p:nvPr/>
        </p:nvSpPr>
        <p:spPr>
          <a:xfrm>
            <a:off x="3502152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65%에서</a:t>
            </a:r>
            <a:endParaRPr lang="ko-KR" sz="1200" dirty="0"/>
          </a:p>
        </p:txBody>
      </p:sp>
      <p:sp>
        <p:nvSpPr>
          <p:cNvPr id="11" name="Shape 9"/>
          <p:cNvSpPr/>
          <p:nvPr/>
        </p:nvSpPr>
        <p:spPr>
          <a:xfrm>
            <a:off x="5998464" y="1143000"/>
            <a:ext cx="2560320" cy="2057400"/>
          </a:xfrm>
          <a:prstGeom prst="roundRect">
            <a:avLst>
              <a:gd name="adj" fmla="val 8889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7064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장애 1건 비용</a:t>
            </a:r>
            <a:endParaRPr lang="ko-KR" sz="1200" dirty="0"/>
          </a:p>
        </p:txBody>
      </p:sp>
      <p:sp>
        <p:nvSpPr>
          <p:cNvPr id="13" name="Text 11"/>
          <p:cNvSpPr/>
          <p:nvPr/>
        </p:nvSpPr>
        <p:spPr>
          <a:xfrm>
            <a:off x="6227064" y="1691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5200" b="1" dirty="0">
                <a:solidFill>
                  <a:srgbClr val="3182F6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-84%</a:t>
            </a:r>
            <a:endParaRPr lang="ko-KR" sz="5200" dirty="0"/>
          </a:p>
        </p:txBody>
      </p:sp>
      <p:sp>
        <p:nvSpPr>
          <p:cNvPr id="14" name="Text 12"/>
          <p:cNvSpPr/>
          <p:nvPr/>
        </p:nvSpPr>
        <p:spPr>
          <a:xfrm>
            <a:off x="6227064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원본보다</a:t>
            </a:r>
            <a:endParaRPr lang="ko-KR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3931920" cy="10058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동시 질문 10개</a:t>
            </a:r>
            <a:endParaRPr lang="ko-KR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794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62.8초 → </a:t>
            </a:r>
            <a:pPr indent="0" marL="0">
              <a:buNone/>
            </a:pPr>
            <a:r>
              <a:rPr lang="ko-KR" altLang="en-US" sz="2600" b="1" dirty="0">
                <a:solidFill>
                  <a:srgbClr val="191F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9.2초</a:t>
            </a:r>
            <a:endParaRPr lang="ko-KR" sz="1600" dirty="0"/>
          </a:p>
        </p:txBody>
      </p:sp>
      <p:sp>
        <p:nvSpPr>
          <p:cNvPr id="18" name="Shape 16"/>
          <p:cNvSpPr/>
          <p:nvPr/>
        </p:nvSpPr>
        <p:spPr>
          <a:xfrm>
            <a:off x="4636008" y="3429000"/>
            <a:ext cx="3931920" cy="100584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고장 시 완주</a:t>
            </a:r>
            <a:endParaRPr lang="ko-KR" sz="1100" dirty="0"/>
          </a:p>
        </p:txBody>
      </p:sp>
      <p:sp>
        <p:nvSpPr>
          <p:cNvPr id="20" name="Text 18"/>
          <p:cNvSpPr/>
          <p:nvPr/>
        </p:nvSpPr>
        <p:spPr>
          <a:xfrm>
            <a:off x="4910328" y="37947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0/19 → </a:t>
            </a:r>
            <a:pPr indent="0" marL="0">
              <a:buNone/>
            </a:pPr>
            <a:r>
              <a:rPr lang="ko-KR" altLang="en-US" sz="2600" b="1" dirty="0">
                <a:solidFill>
                  <a:srgbClr val="191F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18/18</a:t>
            </a:r>
            <a:endParaRPr lang="ko-KR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같은 질문, 같은 채점으로 원본과 최종을 비교</a:t>
            </a:r>
            <a:endParaRPr lang="ko-KR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191F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제가 바꾼 건 5곳이에요</a:t>
            </a:r>
            <a:endParaRPr lang="ko-KR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05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3182F6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1  </a:t>
            </a:r>
            <a:pPr indent="0" marL="0">
              <a:buNone/>
            </a:pPr>
            <a:r>
              <a:rPr lang="ko-KR" alt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route</a:t>
            </a:r>
            <a:pPr indent="0" marL="0">
              <a:buNone/>
            </a:pPr>
            <a:r>
              <a:rPr lang="ko-KR" alt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  질문 분류</a:t>
            </a:r>
            <a:endParaRPr lang="ko-KR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0" cy="137160"/>
          </a:xfrm>
          <a:prstGeom prst="line">
            <a:avLst/>
          </a:prstGeom>
          <a:noFill/>
          <a:ln w="19050">
            <a:solidFill>
              <a:srgbClr val="D1D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45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3182F6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2  </a:t>
            </a:r>
            <a:pPr indent="0" marL="0">
              <a:buNone/>
            </a:pPr>
            <a:r>
              <a:rPr lang="ko-KR" alt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plan</a:t>
            </a:r>
            <a:pPr indent="0" marL="0">
              <a:buNone/>
            </a:pPr>
            <a:r>
              <a:rPr lang="ko-KR" alt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  계획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148840"/>
            <a:ext cx="0" cy="137160"/>
          </a:xfrm>
          <a:prstGeom prst="line">
            <a:avLst/>
          </a:prstGeom>
          <a:noFill/>
          <a:ln w="19050">
            <a:solidFill>
              <a:srgbClr val="D1D6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8600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3182F6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3  </a:t>
            </a:r>
            <a:pPr indent="0" marL="0">
              <a:buNone/>
            </a:pPr>
            <a:r>
              <a:rPr lang="ko-KR" alt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research</a:t>
            </a:r>
            <a:pPr indent="0" marL="0">
              <a:buNone/>
            </a:pPr>
            <a:r>
              <a:rPr lang="ko-KR" alt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  MCP 도구 조회</a:t>
            </a:r>
            <a:endParaRPr lang="ko-KR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788920"/>
            <a:ext cx="0" cy="137160"/>
          </a:xfrm>
          <a:prstGeom prst="line">
            <a:avLst/>
          </a:prstGeom>
          <a:noFill/>
          <a:ln w="19050">
            <a:solidFill>
              <a:srgbClr val="D1D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92608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26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3182F6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4  </a:t>
            </a:r>
            <a:pPr indent="0" marL="0">
              <a:buNone/>
            </a:pPr>
            <a:r>
              <a:rPr lang="ko-KR" alt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analysis</a:t>
            </a:r>
            <a:pPr indent="0" marL="0">
              <a:buNone/>
            </a:pPr>
            <a:r>
              <a:rPr lang="ko-KR" alt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  분석</a:t>
            </a:r>
            <a:endParaRPr lang="ko-KR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429000"/>
            <a:ext cx="0" cy="137160"/>
          </a:xfrm>
          <a:prstGeom prst="line">
            <a:avLst/>
          </a:prstGeom>
          <a:noFill/>
          <a:ln w="19050">
            <a:solidFill>
              <a:srgbClr val="D1D6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5661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66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3182F6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5  </a:t>
            </a:r>
            <a:pPr indent="0" marL="0">
              <a:buNone/>
            </a:pPr>
            <a:r>
              <a:rPr lang="ko-KR" alt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write</a:t>
            </a:r>
            <a:pPr indent="0" marL="0">
              <a:buNone/>
            </a:pPr>
            <a:r>
              <a:rPr lang="ko-KR" alt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  답 작성</a:t>
            </a:r>
            <a:endParaRPr lang="ko-KR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069080"/>
            <a:ext cx="0" cy="137160"/>
          </a:xfrm>
          <a:prstGeom prst="line">
            <a:avLst/>
          </a:prstGeom>
          <a:noFill/>
          <a:ln w="19050">
            <a:solidFill>
              <a:srgbClr val="D1D6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20624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06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3182F6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6  </a:t>
            </a:r>
            <a:pPr indent="0" marL="0">
              <a:buNone/>
            </a:pPr>
            <a:r>
              <a:rPr lang="ko-KR" alt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validate</a:t>
            </a:r>
            <a:pPr indent="0" marL="0">
              <a:buNone/>
            </a:pPr>
            <a:r>
              <a:rPr lang="ko-KR" alt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  검수</a:t>
            </a:r>
            <a:endParaRPr lang="ko-KR" sz="1300" dirty="0"/>
          </a:p>
        </p:txBody>
      </p:sp>
      <p:sp>
        <p:nvSpPr>
          <p:cNvPr id="20" name="Shape 18"/>
          <p:cNvSpPr/>
          <p:nvPr/>
        </p:nvSpPr>
        <p:spPr>
          <a:xfrm>
            <a:off x="3429000" y="960120"/>
            <a:ext cx="5212080" cy="64008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11880" y="1152144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31336" y="1175004"/>
            <a:ext cx="210312" cy="2103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10149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비동기 · 도구 고장 허용</a:t>
            </a:r>
            <a:endParaRPr lang="ko-KR" sz="1300" dirty="0"/>
          </a:p>
        </p:txBody>
      </p:sp>
      <p:sp>
        <p:nvSpPr>
          <p:cNvPr id="24" name="Text 22"/>
          <p:cNvSpPr/>
          <p:nvPr/>
        </p:nvSpPr>
        <p:spPr>
          <a:xfrm>
            <a:off x="4251960" y="129844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기다림 줄이고 끝까지 (1~3단계)</a:t>
            </a:r>
            <a:endParaRPr lang="ko-KR" sz="1000" dirty="0"/>
          </a:p>
        </p:txBody>
      </p:sp>
      <p:sp>
        <p:nvSpPr>
          <p:cNvPr id="25" name="Shape 23"/>
          <p:cNvSpPr/>
          <p:nvPr/>
        </p:nvSpPr>
        <p:spPr>
          <a:xfrm>
            <a:off x="2926080" y="1252728"/>
            <a:ext cx="502920" cy="27432"/>
          </a:xfrm>
          <a:prstGeom prst="line">
            <a:avLst/>
          </a:prstGeom>
          <a:noFill/>
          <a:ln w="12700">
            <a:solidFill>
              <a:srgbClr val="C9DD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1728216"/>
            <a:ext cx="5212080" cy="64008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11880" y="1920240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31336" y="1943100"/>
            <a:ext cx="210312" cy="2103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17830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RAG 매뉴얼 검색</a:t>
            </a:r>
            <a:endParaRPr lang="ko-KR" sz="1300" dirty="0"/>
          </a:p>
        </p:txBody>
      </p:sp>
      <p:sp>
        <p:nvSpPr>
          <p:cNvPr id="30" name="Text 28"/>
          <p:cNvSpPr/>
          <p:nvPr/>
        </p:nvSpPr>
        <p:spPr>
          <a:xfrm>
            <a:off x="4251960" y="20665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뜻으로 매뉴얼 찾기</a:t>
            </a:r>
            <a:endParaRPr lang="ko-KR" sz="1000" dirty="0"/>
          </a:p>
        </p:txBody>
      </p:sp>
      <p:sp>
        <p:nvSpPr>
          <p:cNvPr id="31" name="Shape 29"/>
          <p:cNvSpPr/>
          <p:nvPr/>
        </p:nvSpPr>
        <p:spPr>
          <a:xfrm>
            <a:off x="2926080" y="2532888"/>
            <a:ext cx="502920" cy="-484632"/>
          </a:xfrm>
          <a:prstGeom prst="line">
            <a:avLst/>
          </a:prstGeom>
          <a:noFill/>
          <a:ln w="12700">
            <a:solidFill>
              <a:srgbClr val="C9DDF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9000" y="2496312"/>
            <a:ext cx="5212080" cy="64008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11880" y="2688336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31336" y="2711196"/>
            <a:ext cx="210312" cy="2103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51960" y="2551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v2 보완</a:t>
            </a:r>
            <a:endParaRPr lang="ko-KR" sz="1300" dirty="0"/>
          </a:p>
        </p:txBody>
      </p:sp>
      <p:sp>
        <p:nvSpPr>
          <p:cNvPr id="36" name="Text 34"/>
          <p:cNvSpPr/>
          <p:nvPr/>
        </p:nvSpPr>
        <p:spPr>
          <a:xfrm>
            <a:off x="4251960" y="28346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최소 유사도 · 수치 검증 (3·6단계)</a:t>
            </a:r>
            <a:endParaRPr lang="ko-KR" sz="1000" dirty="0"/>
          </a:p>
        </p:txBody>
      </p:sp>
      <p:sp>
        <p:nvSpPr>
          <p:cNvPr id="37" name="Shape 35"/>
          <p:cNvSpPr/>
          <p:nvPr/>
        </p:nvSpPr>
        <p:spPr>
          <a:xfrm>
            <a:off x="2926080" y="2532888"/>
            <a:ext cx="502920" cy="283464"/>
          </a:xfrm>
          <a:prstGeom prst="line">
            <a:avLst/>
          </a:prstGeom>
          <a:noFill/>
          <a:ln w="12700">
            <a:solidFill>
              <a:srgbClr val="C9DDF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29000" y="3264408"/>
            <a:ext cx="5212080" cy="64008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11880" y="3456432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31336" y="3479292"/>
            <a:ext cx="210312" cy="2103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51960" y="33192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캐스케이드</a:t>
            </a:r>
            <a:endParaRPr lang="ko-KR" sz="1300" dirty="0"/>
          </a:p>
        </p:txBody>
      </p:sp>
      <p:sp>
        <p:nvSpPr>
          <p:cNvPr id="42" name="Text 40"/>
          <p:cNvSpPr/>
          <p:nvPr/>
        </p:nvSpPr>
        <p:spPr>
          <a:xfrm>
            <a:off x="4251960" y="36027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작은 모델 먼저 써 보기</a:t>
            </a:r>
            <a:endParaRPr lang="ko-KR" sz="1000" dirty="0"/>
          </a:p>
        </p:txBody>
      </p:sp>
      <p:sp>
        <p:nvSpPr>
          <p:cNvPr id="43" name="Shape 41"/>
          <p:cNvSpPr/>
          <p:nvPr/>
        </p:nvSpPr>
        <p:spPr>
          <a:xfrm>
            <a:off x="2926080" y="3813048"/>
            <a:ext cx="502920" cy="-228600"/>
          </a:xfrm>
          <a:prstGeom prst="line">
            <a:avLst/>
          </a:prstGeom>
          <a:noFill/>
          <a:ln w="12700">
            <a:solidFill>
              <a:srgbClr val="C9DDF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29000" y="4032504"/>
            <a:ext cx="5212080" cy="64008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11880" y="4224528"/>
            <a:ext cx="457200" cy="256032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31336" y="4247388"/>
            <a:ext cx="210312" cy="2103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51960" y="4087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LLM Judge 검수</a:t>
            </a:r>
            <a:endParaRPr lang="ko-KR" sz="1300" dirty="0"/>
          </a:p>
        </p:txBody>
      </p:sp>
      <p:sp>
        <p:nvSpPr>
          <p:cNvPr id="48" name="Text 46"/>
          <p:cNvSpPr/>
          <p:nvPr/>
        </p:nvSpPr>
        <p:spPr>
          <a:xfrm>
            <a:off x="4251960" y="43708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129"/>
                <a:cs typeface="Noto Sans KR" pitchFamily="34" charset="-120"/>
              </a:rPr>
              <a:t>점수 미달이면 다시 쓰기</a:t>
            </a:r>
            <a:endParaRPr lang="ko-KR" sz="1000" dirty="0"/>
          </a:p>
        </p:txBody>
      </p:sp>
      <p:sp>
        <p:nvSpPr>
          <p:cNvPr id="49" name="Shape 47"/>
          <p:cNvSpPr/>
          <p:nvPr/>
        </p:nvSpPr>
        <p:spPr>
          <a:xfrm>
            <a:off x="2926080" y="4453128"/>
            <a:ext cx="502920" cy="-100584"/>
          </a:xfrm>
          <a:prstGeom prst="line">
            <a:avLst/>
          </a:prstGeom>
          <a:noFill/>
          <a:ln w="12700">
            <a:solidFill>
              <a:srgbClr val="C9DDF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장병헌 (G062)</dc:creator>
  <cp:lastModifiedBy>장병헌 (G062)</cp:lastModifiedBy>
  <cp:revision>1</cp:revision>
  <dcterms:created xsi:type="dcterms:W3CDTF">2026-10-22T02:44:01Z</dcterms:created>
  <dcterms:modified xsi:type="dcterms:W3CDTF">2026-10-22T02:44:01Z</dcterms:modified>
</cp:coreProperties>
</file>