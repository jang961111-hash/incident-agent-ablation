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ngbyeongheon/projects/incident-agent-ablation/docs/figures/gpt_webto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54864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914400"/>
            <a:ext cx="4572000" cy="21945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0" y="2926080"/>
            <a:ext cx="457200" cy="365760"/>
          </a:xfrm>
          <a:prstGeom prst="rtTriangl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0972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6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대응 AI 비서, 무엇이 진짜 효과였나</a:t>
            </a:r>
            <a:endParaRPr lang="ko-KR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새벽 장애 알람, AI 비서가 먼저 매뉴얼을 펼쳐 준다면?</a:t>
            </a:r>
            <a:endParaRPr lang="ko-KR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40233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E8C2"/>
          </a:solidFill>
          <a:ln w="12700">
            <a:solidFill>
              <a:srgbClr val="FFE8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SKALA 4기 · 광주 2반 · G062 장병헌</a:t>
            </a:r>
            <a:endParaRPr lang="ko-K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그래서, 얼마나 나아졌나요?</a:t>
            </a:r>
            <a:endParaRPr lang="ko-KR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25400">
            <a:solidFill>
              <a:srgbClr val="FFE8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1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맞는 매뉴얼 누락</a:t>
            </a:r>
            <a:endParaRPr lang="ko-KR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전에는 56%</a:t>
            </a:r>
            <a:endParaRPr lang="ko-KR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F28C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지금은 9%</a:t>
            </a:r>
            <a:endParaRPr lang="ko-KR" sz="3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25400">
            <a:solidFill>
              <a:srgbClr val="FFE8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14300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2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엉뚱한 매뉴얼 혼입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전에는 65%</a:t>
            </a:r>
            <a:endParaRPr lang="ko-KR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F28C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지금은 35%</a:t>
            </a:r>
            <a:endParaRPr lang="ko-KR" sz="3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0604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25400">
            <a:solidFill>
              <a:srgbClr val="FFE8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14300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3</a:t>
            </a:r>
            <a:endParaRPr lang="ko-KR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1건 비용</a:t>
            </a:r>
            <a:endParaRPr lang="ko-KR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같은 장애 한 건</a:t>
            </a:r>
            <a:endParaRPr lang="ko-KR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F28C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비용 -84%</a:t>
            </a:r>
            <a:endParaRPr lang="ko-KR" sz="3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4069080" cy="914400"/>
          </a:xfrm>
          <a:prstGeom prst="roundRect">
            <a:avLst>
              <a:gd name="adj" fmla="val 25000"/>
            </a:avLst>
          </a:prstGeom>
          <a:solidFill>
            <a:srgbClr val="FFE8C2"/>
          </a:solidFill>
          <a:ln w="12700">
            <a:solidFill>
              <a:srgbClr val="FFE8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동시 질문 10개</a:t>
            </a:r>
            <a:endParaRPr lang="ko-KR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62.8초  →  </a:t>
            </a:r>
            <a:pPr indent="0" marL="0">
              <a:buNone/>
            </a:pPr>
            <a:r>
              <a:rPr lang="ko-KR" altLang="en-US" sz="2400" b="1" dirty="0">
                <a:solidFill>
                  <a:srgbClr val="4E9F6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9.2초</a:t>
            </a:r>
            <a:endParaRPr lang="ko-KR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3429000"/>
            <a:ext cx="4069080" cy="914400"/>
          </a:xfrm>
          <a:prstGeom prst="roundRect">
            <a:avLst>
              <a:gd name="adj" fmla="val 25000"/>
            </a:avLst>
          </a:prstGeom>
          <a:solidFill>
            <a:srgbClr val="FFE8C2"/>
          </a:solidFill>
          <a:ln w="12700">
            <a:solidFill>
              <a:srgbClr val="FFE8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고장 시 완주</a:t>
            </a:r>
            <a:endParaRPr lang="ko-KR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0/19  →  </a:t>
            </a:r>
            <a:pPr indent="0" marL="0">
              <a:buNone/>
            </a:pPr>
            <a:r>
              <a:rPr lang="ko-KR" altLang="en-US" sz="2400" b="1" dirty="0">
                <a:solidFill>
                  <a:srgbClr val="4E9F6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18/18</a:t>
            </a:r>
            <a:endParaRPr lang="ko-KR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"같은 질문, 같은 채점으로 원본과 최종을 비교"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제가 손본 다섯 군데</a:t>
            </a:r>
            <a:endParaRPr lang="ko-KR" sz="2200" dirty="0"/>
          </a:p>
        </p:txBody>
      </p:sp>
      <p:pic>
        <p:nvPicPr>
          <p:cNvPr id="3" name="Image 0" descr="/Users/jangbyeongheon/projects/incident-agent-ablation/docs/figures/gpt_infograph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82880"/>
            <a:ext cx="1097280" cy="1371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331720"/>
            <a:ext cx="1115568" cy="777240"/>
          </a:xfrm>
          <a:prstGeom prst="ellipse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route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질문 분류</a:t>
            </a:r>
            <a:endParaRPr lang="ko-KR" sz="1100" dirty="0"/>
          </a:p>
        </p:txBody>
      </p:sp>
      <p:sp>
        <p:nvSpPr>
          <p:cNvPr id="6" name="Shape 3"/>
          <p:cNvSpPr/>
          <p:nvPr/>
        </p:nvSpPr>
        <p:spPr>
          <a:xfrm>
            <a:off x="1600200" y="2720340"/>
            <a:ext cx="22860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856232" y="2331720"/>
            <a:ext cx="1115568" cy="777240"/>
          </a:xfrm>
          <a:prstGeom prst="ellipse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56232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plan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계획</a:t>
            </a:r>
            <a:endParaRPr lang="ko-KR" sz="1100" dirty="0"/>
          </a:p>
        </p:txBody>
      </p:sp>
      <p:sp>
        <p:nvSpPr>
          <p:cNvPr id="9" name="Shape 6"/>
          <p:cNvSpPr/>
          <p:nvPr/>
        </p:nvSpPr>
        <p:spPr>
          <a:xfrm>
            <a:off x="2999232" y="2720340"/>
            <a:ext cx="22860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55264" y="2331720"/>
            <a:ext cx="1115568" cy="777240"/>
          </a:xfrm>
          <a:prstGeom prst="ellipse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55264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research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MCP 도구 조회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4398264" y="2720340"/>
            <a:ext cx="22860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654296" y="2331720"/>
            <a:ext cx="1115568" cy="777240"/>
          </a:xfrm>
          <a:prstGeom prst="ellipse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54296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analysis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분석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5797296" y="2720340"/>
            <a:ext cx="22860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053328" y="2331720"/>
            <a:ext cx="1115568" cy="777240"/>
          </a:xfrm>
          <a:prstGeom prst="ellipse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write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답 작성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7196328" y="2720340"/>
            <a:ext cx="22860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452360" y="2331720"/>
            <a:ext cx="1115568" cy="777240"/>
          </a:xfrm>
          <a:prstGeom prst="ellipse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validate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8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검수</a:t>
            </a:r>
            <a:endParaRPr lang="ko-KR" sz="1100" dirty="0"/>
          </a:p>
        </p:txBody>
      </p:sp>
      <p:sp>
        <p:nvSpPr>
          <p:cNvPr id="21" name="Shape 18"/>
          <p:cNvSpPr/>
          <p:nvPr/>
        </p:nvSpPr>
        <p:spPr>
          <a:xfrm>
            <a:off x="3813048" y="2139696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22" name="Shape 19"/>
          <p:cNvSpPr/>
          <p:nvPr/>
        </p:nvSpPr>
        <p:spPr>
          <a:xfrm>
            <a:off x="3813048" y="1947672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23" name="Shape 20"/>
          <p:cNvSpPr/>
          <p:nvPr/>
        </p:nvSpPr>
        <p:spPr>
          <a:xfrm rot="-120000">
            <a:off x="3012948" y="1234440"/>
            <a:ext cx="1600200" cy="713232"/>
          </a:xfrm>
          <a:prstGeom prst="rect">
            <a:avLst/>
          </a:prstGeom>
          <a:solidFill>
            <a:srgbClr val="FFE8C2"/>
          </a:solidFill>
          <a:ln w="6350">
            <a:solidFill>
              <a:srgbClr val="E8C99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104388" y="13075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RAG 매뉴얼 검색</a:t>
            </a:r>
            <a:endParaRPr lang="ko-KR" sz="1000" dirty="0"/>
          </a:p>
        </p:txBody>
      </p:sp>
      <p:sp>
        <p:nvSpPr>
          <p:cNvPr id="25" name="Text 22"/>
          <p:cNvSpPr/>
          <p:nvPr/>
        </p:nvSpPr>
        <p:spPr>
          <a:xfrm>
            <a:off x="3104388" y="1618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뜻으로 매뉴얼 찾기</a:t>
            </a:r>
            <a:endParaRPr lang="ko-KR" sz="900" dirty="0"/>
          </a:p>
        </p:txBody>
      </p:sp>
      <p:sp>
        <p:nvSpPr>
          <p:cNvPr id="26" name="Shape 23"/>
          <p:cNvSpPr/>
          <p:nvPr/>
        </p:nvSpPr>
        <p:spPr>
          <a:xfrm>
            <a:off x="6396228" y="2139696"/>
            <a:ext cx="214884" cy="0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27" name="Shape 24"/>
          <p:cNvSpPr/>
          <p:nvPr/>
        </p:nvSpPr>
        <p:spPr>
          <a:xfrm>
            <a:off x="6611112" y="2139696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28" name="Shape 25"/>
          <p:cNvSpPr/>
          <p:nvPr/>
        </p:nvSpPr>
        <p:spPr>
          <a:xfrm>
            <a:off x="6396228" y="1947672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29" name="Shape 26"/>
          <p:cNvSpPr/>
          <p:nvPr/>
        </p:nvSpPr>
        <p:spPr>
          <a:xfrm rot="120000">
            <a:off x="5596128" y="1234440"/>
            <a:ext cx="1600200" cy="713232"/>
          </a:xfrm>
          <a:prstGeom prst="rect">
            <a:avLst/>
          </a:prstGeom>
          <a:solidFill>
            <a:srgbClr val="FFE1E1"/>
          </a:solidFill>
          <a:ln w="6350">
            <a:solidFill>
              <a:srgbClr val="E8C99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687568" y="13075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캐스케이드</a:t>
            </a:r>
            <a:endParaRPr lang="ko-KR" sz="1000" dirty="0"/>
          </a:p>
        </p:txBody>
      </p:sp>
      <p:sp>
        <p:nvSpPr>
          <p:cNvPr id="31" name="Text 28"/>
          <p:cNvSpPr/>
          <p:nvPr/>
        </p:nvSpPr>
        <p:spPr>
          <a:xfrm>
            <a:off x="5687568" y="1618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작은 모델 먼저</a:t>
            </a:r>
            <a:endParaRPr lang="ko-KR" sz="900" dirty="0"/>
          </a:p>
        </p:txBody>
      </p:sp>
      <p:sp>
        <p:nvSpPr>
          <p:cNvPr id="32" name="Shape 29"/>
          <p:cNvSpPr/>
          <p:nvPr/>
        </p:nvSpPr>
        <p:spPr>
          <a:xfrm>
            <a:off x="8010144" y="2139696"/>
            <a:ext cx="59436" cy="0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33" name="Shape 30"/>
          <p:cNvSpPr/>
          <p:nvPr/>
        </p:nvSpPr>
        <p:spPr>
          <a:xfrm>
            <a:off x="8010144" y="2139696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34" name="Shape 31"/>
          <p:cNvSpPr/>
          <p:nvPr/>
        </p:nvSpPr>
        <p:spPr>
          <a:xfrm>
            <a:off x="8069580" y="1947672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35" name="Shape 32"/>
          <p:cNvSpPr/>
          <p:nvPr/>
        </p:nvSpPr>
        <p:spPr>
          <a:xfrm rot="-120000">
            <a:off x="7269480" y="1234440"/>
            <a:ext cx="1600200" cy="713232"/>
          </a:xfrm>
          <a:prstGeom prst="rect">
            <a:avLst/>
          </a:prstGeom>
          <a:solidFill>
            <a:srgbClr val="FFE8C2"/>
          </a:solidFill>
          <a:ln w="6350">
            <a:solidFill>
              <a:srgbClr val="E8C99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360920" y="13075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LLM Judge 검수</a:t>
            </a:r>
            <a:endParaRPr lang="ko-KR" sz="1000" dirty="0"/>
          </a:p>
        </p:txBody>
      </p:sp>
      <p:sp>
        <p:nvSpPr>
          <p:cNvPr id="37" name="Text 34"/>
          <p:cNvSpPr/>
          <p:nvPr/>
        </p:nvSpPr>
        <p:spPr>
          <a:xfrm>
            <a:off x="7360920" y="1618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점수 미달이면 다시 쓰기</a:t>
            </a:r>
            <a:endParaRPr lang="ko-KR" sz="900" dirty="0"/>
          </a:p>
        </p:txBody>
      </p:sp>
      <p:sp>
        <p:nvSpPr>
          <p:cNvPr id="38" name="Shape 35"/>
          <p:cNvSpPr/>
          <p:nvPr/>
        </p:nvSpPr>
        <p:spPr>
          <a:xfrm>
            <a:off x="1014984" y="3300984"/>
            <a:ext cx="2798064" cy="0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39" name="Shape 36"/>
          <p:cNvSpPr/>
          <p:nvPr/>
        </p:nvSpPr>
        <p:spPr>
          <a:xfrm>
            <a:off x="1014984" y="3108960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40" name="Shape 37"/>
          <p:cNvSpPr/>
          <p:nvPr/>
        </p:nvSpPr>
        <p:spPr>
          <a:xfrm>
            <a:off x="2414016" y="3108960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41" name="Shape 38"/>
          <p:cNvSpPr/>
          <p:nvPr/>
        </p:nvSpPr>
        <p:spPr>
          <a:xfrm>
            <a:off x="3813048" y="3108960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42" name="Shape 39"/>
          <p:cNvSpPr/>
          <p:nvPr/>
        </p:nvSpPr>
        <p:spPr>
          <a:xfrm>
            <a:off x="2414016" y="3300984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43" name="Shape 40"/>
          <p:cNvSpPr/>
          <p:nvPr/>
        </p:nvSpPr>
        <p:spPr>
          <a:xfrm rot="120000">
            <a:off x="1613916" y="3493008"/>
            <a:ext cx="1600200" cy="713232"/>
          </a:xfrm>
          <a:prstGeom prst="rect">
            <a:avLst/>
          </a:prstGeom>
          <a:solidFill>
            <a:srgbClr val="FFE1E1"/>
          </a:solidFill>
          <a:ln w="6350">
            <a:solidFill>
              <a:srgbClr val="E8C99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1705356" y="3566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비동기 · 도구 고장 허용</a:t>
            </a:r>
            <a:endParaRPr lang="ko-KR" sz="1000" dirty="0"/>
          </a:p>
        </p:txBody>
      </p:sp>
      <p:sp>
        <p:nvSpPr>
          <p:cNvPr id="45" name="Text 42"/>
          <p:cNvSpPr/>
          <p:nvPr/>
        </p:nvSpPr>
        <p:spPr>
          <a:xfrm>
            <a:off x="1705356" y="38770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기다림 줄이고 끝까지</a:t>
            </a:r>
            <a:endParaRPr lang="ko-KR" sz="900" dirty="0"/>
          </a:p>
        </p:txBody>
      </p:sp>
      <p:sp>
        <p:nvSpPr>
          <p:cNvPr id="46" name="Shape 43"/>
          <p:cNvSpPr/>
          <p:nvPr/>
        </p:nvSpPr>
        <p:spPr>
          <a:xfrm>
            <a:off x="3813048" y="3300984"/>
            <a:ext cx="4197096" cy="0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47" name="Shape 44"/>
          <p:cNvSpPr/>
          <p:nvPr/>
        </p:nvSpPr>
        <p:spPr>
          <a:xfrm>
            <a:off x="3813048" y="3108960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48" name="Shape 45"/>
          <p:cNvSpPr/>
          <p:nvPr/>
        </p:nvSpPr>
        <p:spPr>
          <a:xfrm>
            <a:off x="8010144" y="3108960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49" name="Shape 46"/>
          <p:cNvSpPr/>
          <p:nvPr/>
        </p:nvSpPr>
        <p:spPr>
          <a:xfrm>
            <a:off x="6839712" y="3300984"/>
            <a:ext cx="0" cy="192024"/>
          </a:xfrm>
          <a:prstGeom prst="line">
            <a:avLst/>
          </a:prstGeom>
          <a:noFill/>
          <a:ln w="12700">
            <a:solidFill>
              <a:srgbClr val="D9A066"/>
            </a:solidFill>
            <a:prstDash val="sysDot"/>
          </a:ln>
        </p:spPr>
      </p:sp>
      <p:sp>
        <p:nvSpPr>
          <p:cNvPr id="50" name="Shape 47"/>
          <p:cNvSpPr/>
          <p:nvPr/>
        </p:nvSpPr>
        <p:spPr>
          <a:xfrm rot="-120000">
            <a:off x="6039612" y="3493008"/>
            <a:ext cx="1600200" cy="713232"/>
          </a:xfrm>
          <a:prstGeom prst="rect">
            <a:avLst/>
          </a:prstGeom>
          <a:solidFill>
            <a:srgbClr val="FFE8C2"/>
          </a:solidFill>
          <a:ln w="6350">
            <a:solidFill>
              <a:srgbClr val="E8C99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131052" y="3566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5B3A29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v2 보완</a:t>
            </a:r>
            <a:endParaRPr lang="ko-KR" sz="1000" dirty="0"/>
          </a:p>
        </p:txBody>
      </p:sp>
      <p:sp>
        <p:nvSpPr>
          <p:cNvPr id="52" name="Text 49"/>
          <p:cNvSpPr/>
          <p:nvPr/>
        </p:nvSpPr>
        <p:spPr>
          <a:xfrm>
            <a:off x="6131052" y="38770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rgbClr val="8A6F5E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최소 유사도 · 수치 검증</a:t>
            </a:r>
            <a:endParaRPr lang="ko-K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장병헌 (G062)</dc:creator>
  <cp:lastModifiedBy>장병헌 (G062)</cp:lastModifiedBy>
  <cp:revision>1</cp:revision>
  <dcterms:created xsi:type="dcterms:W3CDTF">2026-10-22T02:44:01Z</dcterms:created>
  <dcterms:modified xsi:type="dcterms:W3CDTF">2026-10-22T02:44:01Z</dcterms:modified>
</cp:coreProperties>
</file>