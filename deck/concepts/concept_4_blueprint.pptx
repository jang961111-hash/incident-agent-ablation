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spc="200" kern="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WHITEPAPER  ·  MULTI-AGENT ARCHITECTURE</a:t>
            </a:r>
            <a:endParaRPr lang="ko-KR" sz="900" dirty="0"/>
          </a:p>
        </p:txBody>
      </p:sp>
      <p:sp>
        <p:nvSpPr>
          <p:cNvPr id="36" name="Shape 34"/>
          <p:cNvSpPr/>
          <p:nvPr/>
        </p:nvSpPr>
        <p:spPr>
          <a:xfrm flipH="1">
            <a:off x="5897880" y="868680"/>
            <a:ext cx="1188720" cy="18288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868680"/>
            <a:ext cx="1097280" cy="64008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6903720" y="868680"/>
            <a:ext cx="182880" cy="118872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3720" y="2057400"/>
            <a:ext cx="1097280" cy="64008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6080760" y="2057400"/>
            <a:ext cx="822960" cy="45720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1051560"/>
            <a:ext cx="182880" cy="1463040"/>
          </a:xfrm>
          <a:prstGeom prst="line">
            <a:avLst/>
          </a:prstGeom>
          <a:noFill/>
          <a:ln w="12700">
            <a:solidFill>
              <a:srgbClr val="9FB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914400"/>
            <a:ext cx="274320" cy="274320"/>
          </a:xfrm>
          <a:prstGeom prst="ellipse">
            <a:avLst/>
          </a:prstGeom>
          <a:solidFill>
            <a:srgbClr val="2B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0" y="731520"/>
            <a:ext cx="274320" cy="274320"/>
          </a:xfrm>
          <a:prstGeom prst="ellipse">
            <a:avLst/>
          </a:prstGeom>
          <a:solidFill>
            <a:srgbClr val="0F9D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1371600"/>
            <a:ext cx="274320" cy="274320"/>
          </a:xfrm>
          <a:prstGeom prst="ellipse">
            <a:avLst/>
          </a:prstGeom>
          <a:solidFill>
            <a:srgbClr val="2B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1920240"/>
            <a:ext cx="274320" cy="274320"/>
          </a:xfrm>
          <a:prstGeom prst="ellipse">
            <a:avLst/>
          </a:prstGeom>
          <a:solidFill>
            <a:srgbClr val="0F9D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2560320"/>
            <a:ext cx="274320" cy="274320"/>
          </a:xfrm>
          <a:prstGeom prst="ellipse">
            <a:avLst/>
          </a:prstGeom>
          <a:solidFill>
            <a:srgbClr val="2B3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2377440"/>
            <a:ext cx="274320" cy="274320"/>
          </a:xfrm>
          <a:prstGeom prst="ellipse">
            <a:avLst/>
          </a:prstGeom>
          <a:solidFill>
            <a:srgbClr val="0F9D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대응 AI 비서, 무엇이 진짜 효과였나</a:t>
            </a:r>
            <a:endParaRPr lang="ko-KR" sz="2800" dirty="0"/>
          </a:p>
        </p:txBody>
      </p:sp>
      <p:sp>
        <p:nvSpPr>
          <p:cNvPr id="49" name="Text 47"/>
          <p:cNvSpPr/>
          <p:nvPr/>
        </p:nvSpPr>
        <p:spPr>
          <a:xfrm>
            <a:off x="54864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5가지를 하나씩 켜고 끄며 실측한 7개 구성 비교</a:t>
            </a:r>
            <a:endParaRPr lang="ko-KR" sz="1200" dirty="0"/>
          </a:p>
        </p:txBody>
      </p:sp>
      <p:sp>
        <p:nvSpPr>
          <p:cNvPr id="50" name="Shape 48"/>
          <p:cNvSpPr/>
          <p:nvPr/>
        </p:nvSpPr>
        <p:spPr>
          <a:xfrm>
            <a:off x="5120640" y="384048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4160520"/>
            <a:ext cx="3566160" cy="0"/>
          </a:xfrm>
          <a:prstGeom prst="line">
            <a:avLst/>
          </a:prstGeom>
          <a:noFill/>
          <a:ln w="9525">
            <a:solidFill>
              <a:srgbClr val="2B3A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3840480"/>
            <a:ext cx="0" cy="320040"/>
          </a:xfrm>
          <a:prstGeom prst="line">
            <a:avLst/>
          </a:prstGeom>
          <a:noFill/>
          <a:ln w="9525">
            <a:solidFill>
              <a:srgbClr val="2B3A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DOC</a:t>
            </a:r>
            <a:endParaRPr lang="ko-KR" sz="800" dirty="0"/>
          </a:p>
        </p:txBody>
      </p:sp>
      <p:sp>
        <p:nvSpPr>
          <p:cNvPr id="54" name="Text 52"/>
          <p:cNvSpPr/>
          <p:nvPr/>
        </p:nvSpPr>
        <p:spPr>
          <a:xfrm>
            <a:off x="630936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Ablation Study  ·  v2</a:t>
            </a:r>
            <a:endParaRPr lang="ko-KR" sz="900" dirty="0"/>
          </a:p>
        </p:txBody>
      </p:sp>
      <p:sp>
        <p:nvSpPr>
          <p:cNvPr id="55" name="Text 53"/>
          <p:cNvSpPr/>
          <p:nvPr/>
        </p:nvSpPr>
        <p:spPr>
          <a:xfrm>
            <a:off x="521208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spc="200" kern="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FIG. 1  ·  RESULTS  (base → final)</a:t>
            </a:r>
            <a:endParaRPr lang="ko-KR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핵심 결과</a:t>
            </a:r>
            <a:endParaRPr lang="ko-KR" sz="2200" dirty="0"/>
          </a:p>
        </p:txBody>
      </p:sp>
      <p:sp>
        <p:nvSpPr>
          <p:cNvPr id="37" name="Text 35"/>
          <p:cNvSpPr/>
          <p:nvPr/>
        </p:nvSpPr>
        <p:spPr>
          <a:xfrm>
            <a:off x="3657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같은 질문, 같은 채점으로 원본과 최종을 비교</a:t>
            </a:r>
            <a:endParaRPr lang="ko-KR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맞는 매뉴얼 누락</a:t>
            </a:r>
            <a:endParaRPr lang="ko-KR" sz="1300" dirty="0"/>
          </a:p>
        </p:txBody>
      </p:sp>
      <p:sp>
        <p:nvSpPr>
          <p:cNvPr id="39" name="Shape 37"/>
          <p:cNvSpPr/>
          <p:nvPr/>
        </p:nvSpPr>
        <p:spPr>
          <a:xfrm>
            <a:off x="2560320" y="146304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3D1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2560320" y="1463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56%</a:t>
            </a:r>
            <a:endParaRPr lang="ko-KR" sz="1600" dirty="0"/>
          </a:p>
        </p:txBody>
      </p:sp>
      <p:sp>
        <p:nvSpPr>
          <p:cNvPr id="41" name="Shape 39"/>
          <p:cNvSpPr/>
          <p:nvPr/>
        </p:nvSpPr>
        <p:spPr>
          <a:xfrm>
            <a:off x="4343400" y="1714500"/>
            <a:ext cx="1463040" cy="0"/>
          </a:xfrm>
          <a:prstGeom prst="line">
            <a:avLst/>
          </a:prstGeom>
          <a:noFill/>
          <a:ln w="25400">
            <a:solidFill>
              <a:srgbClr val="0F9D9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343400" y="1481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적용</a:t>
            </a:r>
            <a:endParaRPr lang="ko-KR" sz="700" dirty="0"/>
          </a:p>
        </p:txBody>
      </p:sp>
      <p:sp>
        <p:nvSpPr>
          <p:cNvPr id="43" name="Shape 41"/>
          <p:cNvSpPr/>
          <p:nvPr/>
        </p:nvSpPr>
        <p:spPr>
          <a:xfrm>
            <a:off x="5852160" y="1463040"/>
            <a:ext cx="2743200" cy="502920"/>
          </a:xfrm>
          <a:prstGeom prst="rect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9%</a:t>
            </a:r>
            <a:endParaRPr lang="ko-KR" sz="2400" dirty="0"/>
          </a:p>
        </p:txBody>
      </p:sp>
      <p:sp>
        <p:nvSpPr>
          <p:cNvPr id="45" name="Text 43"/>
          <p:cNvSpPr/>
          <p:nvPr/>
        </p:nvSpPr>
        <p:spPr>
          <a:xfrm>
            <a:off x="365760" y="21396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엉뚱한 매뉴얼 혼입</a:t>
            </a:r>
            <a:endParaRPr lang="ko-KR" sz="1300" dirty="0"/>
          </a:p>
        </p:txBody>
      </p:sp>
      <p:sp>
        <p:nvSpPr>
          <p:cNvPr id="46" name="Shape 44"/>
          <p:cNvSpPr/>
          <p:nvPr/>
        </p:nvSpPr>
        <p:spPr>
          <a:xfrm>
            <a:off x="2560320" y="2139696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3D1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560320" y="2139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65%</a:t>
            </a:r>
            <a:endParaRPr lang="ko-KR" sz="1600" dirty="0"/>
          </a:p>
        </p:txBody>
      </p:sp>
      <p:sp>
        <p:nvSpPr>
          <p:cNvPr id="48" name="Shape 46"/>
          <p:cNvSpPr/>
          <p:nvPr/>
        </p:nvSpPr>
        <p:spPr>
          <a:xfrm>
            <a:off x="4343400" y="2391156"/>
            <a:ext cx="1463040" cy="0"/>
          </a:xfrm>
          <a:prstGeom prst="line">
            <a:avLst/>
          </a:prstGeom>
          <a:noFill/>
          <a:ln w="25400">
            <a:solidFill>
              <a:srgbClr val="0F9D9A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343400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적용</a:t>
            </a:r>
            <a:endParaRPr lang="ko-KR" sz="700" dirty="0"/>
          </a:p>
        </p:txBody>
      </p:sp>
      <p:sp>
        <p:nvSpPr>
          <p:cNvPr id="50" name="Shape 48"/>
          <p:cNvSpPr/>
          <p:nvPr/>
        </p:nvSpPr>
        <p:spPr>
          <a:xfrm>
            <a:off x="5852160" y="2139696"/>
            <a:ext cx="2743200" cy="502920"/>
          </a:xfrm>
          <a:prstGeom prst="rect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2139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35%</a:t>
            </a:r>
            <a:endParaRPr lang="ko-KR" sz="2400" dirty="0"/>
          </a:p>
        </p:txBody>
      </p:sp>
      <p:sp>
        <p:nvSpPr>
          <p:cNvPr id="52" name="Text 50"/>
          <p:cNvSpPr/>
          <p:nvPr/>
        </p:nvSpPr>
        <p:spPr>
          <a:xfrm>
            <a:off x="365760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1건 비용</a:t>
            </a:r>
            <a:endParaRPr lang="ko-KR" sz="1300" dirty="0"/>
          </a:p>
        </p:txBody>
      </p:sp>
      <p:sp>
        <p:nvSpPr>
          <p:cNvPr id="53" name="Shape 51"/>
          <p:cNvSpPr/>
          <p:nvPr/>
        </p:nvSpPr>
        <p:spPr>
          <a:xfrm>
            <a:off x="2560320" y="2816352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3D1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2560320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base</a:t>
            </a:r>
            <a:endParaRPr lang="ko-KR" sz="1200" dirty="0"/>
          </a:p>
        </p:txBody>
      </p:sp>
      <p:sp>
        <p:nvSpPr>
          <p:cNvPr id="55" name="Shape 53"/>
          <p:cNvSpPr/>
          <p:nvPr/>
        </p:nvSpPr>
        <p:spPr>
          <a:xfrm>
            <a:off x="4343400" y="3067812"/>
            <a:ext cx="1463040" cy="0"/>
          </a:xfrm>
          <a:prstGeom prst="line">
            <a:avLst/>
          </a:prstGeom>
          <a:noFill/>
          <a:ln w="25400">
            <a:solidFill>
              <a:srgbClr val="0F9D9A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343400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적용</a:t>
            </a:r>
            <a:endParaRPr lang="ko-KR" sz="700" dirty="0"/>
          </a:p>
        </p:txBody>
      </p:sp>
      <p:sp>
        <p:nvSpPr>
          <p:cNvPr id="57" name="Shape 55"/>
          <p:cNvSpPr/>
          <p:nvPr/>
        </p:nvSpPr>
        <p:spPr>
          <a:xfrm>
            <a:off x="5852160" y="2816352"/>
            <a:ext cx="2743200" cy="502920"/>
          </a:xfrm>
          <a:prstGeom prst="rect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2816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-84%</a:t>
            </a:r>
            <a:endParaRPr lang="ko-KR" sz="2400" dirty="0"/>
          </a:p>
        </p:txBody>
      </p:sp>
      <p:sp>
        <p:nvSpPr>
          <p:cNvPr id="59" name="Text 57"/>
          <p:cNvSpPr/>
          <p:nvPr/>
        </p:nvSpPr>
        <p:spPr>
          <a:xfrm>
            <a:off x="365760" y="3493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동시 질문 10개</a:t>
            </a:r>
            <a:endParaRPr lang="ko-KR" sz="1100" dirty="0"/>
          </a:p>
        </p:txBody>
      </p:sp>
      <p:sp>
        <p:nvSpPr>
          <p:cNvPr id="60" name="Shape 58"/>
          <p:cNvSpPr/>
          <p:nvPr/>
        </p:nvSpPr>
        <p:spPr>
          <a:xfrm>
            <a:off x="2560320" y="3493008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3D1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560320" y="3493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62.8초</a:t>
            </a:r>
            <a:endParaRPr lang="ko-KR" sz="1600" dirty="0"/>
          </a:p>
        </p:txBody>
      </p:sp>
      <p:sp>
        <p:nvSpPr>
          <p:cNvPr id="62" name="Shape 60"/>
          <p:cNvSpPr/>
          <p:nvPr/>
        </p:nvSpPr>
        <p:spPr>
          <a:xfrm>
            <a:off x="4343400" y="3744468"/>
            <a:ext cx="1463040" cy="0"/>
          </a:xfrm>
          <a:prstGeom prst="line">
            <a:avLst/>
          </a:prstGeom>
          <a:noFill/>
          <a:ln w="25400">
            <a:solidFill>
              <a:srgbClr val="0F9D9A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4343400" y="3511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실행 방식</a:t>
            </a:r>
            <a:endParaRPr lang="ko-KR" sz="700" dirty="0"/>
          </a:p>
        </p:txBody>
      </p:sp>
      <p:sp>
        <p:nvSpPr>
          <p:cNvPr id="64" name="Shape 62"/>
          <p:cNvSpPr/>
          <p:nvPr/>
        </p:nvSpPr>
        <p:spPr>
          <a:xfrm>
            <a:off x="5852160" y="3493008"/>
            <a:ext cx="2743200" cy="502920"/>
          </a:xfrm>
          <a:prstGeom prst="rect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9.2초</a:t>
            </a:r>
            <a:endParaRPr lang="ko-KR" sz="1800" dirty="0"/>
          </a:p>
        </p:txBody>
      </p:sp>
      <p:sp>
        <p:nvSpPr>
          <p:cNvPr id="66" name="Text 64"/>
          <p:cNvSpPr/>
          <p:nvPr/>
        </p:nvSpPr>
        <p:spPr>
          <a:xfrm>
            <a:off x="365760" y="41696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고장 시 완주</a:t>
            </a:r>
            <a:endParaRPr lang="ko-KR" sz="1100" dirty="0"/>
          </a:p>
        </p:txBody>
      </p:sp>
      <p:sp>
        <p:nvSpPr>
          <p:cNvPr id="67" name="Shape 65"/>
          <p:cNvSpPr/>
          <p:nvPr/>
        </p:nvSpPr>
        <p:spPr>
          <a:xfrm>
            <a:off x="2560320" y="4169664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3D1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2560320" y="4169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0/19</a:t>
            </a:r>
            <a:endParaRPr lang="ko-KR" sz="1600" dirty="0"/>
          </a:p>
        </p:txBody>
      </p:sp>
      <p:sp>
        <p:nvSpPr>
          <p:cNvPr id="69" name="Shape 67"/>
          <p:cNvSpPr/>
          <p:nvPr/>
        </p:nvSpPr>
        <p:spPr>
          <a:xfrm>
            <a:off x="4343400" y="4421124"/>
            <a:ext cx="1463040" cy="0"/>
          </a:xfrm>
          <a:prstGeom prst="line">
            <a:avLst/>
          </a:prstGeom>
          <a:noFill/>
          <a:ln w="25400">
            <a:solidFill>
              <a:srgbClr val="0F9D9A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4343400" y="4187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실행 방식</a:t>
            </a:r>
            <a:endParaRPr lang="ko-KR" sz="700" dirty="0"/>
          </a:p>
        </p:txBody>
      </p:sp>
      <p:sp>
        <p:nvSpPr>
          <p:cNvPr id="71" name="Shape 69"/>
          <p:cNvSpPr/>
          <p:nvPr/>
        </p:nvSpPr>
        <p:spPr>
          <a:xfrm>
            <a:off x="5852160" y="4169664"/>
            <a:ext cx="2743200" cy="502920"/>
          </a:xfrm>
          <a:prstGeom prst="rect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4169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18/18</a:t>
            </a:r>
            <a:endParaRPr lang="ko-K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C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spc="200" kern="0" dirty="0">
                <a:solidFill>
                  <a:srgbClr val="0F9D9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FIG. 2  ·  PIPELINE  +  5 PLUG-INS (src/ext/graph_ext.py)</a:t>
            </a:r>
            <a:endParaRPr lang="ko-KR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내가 바꾼 것: 꽂아 넣은 5개 모듈</a:t>
            </a:r>
            <a:endParaRPr lang="ko-KR" sz="2000" dirty="0"/>
          </a:p>
        </p:txBody>
      </p:sp>
      <p:sp>
        <p:nvSpPr>
          <p:cNvPr id="37" name="Shape 35"/>
          <p:cNvSpPr/>
          <p:nvPr/>
        </p:nvSpPr>
        <p:spPr>
          <a:xfrm>
            <a:off x="457200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route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질문 분류</a:t>
            </a:r>
            <a:endParaRPr lang="ko-KR" sz="1100" dirty="0"/>
          </a:p>
        </p:txBody>
      </p:sp>
      <p:sp>
        <p:nvSpPr>
          <p:cNvPr id="39" name="Shape 37"/>
          <p:cNvSpPr/>
          <p:nvPr/>
        </p:nvSpPr>
        <p:spPr>
          <a:xfrm>
            <a:off x="1600200" y="2706624"/>
            <a:ext cx="228600" cy="0"/>
          </a:xfrm>
          <a:prstGeom prst="line">
            <a:avLst/>
          </a:prstGeom>
          <a:noFill/>
          <a:ln w="19050">
            <a:solidFill>
              <a:srgbClr val="2B3A8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856232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plan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계획</a:t>
            </a:r>
            <a:endParaRPr lang="ko-KR" sz="1100" dirty="0"/>
          </a:p>
        </p:txBody>
      </p:sp>
      <p:sp>
        <p:nvSpPr>
          <p:cNvPr id="42" name="Shape 40"/>
          <p:cNvSpPr/>
          <p:nvPr/>
        </p:nvSpPr>
        <p:spPr>
          <a:xfrm>
            <a:off x="2999232" y="2706624"/>
            <a:ext cx="228600" cy="0"/>
          </a:xfrm>
          <a:prstGeom prst="line">
            <a:avLst/>
          </a:prstGeom>
          <a:noFill/>
          <a:ln w="19050">
            <a:solidFill>
              <a:srgbClr val="2B3A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255264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5264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research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MCP 도구 조회</a:t>
            </a:r>
            <a:endParaRPr lang="ko-KR" sz="1100" dirty="0"/>
          </a:p>
        </p:txBody>
      </p:sp>
      <p:sp>
        <p:nvSpPr>
          <p:cNvPr id="45" name="Shape 43"/>
          <p:cNvSpPr/>
          <p:nvPr/>
        </p:nvSpPr>
        <p:spPr>
          <a:xfrm>
            <a:off x="4398264" y="2706624"/>
            <a:ext cx="228600" cy="0"/>
          </a:xfrm>
          <a:prstGeom prst="line">
            <a:avLst/>
          </a:prstGeom>
          <a:noFill/>
          <a:ln w="19050">
            <a:solidFill>
              <a:srgbClr val="2B3A8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654296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296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analysis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분석</a:t>
            </a:r>
            <a:endParaRPr lang="ko-KR" sz="1100" dirty="0"/>
          </a:p>
        </p:txBody>
      </p:sp>
      <p:sp>
        <p:nvSpPr>
          <p:cNvPr id="48" name="Shape 46"/>
          <p:cNvSpPr/>
          <p:nvPr/>
        </p:nvSpPr>
        <p:spPr>
          <a:xfrm>
            <a:off x="5797296" y="2706624"/>
            <a:ext cx="228600" cy="0"/>
          </a:xfrm>
          <a:prstGeom prst="line">
            <a:avLst/>
          </a:prstGeom>
          <a:noFill/>
          <a:ln w="19050">
            <a:solidFill>
              <a:srgbClr val="2B3A8C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53328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write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답 작성</a:t>
            </a:r>
            <a:endParaRPr lang="ko-KR" sz="1100" dirty="0"/>
          </a:p>
        </p:txBody>
      </p:sp>
      <p:sp>
        <p:nvSpPr>
          <p:cNvPr id="51" name="Shape 49"/>
          <p:cNvSpPr/>
          <p:nvPr/>
        </p:nvSpPr>
        <p:spPr>
          <a:xfrm>
            <a:off x="7196328" y="2706624"/>
            <a:ext cx="228600" cy="0"/>
          </a:xfrm>
          <a:prstGeom prst="line">
            <a:avLst/>
          </a:prstGeom>
          <a:noFill/>
          <a:ln w="19050">
            <a:solidFill>
              <a:srgbClr val="2B3A8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452360" y="2377440"/>
            <a:ext cx="11155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23774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B3A8C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validate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검수</a:t>
            </a:r>
            <a:endParaRPr lang="ko-KR" sz="1100" dirty="0"/>
          </a:p>
        </p:txBody>
      </p:sp>
      <p:sp>
        <p:nvSpPr>
          <p:cNvPr id="54" name="Shape 52"/>
          <p:cNvSpPr/>
          <p:nvPr/>
        </p:nvSpPr>
        <p:spPr>
          <a:xfrm>
            <a:off x="3813048" y="2185416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3813048" y="1993392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012948" y="1280160"/>
            <a:ext cx="1600200" cy="713232"/>
          </a:xfrm>
          <a:prstGeom prst="rect">
            <a:avLst/>
          </a:prstGeom>
          <a:solidFill>
            <a:srgbClr val="E6F6F5"/>
          </a:solidFill>
          <a:ln w="12700">
            <a:solidFill>
              <a:srgbClr val="0F9D9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086100" y="1362456"/>
            <a:ext cx="256032" cy="256032"/>
          </a:xfrm>
          <a:prstGeom prst="ellipse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86100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</a:t>
            </a:r>
            <a:endParaRPr lang="ko-KR" sz="900" dirty="0"/>
          </a:p>
        </p:txBody>
      </p:sp>
      <p:sp>
        <p:nvSpPr>
          <p:cNvPr id="59" name="Text 57"/>
          <p:cNvSpPr/>
          <p:nvPr/>
        </p:nvSpPr>
        <p:spPr>
          <a:xfrm>
            <a:off x="3396996" y="1344168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RAG 매뉴얼 검색</a:t>
            </a:r>
            <a:endParaRPr lang="ko-KR" sz="950" dirty="0"/>
          </a:p>
        </p:txBody>
      </p:sp>
      <p:sp>
        <p:nvSpPr>
          <p:cNvPr id="60" name="Text 58"/>
          <p:cNvSpPr/>
          <p:nvPr/>
        </p:nvSpPr>
        <p:spPr>
          <a:xfrm>
            <a:off x="3104388" y="1682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뜻으로 매뉴얼 찾기</a:t>
            </a:r>
            <a:endParaRPr lang="ko-KR" sz="850" dirty="0"/>
          </a:p>
        </p:txBody>
      </p:sp>
      <p:sp>
        <p:nvSpPr>
          <p:cNvPr id="61" name="Shape 59"/>
          <p:cNvSpPr/>
          <p:nvPr/>
        </p:nvSpPr>
        <p:spPr>
          <a:xfrm>
            <a:off x="6396228" y="2185416"/>
            <a:ext cx="214884" cy="0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611112" y="2185416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6396228" y="1993392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5596128" y="1280160"/>
            <a:ext cx="1600200" cy="713232"/>
          </a:xfrm>
          <a:prstGeom prst="rect">
            <a:avLst/>
          </a:prstGeom>
          <a:solidFill>
            <a:srgbClr val="E6F6F5"/>
          </a:solidFill>
          <a:ln w="12700">
            <a:solidFill>
              <a:srgbClr val="0F9D9A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669280" y="1362456"/>
            <a:ext cx="256032" cy="256032"/>
          </a:xfrm>
          <a:prstGeom prst="ellipse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0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2</a:t>
            </a:r>
            <a:endParaRPr 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5980176" y="1344168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캐스케이드</a:t>
            </a:r>
            <a:endParaRPr lang="ko-KR" sz="950" dirty="0"/>
          </a:p>
        </p:txBody>
      </p:sp>
      <p:sp>
        <p:nvSpPr>
          <p:cNvPr id="68" name="Text 66"/>
          <p:cNvSpPr/>
          <p:nvPr/>
        </p:nvSpPr>
        <p:spPr>
          <a:xfrm>
            <a:off x="5687568" y="1682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작은 모델 먼저</a:t>
            </a:r>
            <a:endParaRPr lang="ko-KR" sz="850" dirty="0"/>
          </a:p>
        </p:txBody>
      </p:sp>
      <p:sp>
        <p:nvSpPr>
          <p:cNvPr id="69" name="Shape 67"/>
          <p:cNvSpPr/>
          <p:nvPr/>
        </p:nvSpPr>
        <p:spPr>
          <a:xfrm>
            <a:off x="8010144" y="2185416"/>
            <a:ext cx="59436" cy="0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8010144" y="2185416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8069580" y="1993392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7269480" y="1280160"/>
            <a:ext cx="1600200" cy="713232"/>
          </a:xfrm>
          <a:prstGeom prst="rect">
            <a:avLst/>
          </a:prstGeom>
          <a:solidFill>
            <a:srgbClr val="E6F6F5"/>
          </a:solidFill>
          <a:ln w="12700">
            <a:solidFill>
              <a:srgbClr val="0F9D9A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7342632" y="1362456"/>
            <a:ext cx="256032" cy="256032"/>
          </a:xfrm>
          <a:prstGeom prst="ellipse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42632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</a:t>
            </a:r>
            <a:endParaRPr lang="ko-KR" sz="900" dirty="0"/>
          </a:p>
        </p:txBody>
      </p:sp>
      <p:sp>
        <p:nvSpPr>
          <p:cNvPr id="75" name="Text 73"/>
          <p:cNvSpPr/>
          <p:nvPr/>
        </p:nvSpPr>
        <p:spPr>
          <a:xfrm>
            <a:off x="7653528" y="1344168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LLM Judge 검수</a:t>
            </a:r>
            <a:endParaRPr lang="ko-KR" sz="950" dirty="0"/>
          </a:p>
        </p:txBody>
      </p:sp>
      <p:sp>
        <p:nvSpPr>
          <p:cNvPr id="76" name="Text 74"/>
          <p:cNvSpPr/>
          <p:nvPr/>
        </p:nvSpPr>
        <p:spPr>
          <a:xfrm>
            <a:off x="7360920" y="1682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점수 미달이면 다시 쓰기</a:t>
            </a:r>
            <a:endParaRPr lang="ko-KR" sz="850" dirty="0"/>
          </a:p>
        </p:txBody>
      </p:sp>
      <p:sp>
        <p:nvSpPr>
          <p:cNvPr id="77" name="Shape 75"/>
          <p:cNvSpPr/>
          <p:nvPr/>
        </p:nvSpPr>
        <p:spPr>
          <a:xfrm>
            <a:off x="1014984" y="3227832"/>
            <a:ext cx="2798064" cy="0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1014984" y="3035808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2414016" y="3035808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3813048" y="3035808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414016" y="3227832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1613916" y="3419856"/>
            <a:ext cx="1600200" cy="713232"/>
          </a:xfrm>
          <a:prstGeom prst="rect">
            <a:avLst/>
          </a:prstGeom>
          <a:solidFill>
            <a:srgbClr val="E6F6F5"/>
          </a:solidFill>
          <a:ln w="12700">
            <a:solidFill>
              <a:srgbClr val="0F9D9A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1687068" y="3502152"/>
            <a:ext cx="256032" cy="256032"/>
          </a:xfrm>
          <a:prstGeom prst="ellipse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87068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4</a:t>
            </a:r>
            <a:endParaRPr lang="ko-KR" sz="900" dirty="0"/>
          </a:p>
        </p:txBody>
      </p:sp>
      <p:sp>
        <p:nvSpPr>
          <p:cNvPr id="85" name="Text 83"/>
          <p:cNvSpPr/>
          <p:nvPr/>
        </p:nvSpPr>
        <p:spPr>
          <a:xfrm>
            <a:off x="1997964" y="3483864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비동기 · 도구 고장 허용</a:t>
            </a:r>
            <a:endParaRPr lang="ko-KR" sz="950" dirty="0"/>
          </a:p>
        </p:txBody>
      </p:sp>
      <p:sp>
        <p:nvSpPr>
          <p:cNvPr id="86" name="Text 84"/>
          <p:cNvSpPr/>
          <p:nvPr/>
        </p:nvSpPr>
        <p:spPr>
          <a:xfrm>
            <a:off x="1705356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기다림 줄이고 끝까지</a:t>
            </a:r>
            <a:endParaRPr lang="ko-KR" sz="850" dirty="0"/>
          </a:p>
        </p:txBody>
      </p:sp>
      <p:sp>
        <p:nvSpPr>
          <p:cNvPr id="87" name="Shape 85"/>
          <p:cNvSpPr/>
          <p:nvPr/>
        </p:nvSpPr>
        <p:spPr>
          <a:xfrm>
            <a:off x="3813048" y="3227832"/>
            <a:ext cx="4197096" cy="0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3813048" y="3035808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010144" y="3035808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6839712" y="3227832"/>
            <a:ext cx="0" cy="192024"/>
          </a:xfrm>
          <a:prstGeom prst="line">
            <a:avLst/>
          </a:prstGeom>
          <a:noFill/>
          <a:ln w="12700">
            <a:solidFill>
              <a:srgbClr val="0F9D9A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6039612" y="3419856"/>
            <a:ext cx="1600200" cy="713232"/>
          </a:xfrm>
          <a:prstGeom prst="rect">
            <a:avLst/>
          </a:prstGeom>
          <a:solidFill>
            <a:srgbClr val="E6F6F5"/>
          </a:solidFill>
          <a:ln w="12700">
            <a:solidFill>
              <a:srgbClr val="0F9D9A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6112764" y="3502152"/>
            <a:ext cx="256032" cy="256032"/>
          </a:xfrm>
          <a:prstGeom prst="ellipse">
            <a:avLst/>
          </a:prstGeom>
          <a:solidFill>
            <a:srgbClr val="0F9D9A"/>
          </a:solidFill>
          <a:ln w="12700">
            <a:solidFill>
              <a:srgbClr val="0F9D9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12764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5</a:t>
            </a:r>
            <a:endParaRPr lang="ko-KR" sz="900" dirty="0"/>
          </a:p>
        </p:txBody>
      </p:sp>
      <p:sp>
        <p:nvSpPr>
          <p:cNvPr id="94" name="Text 92"/>
          <p:cNvSpPr/>
          <p:nvPr/>
        </p:nvSpPr>
        <p:spPr>
          <a:xfrm>
            <a:off x="6423660" y="3483864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1E264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v2 보완</a:t>
            </a:r>
            <a:endParaRPr lang="ko-KR" sz="950" dirty="0"/>
          </a:p>
        </p:txBody>
      </p:sp>
      <p:sp>
        <p:nvSpPr>
          <p:cNvPr id="95" name="Text 93"/>
          <p:cNvSpPr/>
          <p:nvPr/>
        </p:nvSpPr>
        <p:spPr>
          <a:xfrm>
            <a:off x="6131052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6A759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최소 유사도 · 수치 검증</a:t>
            </a:r>
            <a:endParaRPr lang="ko-KR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장병헌 (G062)</dc:creator>
  <cp:lastModifiedBy>장병헌 (G062)</cp:lastModifiedBy>
  <cp:revision>1</cp:revision>
  <dcterms:created xsi:type="dcterms:W3CDTF">2026-10-22T02:44:01Z</dcterms:created>
  <dcterms:modified xsi:type="dcterms:W3CDTF">2026-10-22T02:44:01Z</dcterms:modified>
</cp:coreProperties>
</file>