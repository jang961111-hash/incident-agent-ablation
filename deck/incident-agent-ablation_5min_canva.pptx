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7"/>
    <p:sldId id="259" r:id="rId5"/>
    <p:sldId id="266" r:id="rId12"/>
    <p:sldId id="271" r:id="rId17"/>
    <p:sldId id="272" r:id="rId18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85b3c14-a99a-fa9f-17d0-2d736ba95169}">
          <p14:sldIdLst>
            <p14:sldId id="256"/>
          </p14:sldIdLst>
        </p14:section>
        <p14:section name="요약" id="{38abf3f0-10a4-bd3c-183a-188d73447a3f}">
          <p14:sldIdLst>
            <p14:sldId id="257"/>
            <p14:sldId id="258"/>
            <p14:sldId id="259"/>
          </p14:sldIdLst>
        </p14:section>
        <p14:section name="문제" id="{a3581a91-dfea-fdb5-26cd-19d66e6acb43}">
          <p14:sldIdLst>
            <p14:sldId id="261"/>
          </p14:sldIdLst>
        </p14:section>
        <p14:section name="개선" id="{67ba1c38-761b-8d69-3745-0d6626f531bc}">
          <p14:sldIdLst/>
        </p14:section>
        <p14:section name="평가 설계" id="{f9823ef1-1e5b-2752-b466-dec291452115}">
          <p14:sldIdLst/>
        </p14:section>
        <p14:section name="Before/After" id="{516871cb-8bfc-6eb8-2d24-3d6df11a86c6}">
          <p14:sldIdLst>
            <p14:sldId id="266"/>
          </p14:sldIdLst>
        </p14:section>
        <p14:section name="평가자 검증" id="{613061f1-82e3-ecc2-f209-f145a32b3a01}">
          <p14:sldIdLst/>
        </p14:section>
        <p14:section name="시연" id="{cc01d0e5-333c-01f9-8b72-8e2d11c1aad3}">
          <p14:sldIdLst>
            <p14:sldId id="271"/>
          </p14:sldIdLst>
        </p14:section>
        <p14:section name="한계" id="{173451e2-09c7-ee4b-fc9b-3e6f3149bc6e}">
          <p14:sldIdLst>
            <p14:sldId id="272"/>
          </p14:sldIdLst>
        </p14:section>
        <p14:section name="마무리" id="{62a896b7-1e28-b701-d997-e032a0c4fd2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C"/>
                </a:solidFill>
                <a:latin typeface="Arial"/>
              </a:rPr>
              <a:t>정답 런북 누락률 (낮을수록 좋음)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정답 런북 누락률 (낮을수록 좋음)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A1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9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7A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5E4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</c:v>
                  </c:pt>
                  <c:pt idx="1">
                    <c:v>+RAG</c:v>
                  </c:pt>
                  <c:pt idx="2">
                    <c:v>+Judge만</c:v>
                  </c:pt>
                  <c:pt idx="3">
                    <c:v>RAG+Judge</c:v>
                  </c:pt>
                  <c:pt idx="4">
                    <c:v>+비용</c:v>
                  </c:pt>
                  <c:pt idx="5">
                    <c:v>+v2 보완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0.5628019323671497</c:v>
                </c:pt>
                <c:pt idx="1">
                  <c:v>0.08695652173913043</c:v>
                </c:pt>
                <c:pt idx="2">
                  <c:v>0.5362318840579711</c:v>
                </c:pt>
                <c:pt idx="3">
                  <c:v>0.08695652173913043</c:v>
                </c:pt>
                <c:pt idx="4">
                  <c:v>0.08695652173913043</c:v>
                </c:pt>
                <c:pt idx="5">
                  <c:v>0.09842995169082125</c:v>
                </c:pt>
                <c:pt idx="6">
                  <c:v>0.0857487922705314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C"/>
                </a:solidFill>
                <a:latin typeface="Arial"/>
              </a:rPr>
              <a:t>무관 런북 혼입률 (낮을수록 좋음)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무관 런북 혼입률 (낮을수록 좋음)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A1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9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7A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5E4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</c:v>
                  </c:pt>
                  <c:pt idx="1">
                    <c:v>+RAG</c:v>
                  </c:pt>
                  <c:pt idx="2">
                    <c:v>+Judge만</c:v>
                  </c:pt>
                  <c:pt idx="3">
                    <c:v>RAG+Judge</c:v>
                  </c:pt>
                  <c:pt idx="4">
                    <c:v>+비용</c:v>
                  </c:pt>
                  <c:pt idx="5">
                    <c:v>+v2 보완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0.6513409961685824</c:v>
                </c:pt>
                <c:pt idx="1">
                  <c:v>0.5862068965517241</c:v>
                </c:pt>
                <c:pt idx="2">
                  <c:v>0.632183908045977</c:v>
                </c:pt>
                <c:pt idx="3">
                  <c:v>0.5862068965517241</c:v>
                </c:pt>
                <c:pt idx="4">
                  <c:v>0.5862068965517241</c:v>
                </c:pt>
                <c:pt idx="5">
                  <c:v>0.3482758620689655</c:v>
                </c:pt>
                <c:pt idx="6">
                  <c:v>0.35249042145593873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C"/>
                </a:solidFill>
                <a:latin typeface="Arial"/>
              </a:rPr>
              <a:t>동시 N건 처리에 걸린 시간 (초)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동기 (원본 방식)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동시 1건</c:v>
                  </c:pt>
                  <c:pt idx="1">
                    <c:v>동시 3건</c:v>
                  </c:pt>
                  <c:pt idx="2">
                    <c:v>동시 5건</c:v>
                  </c:pt>
                  <c:pt idx="3">
                    <c:v>동시 10건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7.3300546660029795</c:v>
                </c:pt>
                <c:pt idx="1">
                  <c:v>19.806008041996392</c:v>
                </c:pt>
                <c:pt idx="2">
                  <c:v>32.5987327920011</c:v>
                </c:pt>
                <c:pt idx="3">
                  <c:v>62.78695033300028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비동기 I/O</c:v>
                </c:pt>
              </c:strCache>
            </c:strRef>
          </c:tx>
          <c:spPr>
            <a:solidFill>
              <a:srgbClr val="155E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동시 1건</c:v>
                  </c:pt>
                  <c:pt idx="1">
                    <c:v>동시 3건</c:v>
                  </c:pt>
                  <c:pt idx="2">
                    <c:v>동시 5건</c:v>
                  </c:pt>
                  <c:pt idx="3">
                    <c:v>동시 10건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7.124661374997231</c:v>
                </c:pt>
                <c:pt idx="1">
                  <c:v>6.839099584001815</c:v>
                </c:pt>
                <c:pt idx="2">
                  <c:v>8.139553832996171</c:v>
                </c:pt>
                <c:pt idx="3">
                  <c:v>9.153589582987479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C"/>
                </a:solidFill>
                <a:latin typeface="Arial"/>
              </a:rPr>
              <a:t>평가 Judge 통과율 (holdout)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평가 Judge 통과율 (holdout)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A1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9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7A9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5E4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</c:v>
                  </c:pt>
                  <c:pt idx="1">
                    <c:v>+RAG</c:v>
                  </c:pt>
                  <c:pt idx="2">
                    <c:v>+Judge만</c:v>
                  </c:pt>
                  <c:pt idx="3">
                    <c:v>RAG+Judge</c:v>
                  </c:pt>
                  <c:pt idx="4">
                    <c:v>+비용</c:v>
                  </c:pt>
                  <c:pt idx="5">
                    <c:v>+v2 보완</c:v>
                  </c:pt>
                  <c:pt idx="6">
                    <c:v>final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0.7685185185185185</c:v>
                </c:pt>
                <c:pt idx="1">
                  <c:v>0.9722222222222222</c:v>
                </c:pt>
                <c:pt idx="2">
                  <c:v>0.7962962962962963</c:v>
                </c:pt>
                <c:pt idx="3">
                  <c:v>0.9722222222222222</c:v>
                </c:pt>
                <c:pt idx="4">
                  <c:v>0.9537037037037037</c:v>
                </c:pt>
                <c:pt idx="5">
                  <c:v>0.9907407407407408</c:v>
                </c:pt>
                <c:pt idx="6">
                  <c:v>0.9814814814814815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개선을 많이 붙인 게 아니라, 어떤 개선이 실제로 효과였는지를 통계로 분리했고, 채점한 AI 평가자가 얼마나 관대한지도 다른 평가자와 대조해 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새벽 당직자가 DB가 죽었다고 물어도 원본은 응답 지연 매뉴얼을 꺼냈습니다. 고친 부분을 하나씩 켜고 끄며 효과를 쟀고, 채점하는 AI도 검사했습니다. 결과 숫자는 오른쪽 다섯 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시장은 AI SRE로 가고 있고, 런북 근거와 MCP 연동이 흔합니다. 그런데 공개된 수치는 대부분 업체 주장이고, 조사한 국내 기업 사례에서는 부품별 효과를 잰 공개 자료를 찾지 못했습니다. 이 과제는 합성 평가셋과 AI 평가자라는 한계 안에서 부품별 기여를 분리해 보였습니다.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숫자가 결론입니다. 그리고 이 숫자를 어떻게 믿을 수 있는지가 이 발표의 나머지입니다.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 AX가 고객사에 에이전트를 넣을 때 받는 질문 세 가지입니다. 이후 모든 지표는 이 세 질문에 대한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평가셋을 알림 문구와 같은 말로 묻는 질문과 자기 말로 묻는 질문으로 나눠 봤습니다. base는 자기 말로 물으면 거의 못 맞힙니다.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holdout은 개선 v2를 만들기 전에 커밋해 고정했습니다. 커밋 시각으로 증명됩니다.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RAG를 켜는 순간 떨어지고, 오른쪽은 v2의 최소 유사도 기준을 켜는 순간 떨어집니다. 개선마다 고친 문제가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핵심입니다. RAG 행에 품질 별표가 몰려 있고, Judge 행에는 비용과 지연 별표만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원본은 노드가 async여도 LLM 호출이 동기라 동시 요청이 줄을 섭니다. 도구 하나가 죽으면 질의 전체가 실패합니다. 둘 다 고쳤습니다.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4000" b="1" dirty="0">
                <a:solidFill>
                  <a:schemeClr val="bg1"/>
                </a:solidFill>
                <a:latin typeface="Noto Sans KR"/>
                <a:ea typeface="Noto Sans KR"/>
              </a:defRPr>
            </a:lvl1pPr>
          </a:lstStyle>
          <a:p>
            <a:pPr algn="l" indent="0" marL="0">
              <a:buNone/>
            </a:pPr>
            <a:endParaRPr lang="ko-KR" sz="4000" dirty="0">
              <a:latin typeface="Noto Sans KR"/>
              <a:ea typeface="Noto Sans KR"/>
            </a:endParaRPr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1800" dirty="0">
                <a:solidFill>
                  <a:schemeClr val="bg2"/>
                </a:solidFill>
                <a:latin typeface="Noto Sans KR"/>
                <a:ea typeface="Noto Sans KR"/>
              </a:defRPr>
            </a:lvl1pPr>
          </a:lstStyle>
          <a:p>
            <a:pPr algn="l" indent="0" marL="0">
              <a:buNone/>
            </a:pPr>
            <a:endParaRPr lang="ko-KR" sz="1800" dirty="0">
              <a:latin typeface="Noto Sans KR"/>
              <a:ea typeface="Noto Sans K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800" b="1" dirty="0">
                <a:solidFill>
                  <a:schemeClr val="tx2"/>
                </a:solidFill>
                <a:latin typeface="Noto Sans KR"/>
                <a:ea typeface="Noto Sans KR"/>
              </a:defRPr>
            </a:lvl1pPr>
          </a:lstStyle>
          <a:p>
            <a:pPr algn="l" indent="0" marL="0">
              <a:buNone/>
            </a:pP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00" dirty="0">
                <a:solidFill>
                  <a:schemeClr val="accent3"/>
                </a:solidFill>
                <a:latin typeface="Noto Sans KR"/>
                <a:ea typeface="Noto Sans KR"/>
              </a:rPr>
              <a:t>SKALA 4기 AI Mini-Project · 과제1 · 장병헌</a:t>
            </a:r>
            <a:endParaRPr lang="ko-KR" sz="100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1003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null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>
          <a:latin typeface="Noto Sans KR"/>
          <a:ea typeface="Noto Sans KR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ko-KR" sz="4000" b="1" dirty="0">
                <a:solidFill>
                  <a:schemeClr val="bg1"/>
                </a:solidFill>
                <a:latin typeface="Noto Sans KR"/>
                <a:ea typeface="Noto Sans KR"/>
              </a:rPr>
              <a:t>개선 효과를 통계로 분리하고, AI 평가자의 관대함까지 쟀다</a:t>
            </a:r>
            <a:endParaRPr lang="ko-KR" sz="4000" dirty="0">
              <a:latin typeface="Noto Sans KR"/>
              <a:ea typeface="Noto Sans KR"/>
            </a:endParaRPr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chemeClr val="bg2"/>
                </a:solidFill>
                <a:latin typeface="Noto Sans KR"/>
                <a:ea typeface="Noto Sans KR"/>
              </a:rPr>
              <a:t>인시던트 대응 에이전트 개선을 하나씩 켠 7구성 Ablation · 조정에 쓰지 않은 holdout 36건 · 3회 반복</a:t>
            </a:r>
            <a:endParaRPr lang="ko-KR" sz="1800" dirty="0">
              <a:latin typeface="Noto Sans KR"/>
              <a:ea typeface="Noto Sans KR"/>
            </a:endParaRPr>
          </a:p>
          <a:p>
            <a:pPr algn="l" indent="0" marL="0">
              <a:buNone/>
            </a:pPr>
            <a:r>
              <a:rPr lang="ko-KR" sz="1400" dirty="0">
                <a:solidFill>
                  <a:schemeClr val="accent3"/>
                </a:solidFill>
                <a:latin typeface="Noto Sans KR"/>
                <a:ea typeface="Noto Sans KR"/>
              </a:rPr>
              <a:t>SKALA 4기 AI Mini-Project 과제1 · 광주 2반 장병헌 (G062)</a:t>
            </a:r>
            <a:endParaRPr lang="ko-KR" sz="1800" dirty="0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한 장 요약: 무엇을 고쳤고, 무엇이 효과였나</a:t>
            </a:r>
            <a:endParaRPr lang="ko-KR" sz="2800" dirty="0">
              <a:latin typeface="Noto Sans KR"/>
              <a:ea typeface="Noto Sans KR"/>
            </a:endParaRPr>
          </a:p>
        </p:txBody>
      </p:sp>
      <p:pic>
        <p:nvPicPr>
          <p:cNvPr id="3" name="summary-webtoon" descr="4컷 웹툰: 새벽 당직, 스위치 켜기, 맞는 매뉴얼, 채점관 검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119" y="1234440"/>
            <a:ext cx="4434840" cy="4434840"/>
          </a:xfrm>
          <a:prstGeom prst="rect">
            <a:avLst/>
          </a:prstGeom>
        </p:spPr>
      </p:pic>
      <p:pic>
        <p:nvPicPr>
          <p:cNvPr id="4" name="summary-infographic" descr="결과 숫자 5개 인포그래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439" y="1234440"/>
            <a:ext cx="354913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그림은 ChatGPT로 생성 · 그림 속 숫자는 results/*_latest.json, 실제 API 벤치 실측값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2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실태 현황: 시장은 AI SRE로 가는데, 효과를 잰 곳은 드물다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stat-outage"/>
          <p:cNvSpPr/>
          <p:nvPr/>
        </p:nvSpPr>
        <p:spPr>
          <a:xfrm>
            <a:off x="548640" y="12801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1"/>
                </a:solidFill>
                <a:latin typeface="Noto Sans KR"/>
                <a:ea typeface="Noto Sans KR"/>
              </a:rPr>
              <a:t>54%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최근 중대 장애 비용이 10만 달러를 넘었다는 응답 (Uptime Institute 2025). 같은 보고서에서 절차 미준수 장애도 늘었다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6" name="stat-market"/>
          <p:cNvSpPr/>
          <p:nvPr/>
        </p:nvSpPr>
        <p:spPr>
          <a:xfrm>
            <a:off x="4334256" y="12801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48132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2"/>
                </a:solidFill>
                <a:latin typeface="Noto Sans KR"/>
                <a:ea typeface="Noto Sans KR"/>
              </a:rPr>
              <a:t>5개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08576" y="2377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확인한 국외 정식 출시 AI SRE: PagerDuty·Datadog·Azure·AWS·Grafana. 국내도 SK AX·삼성계정·롯데ON·GS리테일 등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9" name="stat-gap"/>
          <p:cNvSpPr/>
          <p:nvPr/>
        </p:nvSpPr>
        <p:spPr>
          <a:xfrm>
            <a:off x="8119872" y="12801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48132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6"/>
                </a:solidFill>
                <a:latin typeface="Noto Sans KR"/>
                <a:ea typeface="Noto Sans KR"/>
              </a:rPr>
              <a:t>0건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394192" y="2377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조사한 국내 기업·제품 공개 사례 중 고정 평가셋·Ablation 공개. 국외 수치도 대부분 '최대 몇 %' 업체 주장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12" name="landscape-evidence"/>
          <p:cNvSpPr/>
          <p:nvPr/>
        </p:nvSpPr>
        <p:spPr>
          <a:xfrm>
            <a:off x="548640" y="3611880"/>
            <a:ext cx="110642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4904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ko-KR" sz="1400" b="1" dirty="0">
                <a:solidFill>
                  <a:schemeClr val="tx1"/>
                </a:solidFill>
                <a:latin typeface="Noto Sans KR"/>
                <a:ea typeface="Noto Sans KR"/>
              </a:rPr>
              <a:t>런북·과거 장애 근거, MCP 도구 연동이 흔하다. 실행을 맡기는 정도는 제품마다 다르다 (우리는 제안만)</a:t>
            </a:r>
            <a:endParaRPr lang="ko-KR" sz="140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400" dirty="0">
                <a:solidFill>
                  <a:schemeClr val="tx1"/>
                </a:solidFill>
                <a:latin typeface="Noto Sans KR"/>
                <a:ea typeface="Noto Sans KR"/>
              </a:rPr>
              <a:t>Datadog: 기능 하나가 무관한 신호를 끌어와 다른 조사를 나쁘게 만든 사례 공개 → 부품을 하나씩 켜고 끄며 재야 하는 이유</a:t>
            </a:r>
            <a:endParaRPr lang="ko-KR" sz="140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400" dirty="0">
                <a:solidFill>
                  <a:schemeClr val="tx1"/>
                </a:solidFill>
                <a:latin typeface="Noto Sans KR"/>
                <a:ea typeface="Noto Sans KR"/>
              </a:rPr>
              <a:t>연구: SOP 기반 멀티에이전트가 ReAct 대비 RCA 정확도 35.5% → 64.0% (Flow-of-Action) · 추론 과제에서 외부 피드백 없는 자기교정은 효과 없음 (Huang 외, ICLR'24)</a:t>
            </a:r>
            <a:endParaRPr lang="ko-KR" sz="140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400" dirty="0">
                <a:solidFill>
                  <a:schemeClr val="tx1"/>
                </a:solidFill>
                <a:latin typeface="Noto Sans KR"/>
                <a:ea typeface="Noto Sans KR"/>
              </a:rPr>
              <a:t>국내 연구: RCA 에이전트 실패 1위는 데이터 해석 환각 71.2% (오케스트로·한양대, ASPLOS'26 AIOps 워크숍, 보도 기준)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출처 전체: docs/research/00_요약_실태현황.md (국외 18개 제품·국내 20건·논문 37건, 2026-10-22 확인, 업체 수치는 업체 주장)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3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결론: 조치 정확도는 RAG가, 비용은 캐스케이드가 낮췄다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stat-miss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2"/>
                </a:solidFill>
                <a:latin typeface="Noto Sans KR"/>
                <a:ea typeface="Noto Sans KR"/>
              </a:rPr>
              <a:t>56% → 9%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정답 런북 누락률 (base → final)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= 맞는 조치를 권고하지 못할 위험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6" name="stat-cost"/>
          <p:cNvSpPr/>
          <p:nvPr/>
        </p:nvSpPr>
        <p:spPr>
          <a:xfrm>
            <a:off x="4334256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6"/>
                </a:solidFill>
                <a:latin typeface="Noto Sans KR"/>
                <a:ea typeface="Noto Sans KR"/>
              </a:rPr>
              <a:t>-84%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08576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장애 1건당 처리 비용 $0.00343 → $0.00057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(캐스케이드만 켜면 -73%)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9" name="stat-judge"/>
          <p:cNvSpPr/>
          <p:nvPr/>
        </p:nvSpPr>
        <p:spPr>
          <a:xfrm>
            <a:off x="8119872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1"/>
                </a:solidFill>
                <a:latin typeface="Noto Sans KR"/>
                <a:ea typeface="Noto Sans KR"/>
              </a:rPr>
              <a:t>개선 미확인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394192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LLM Judge 단독: 품질 향상 확인 안 됨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지연은 +2.7초 (유의)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12" name="method"/>
          <p:cNvSpPr/>
          <p:nvPr/>
        </p:nvSpPr>
        <p:spPr>
          <a:xfrm>
            <a:off x="548640" y="3520440"/>
            <a:ext cx="11064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ko-KR" sz="1600" b="1" dirty="0">
                <a:solidFill>
                  <a:srgbClr val="16202C"/>
                </a:solidFill>
                <a:latin typeface="Noto Sans KR"/>
                <a:ea typeface="Noto Sans KR"/>
              </a:rPr>
              <a:t>어떻게 증명했나</a:t>
            </a:r>
            <a:endParaRPr lang="ko-KR" sz="1450" dirty="0">
              <a:latin typeface="Noto Sans KR"/>
              <a:ea typeface="Noto Sans KR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o-KR" sz="1450" dirty="0">
                <a:solidFill>
                  <a:schemeClr val="tx1"/>
                </a:solidFill>
                <a:latin typeface="Noto Sans KR"/>
                <a:ea typeface="Noto Sans KR"/>
              </a:rPr>
              <a:t>평가셋 60건을 dev 24건(기준값 조정용)과 holdout 36건(조정 전에 고정, 최종 보고용)으로 나눴다. 이 덱의 수치는 모두 holdout.</a:t>
            </a:r>
            <a:endParaRPr lang="ko-KR" sz="1450" dirty="0">
              <a:latin typeface="Noto Sans KR"/>
              <a:ea typeface="Noto Sans KR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o-KR" sz="1450" dirty="0">
                <a:solidFill>
                  <a:schemeClr val="tx1"/>
                </a:solidFill>
                <a:latin typeface="Noto Sans KR"/>
                <a:ea typeface="Noto Sans KR"/>
              </a:rPr>
              <a:t>개선을 하나씩 켠 7구성을 각 3회 반복하고, 구성 간 차이는 같은 질의끼리 짝지은 bootstrap 95% 신뢰구간으로 판정했다.</a:t>
            </a:r>
            <a:endParaRPr lang="ko-KR" sz="1450" dirty="0">
              <a:latin typeface="Noto Sans KR"/>
              <a:ea typeface="Noto Sans KR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o-KR" sz="1450" dirty="0">
                <a:solidFill>
                  <a:schemeClr val="tx1"/>
                </a:solidFill>
                <a:latin typeface="Noto Sans KR"/>
                <a:ea typeface="Noto Sans KR"/>
              </a:rPr>
              <a:t>평가자(LLM Judge)가 관대할 수 있어, Judge와 무관한 결정적 지표(정답 런북 누락·혼입, 런북 어구 포함)로 결론을 냈다.</a:t>
            </a:r>
            <a:endParaRPr lang="ko-KR" sz="1450" dirty="0">
              <a:latin typeface="Noto Sans KR"/>
              <a:ea typeface="Noto Sans KR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출처: results/*_latest.json (7구성 x 60건 x 3회 = 1,260회, 실행 오류 0), results/stats_holdout.json, eval/extra_metrics.py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4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운영팀이 AI 에이전트 도입을 결정하려면 세 가지를 알아야 한다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q3-0"/>
          <p:cNvSpPr/>
          <p:nvPr/>
        </p:nvSpPr>
        <p:spPr>
          <a:xfrm>
            <a:off x="548640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3-dot-0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800" b="1" dirty="0">
                <a:solidFill>
                  <a:schemeClr val="bg1"/>
                </a:solidFill>
                <a:latin typeface="Noto Sans KR"/>
                <a:ea typeface="Noto Sans KR"/>
              </a:rPr>
              <a:t>1</a:t>
            </a:r>
            <a:endParaRPr lang="ko-KR" sz="1800" dirty="0">
              <a:latin typeface="Noto Sans KR"/>
              <a:ea typeface="Noto Sans KR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700" b="1" dirty="0">
                <a:solidFill>
                  <a:schemeClr val="tx2"/>
                </a:solidFill>
                <a:latin typeface="Noto Sans KR"/>
                <a:ea typeface="Noto Sans KR"/>
              </a:rPr>
              <a:t>맞는 조치를 권고하나</a:t>
            </a:r>
            <a:endParaRPr lang="ko-KR" sz="1700" dirty="0">
              <a:latin typeface="Noto Sans KR"/>
              <a:ea typeface="Noto Sans KR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400" dirty="0">
                <a:solidFill>
                  <a:schemeClr val="tx1"/>
                </a:solidFill>
                <a:latin typeface="Noto Sans KR"/>
                <a:ea typeface="Noto Sans KR"/>
              </a:rPr>
              <a:t>새벽 2시 당직자가 "DB 프라이머리가 죽었다"고 물었는데 응답 지연 절차를 주면, 그 답은 장애를 키운다.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00" b="1" dirty="0">
                <a:solidFill>
                  <a:schemeClr val="accent6"/>
                </a:solidFill>
                <a:latin typeface="Noto Sans KR"/>
                <a:ea typeface="Noto Sans KR"/>
              </a:rPr>
              <a:t>→ 정답 런북 누락률 · 무관 런북 혼입률</a:t>
            </a:r>
            <a:endParaRPr lang="ko-KR" sz="1300" dirty="0">
              <a:latin typeface="Noto Sans KR"/>
              <a:ea typeface="Noto Sans KR"/>
            </a:endParaRPr>
          </a:p>
        </p:txBody>
      </p:sp>
      <p:sp>
        <p:nvSpPr>
          <p:cNvPr id="9" name="q3-1"/>
          <p:cNvSpPr/>
          <p:nvPr/>
        </p:nvSpPr>
        <p:spPr>
          <a:xfrm>
            <a:off x="4334256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q3-dot-1"/>
          <p:cNvSpPr/>
          <p:nvPr/>
        </p:nvSpPr>
        <p:spPr>
          <a:xfrm>
            <a:off x="4608576" y="16002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857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800" b="1" dirty="0">
                <a:solidFill>
                  <a:schemeClr val="bg1"/>
                </a:solidFill>
                <a:latin typeface="Noto Sans KR"/>
                <a:ea typeface="Noto Sans KR"/>
              </a:rPr>
              <a:t>2</a:t>
            </a:r>
            <a:endParaRPr lang="ko-KR" sz="1800" dirty="0">
              <a:latin typeface="Noto Sans KR"/>
              <a:ea typeface="Noto Sans KR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248656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700" b="1" dirty="0">
                <a:solidFill>
                  <a:schemeClr val="tx2"/>
                </a:solidFill>
                <a:latin typeface="Noto Sans KR"/>
                <a:ea typeface="Noto Sans KR"/>
              </a:rPr>
              <a:t>그 판정을 믿어도 되나</a:t>
            </a:r>
            <a:endParaRPr lang="ko-KR" sz="1700" dirty="0">
              <a:latin typeface="Noto Sans KR"/>
              <a:ea typeface="Noto Sans KR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608576" y="2331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400" dirty="0">
                <a:solidFill>
                  <a:schemeClr val="tx1"/>
                </a:solidFill>
                <a:latin typeface="Noto Sans KR"/>
                <a:ea typeface="Noto Sans KR"/>
              </a:rPr>
              <a:t>"AI가 채점했더니 97점"은 채점한 AI가 관대하면 의미가 없다. 평가자 자체를 검증해야 한다.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608576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00" b="1" dirty="0">
                <a:solidFill>
                  <a:schemeClr val="accent6"/>
                </a:solidFill>
                <a:latin typeface="Noto Sans KR"/>
                <a:ea typeface="Noto Sans KR"/>
              </a:rPr>
              <a:t>→ 독립 평가자와의 일치도 (kappa, 사람 표본은 예정) · Judge 무관 지표</a:t>
            </a:r>
            <a:endParaRPr lang="ko-KR" sz="1300" dirty="0">
              <a:latin typeface="Noto Sans KR"/>
              <a:ea typeface="Noto Sans KR"/>
            </a:endParaRPr>
          </a:p>
        </p:txBody>
      </p:sp>
      <p:sp>
        <p:nvSpPr>
          <p:cNvPr id="15" name="q3-2"/>
          <p:cNvSpPr/>
          <p:nvPr/>
        </p:nvSpPr>
        <p:spPr>
          <a:xfrm>
            <a:off x="8119872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q3-dot-2"/>
          <p:cNvSpPr/>
          <p:nvPr/>
        </p:nvSpPr>
        <p:spPr>
          <a:xfrm>
            <a:off x="8394192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9419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800" b="1" dirty="0">
                <a:solidFill>
                  <a:schemeClr val="bg1"/>
                </a:solidFill>
                <a:latin typeface="Noto Sans KR"/>
                <a:ea typeface="Noto Sans KR"/>
              </a:rPr>
              <a:t>3</a:t>
            </a:r>
            <a:endParaRPr lang="ko-KR" sz="1800" dirty="0">
              <a:latin typeface="Noto Sans KR"/>
              <a:ea typeface="Noto Sans KR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034272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700" b="1" dirty="0">
                <a:solidFill>
                  <a:schemeClr val="tx2"/>
                </a:solidFill>
                <a:latin typeface="Noto Sans KR"/>
                <a:ea typeface="Noto Sans KR"/>
              </a:rPr>
              <a:t>얼마에, 얼마나 빨리</a:t>
            </a:r>
            <a:endParaRPr lang="ko-KR" sz="1700" dirty="0">
              <a:latin typeface="Noto Sans KR"/>
              <a:ea typeface="Noto Sans KR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394192" y="2331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400" dirty="0">
                <a:solidFill>
                  <a:schemeClr val="tx1"/>
                </a:solidFill>
                <a:latin typeface="Noto Sans KR"/>
                <a:ea typeface="Noto Sans KR"/>
              </a:rPr>
              <a:t>품질을 올린 대가로 비용과 지연이 얼마나 늘었는지, 장애가 겹쳐 들어오거나 도구가 죽어도 버티는지.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394192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00" b="1" dirty="0">
                <a:solidFill>
                  <a:schemeClr val="accent6"/>
                </a:solidFill>
                <a:latin typeface="Noto Sans KR"/>
                <a:ea typeface="Noto Sans KR"/>
              </a:rPr>
              <a:t>→ 장애 1건당 비용 · p95 지연 · 동시 처리 · 장애 주입</a:t>
            </a:r>
            <a:endParaRPr lang="ko-KR" sz="1300" dirty="0">
              <a:latin typeface="Noto Sans KR"/>
              <a:ea typeface="Noto Sans KR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chemeClr val="tx2"/>
                </a:solidFill>
                <a:latin typeface="Noto Sans KR"/>
                <a:ea typeface="Noto Sans KR"/>
              </a:rPr>
              <a:t>이 프로젝트는 기능을 더하는 것보다, 도입 판단에 쓸 수 있는 평가 체계를 만드는 데 무게를 뒀다.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5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문제 1: base는 질문을 읽지 않고, 알림 키워드로 런북을 고른다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flow-0"/>
          <p:cNvSpPr/>
          <p:nvPr/>
        </p:nvSpPr>
        <p:spPr>
          <a:xfrm>
            <a:off x="54864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b="1" dirty="0">
                <a:solidFill>
                  <a:schemeClr val="tx2"/>
                </a:solidFill>
                <a:latin typeface="Noto Sans KR"/>
                <a:ea typeface="Noto Sans KR"/>
              </a:rPr>
              <a:t>사용자 질의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"DB 프라이머리가</a:t>
            </a:r>
            <a:endParaRPr lang="ko-KR" sz="150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다운됐습니다"</a:t>
            </a:r>
            <a:endParaRPr lang="ko-KR" sz="1500" dirty="0">
              <a:latin typeface="Noto Sans KR"/>
              <a:ea typeface="Noto Sans KR"/>
            </a:endParaRPr>
          </a:p>
        </p:txBody>
      </p:sp>
      <p:sp>
        <p:nvSpPr>
          <p:cNvPr id="6" name="arrow-0"/>
          <p:cNvSpPr/>
          <p:nvPr/>
        </p:nvSpPr>
        <p:spPr>
          <a:xfrm>
            <a:off x="306324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flow-1"/>
          <p:cNvSpPr/>
          <p:nvPr/>
        </p:nvSpPr>
        <p:spPr>
          <a:xfrm>
            <a:off x="338328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b="1" dirty="0">
                <a:solidFill>
                  <a:schemeClr val="tx2"/>
                </a:solidFill>
                <a:latin typeface="Noto Sans KR"/>
                <a:ea typeface="Noto Sans KR"/>
              </a:rPr>
              <a:t>planner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56616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시스템명 없음</a:t>
            </a:r>
            <a:endParaRPr lang="ko-KR" sz="150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→ auth-service 폴백</a:t>
            </a:r>
            <a:endParaRPr lang="ko-KR" sz="1500" dirty="0">
              <a:latin typeface="Noto Sans KR"/>
              <a:ea typeface="Noto Sans KR"/>
            </a:endParaRPr>
          </a:p>
        </p:txBody>
      </p:sp>
      <p:sp>
        <p:nvSpPr>
          <p:cNvPr id="10" name="arrow-1"/>
          <p:cNvSpPr/>
          <p:nvPr/>
        </p:nvSpPr>
        <p:spPr>
          <a:xfrm>
            <a:off x="589788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flow-2"/>
          <p:cNvSpPr/>
          <p:nvPr/>
        </p:nvSpPr>
        <p:spPr>
          <a:xfrm>
            <a:off x="621792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b="1" dirty="0">
                <a:solidFill>
                  <a:schemeClr val="tx2"/>
                </a:solidFill>
                <a:latin typeface="Noto Sans KR"/>
                <a:ea typeface="Noto Sans KR"/>
              </a:rPr>
              <a:t>모니터링 알림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"p95 latency 2.4s"</a:t>
            </a:r>
            <a:endParaRPr lang="ko-KR" sz="150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키워드 'latency' 일치</a:t>
            </a:r>
            <a:endParaRPr lang="ko-KR" sz="1500" dirty="0">
              <a:latin typeface="Noto Sans KR"/>
              <a:ea typeface="Noto Sans KR"/>
            </a:endParaRPr>
          </a:p>
        </p:txBody>
      </p:sp>
      <p:sp>
        <p:nvSpPr>
          <p:cNvPr id="14" name="arrow-2"/>
          <p:cNvSpPr/>
          <p:nvPr/>
        </p:nvSpPr>
        <p:spPr>
          <a:xfrm>
            <a:off x="8732520" y="205740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flow-3"/>
          <p:cNvSpPr/>
          <p:nvPr/>
        </p:nvSpPr>
        <p:spPr>
          <a:xfrm>
            <a:off x="9052560" y="1371600"/>
            <a:ext cx="246888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400" b="1" dirty="0">
                <a:solidFill>
                  <a:schemeClr val="bg1"/>
                </a:solidFill>
                <a:latin typeface="Noto Sans KR"/>
                <a:ea typeface="Noto Sans KR"/>
              </a:rPr>
              <a:t>선택된 런북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235440" y="1920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500" dirty="0">
                <a:solidFill>
                  <a:schemeClr val="bg1"/>
                </a:solidFill>
                <a:latin typeface="Noto Sans KR"/>
                <a:ea typeface="Noto Sans KR"/>
              </a:rPr>
              <a:t>high-latency</a:t>
            </a:r>
            <a:endParaRPr lang="ko-KR" sz="150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500" dirty="0">
                <a:solidFill>
                  <a:schemeClr val="bg1"/>
                </a:solidFill>
                <a:latin typeface="Noto Sans KR"/>
                <a:ea typeface="Noto Sans KR"/>
              </a:rPr>
              <a:t>(응답 지연 절차)</a:t>
            </a:r>
            <a:endParaRPr lang="ko-KR" sz="1500" dirty="0">
              <a:latin typeface="Noto Sans KR"/>
              <a:ea typeface="Noto Sans KR"/>
            </a:endParaRPr>
          </a:p>
        </p:txBody>
      </p:sp>
      <p:sp>
        <p:nvSpPr>
          <p:cNvPr id="18" name="stat-basemiss"/>
          <p:cNvSpPr/>
          <p:nvPr/>
        </p:nvSpPr>
        <p:spPr>
          <a:xfrm>
            <a:off x="548640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6301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1"/>
                </a:solidFill>
                <a:latin typeface="Noto Sans KR"/>
                <a:ea typeface="Noto Sans KR"/>
              </a:rPr>
              <a:t>56%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22960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holdout에서 base가 정답 런북을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근거에 못 넣은 비율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21" name="stat-bias"/>
          <p:cNvSpPr/>
          <p:nvPr/>
        </p:nvSpPr>
        <p:spPr>
          <a:xfrm>
            <a:off x="4334256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08576" y="36301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1"/>
                </a:solidFill>
                <a:latin typeface="Noto Sans KR"/>
                <a:ea typeface="Noto Sans KR"/>
              </a:rPr>
              <a:t>78% vs 11%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608576" y="45262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알림 문구대로 물을 때 vs 자기 말로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물을 때 base Recall@1 (편향 검증)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229600" y="3429000"/>
            <a:ext cx="34107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ko-KR" sz="1350" b="1" dirty="0">
                <a:solidFill>
                  <a:schemeClr val="tx1"/>
                </a:solidFill>
                <a:latin typeface="Noto Sans KR"/>
                <a:ea typeface="Noto Sans KR"/>
              </a:rPr>
              <a:t>원인 (src/agent/graph.py:192-213)</a:t>
            </a:r>
            <a:endParaRPr lang="ko-KR" sz="1350" dirty="0">
              <a:latin typeface="Noto Sans KR"/>
              <a:ea typeface="Noto Sans KR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조사한 시스템의 알림 문구에서 키워드를 순서대로 찾아 첫 일치로 런북 1개를 고른다.</a:t>
            </a:r>
            <a:endParaRPr lang="ko-KR" sz="1350" dirty="0">
              <a:latin typeface="Noto Sans KR"/>
              <a:ea typeface="Noto Sans KR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질의 문장은 쓰지 않는다. 당직자가 알림과 다른 말로 물으면 거의 맞히지 못한다.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holdout 정상 질의 aligned 9건 / paraphrased 9건, 3회 평균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6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문제 2: 검증은 형식만 보고, 모델 분리는 이미 돼 있었다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validator-card"/>
          <p:cNvSpPr/>
          <p:nvPr/>
        </p:nvSpPr>
        <p:spPr>
          <a:xfrm>
            <a:off x="548640" y="1371600"/>
            <a:ext cx="53949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000" b="1" dirty="0">
                <a:solidFill>
                  <a:schemeClr val="tx2"/>
                </a:solidFill>
                <a:latin typeface="Noto Sans KR"/>
                <a:ea typeface="Noto Sans KR"/>
              </a:rPr>
              <a:t>규칙 Validator</a:t>
            </a:r>
            <a:endParaRPr lang="ko-KR" sz="2000" dirty="0">
              <a:latin typeface="Noto Sans KR"/>
              <a:ea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len(draft) &gt;= 30 and "1)" in draft</a:t>
            </a:r>
            <a:endParaRPr lang="ko-KR" sz="1500" dirty="0">
              <a:latin typeface="Noto Sans KR"/>
              <a:ea typeface="Noto Sans KR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질문과 맞는지, 근거에 있는지는 보지 않는다.</a:t>
            </a:r>
            <a:endParaRPr lang="ko-KR" sz="1500" dirty="0">
              <a:latin typeface="Noto Sans KR"/>
              <a:ea typeface="Noto Sans KR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실측: base 60건 x 3회에서 반려 0회. 응답 지연 절차로 DB 다운에 답해도 통과한다.</a:t>
            </a:r>
            <a:endParaRPr lang="ko-KR" sz="1500" dirty="0">
              <a:latin typeface="Noto Sans KR"/>
              <a:ea typeface="Noto Sans KR"/>
            </a:endParaRPr>
          </a:p>
        </p:txBody>
      </p:sp>
      <p:sp>
        <p:nvSpPr>
          <p:cNvPr id="7" name="tiering-card"/>
          <p:cNvSpPr/>
          <p:nvPr/>
        </p:nvSpPr>
        <p:spPr>
          <a:xfrm>
            <a:off x="6245352" y="1371600"/>
            <a:ext cx="53949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2000" b="1" dirty="0">
                <a:solidFill>
                  <a:schemeClr val="tx2"/>
                </a:solidFill>
                <a:latin typeface="Noto Sans KR"/>
                <a:ea typeface="Noto Sans KR"/>
              </a:rPr>
              <a:t>계획했던 비용 개선</a:t>
            </a:r>
            <a:endParaRPr lang="ko-KR" sz="2000" dirty="0">
              <a:latin typeface="Noto Sans KR"/>
              <a:ea typeface="Noto Sans KR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19672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= gpt-4o-mini / quality = gpt-4o</a:t>
            </a:r>
            <a:endParaRPr lang="ko-KR" sz="1500" dirty="0">
              <a:latin typeface="Noto Sans KR"/>
              <a:ea typeface="Noto Sans KR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19672" y="27432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'역할별 모델 분리'는 base에 이미 있었다 (src/server.py:50-56).</a:t>
            </a:r>
            <a:endParaRPr lang="ko-KR" sz="1500" dirty="0">
              <a:latin typeface="Noto Sans KR"/>
              <a:ea typeface="Noto Sans KR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sz="1500" dirty="0">
                <a:solidFill>
                  <a:schemeClr val="tx1"/>
                </a:solidFill>
                <a:latin typeface="Noto Sans KR"/>
                <a:ea typeface="Noto Sans KR"/>
              </a:rPr>
              <a:t>그래서 비용 축을 다시 정했다: 1차 초안은 저가 모델, 반려될 때만 gpt-4o (캐스케이드) + 반복 질의 캐시.</a:t>
            </a:r>
            <a:endParaRPr lang="ko-KR" sz="1500" dirty="0">
              <a:latin typeface="Noto Sans KR"/>
              <a:ea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chemeClr val="accent6"/>
                </a:solidFill>
                <a:latin typeface="Noto Sans KR"/>
                <a:ea typeface="Noto Sans KR"/>
              </a:rPr>
              <a:t>→ 개선 대상: 런북 선택(RAG) · 검증 기준(LLM Judge) · 비용(캐스케이드·캐시) · 운영 안정성(비동기·부분 실패)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7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개선: 원본 노드는 그대로, 플래그로 하나씩 켜는 7구성</a:t>
            </a:r>
            <a:endParaRPr lang="ko-KR" sz="2800" dirty="0">
              <a:latin typeface="Noto Sans KR"/>
              <a:ea typeface="Noto Sans KR"/>
            </a:endParaRPr>
          </a:p>
        </p:txBody>
      </p:sp>
      <p:graphicFrame>
        <p:nvGraphicFramePr>
          <p:cNvPr id="9" name="confi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640080"/>
                <a:gridCol w="685800"/>
                <a:gridCol w="1280160"/>
                <a:gridCol w="822960"/>
                <a:gridCol w="77724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구성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RAG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Judge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캐스케이드·캐시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v2 보완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런타임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알 수 있는 것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base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원본 (Before)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+RAG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RAG 단독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+Judge만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Judge 단독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RAG+Judge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RAG 위 Judge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+비용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절감의 품질 대가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+v2 보완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약점 보완 효과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final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O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최종 (After)</a:t>
                      </a:r>
                      <a:endParaRPr lang="ko-KR" sz="12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35240" y="132588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ko-KR" sz="1300" b="1" dirty="0">
                <a:solidFill>
                  <a:schemeClr val="tx1"/>
                </a:solidFill>
                <a:latin typeface="Noto Sans KR"/>
                <a:ea typeface="Noto Sans KR"/>
              </a:rPr>
              <a:t>v2 보완 = 1차 실측(24건)에서 찾은 약점</a:t>
            </a:r>
            <a:endParaRPr lang="ko-KR" sz="130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300" dirty="0">
                <a:solidFill>
                  <a:schemeClr val="tx1"/>
                </a:solidFill>
                <a:latin typeface="Noto Sans KR"/>
                <a:ea typeface="Noto Sans KR"/>
              </a:rPr>
              <a:t>RAG 최소 유사도: 맞는 런북이 없으면 넣지 않고 '없음'을 알림</a:t>
            </a:r>
            <a:endParaRPr lang="ko-KR" sz="130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300" dirty="0">
                <a:solidFill>
                  <a:schemeClr val="tx1"/>
                </a:solidFill>
                <a:latin typeface="Noto Sans KR"/>
                <a:ea typeface="Noto Sans KR"/>
              </a:rPr>
              <a:t>Judge v2: 근거 밖 요구 금지, 고칠 수 없는 반려는 재작성 생략</a:t>
            </a:r>
            <a:endParaRPr lang="ko-KR" sz="130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300" dirty="0">
                <a:solidFill>
                  <a:schemeClr val="tx1"/>
                </a:solidFill>
                <a:latin typeface="Noto Sans KR"/>
                <a:ea typeface="Noto Sans KR"/>
              </a:rPr>
              <a:t>수치 코드 검증: 근거에 없는 수치는 Judge 호출 전에 반려</a:t>
            </a:r>
            <a:endParaRPr lang="ko-KR" sz="1300" dirty="0">
              <a:latin typeface="Noto Sans KR"/>
              <a:ea typeface="Noto Sans KR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ko-KR" sz="60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endParaRPr lang="ko-KR" sz="1300" dirty="0">
              <a:latin typeface="Noto Sans KR"/>
              <a:ea typeface="Noto Sans KR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ko-KR" sz="1300" b="1" dirty="0">
                <a:solidFill>
                  <a:schemeClr val="tx1"/>
                </a:solidFill>
                <a:latin typeface="Noto Sans KR"/>
                <a:ea typeface="Noto Sans KR"/>
              </a:rPr>
              <a:t>런타임</a:t>
            </a:r>
            <a:endParaRPr lang="ko-KR" sz="130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300" dirty="0">
                <a:solidFill>
                  <a:schemeClr val="tx1"/>
                </a:solidFill>
                <a:latin typeface="Noto Sans KR"/>
                <a:ea typeface="Noto Sans KR"/>
              </a:rPr>
              <a:t>비동기 I/O: 동기 LLM 호출을 스레드로 빼 이벤트 루프 블로킹 제거</a:t>
            </a:r>
            <a:endParaRPr lang="ko-KR" sz="130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300" dirty="0">
                <a:solidFill>
                  <a:schemeClr val="tx1"/>
                </a:solidFill>
                <a:latin typeface="Noto Sans KR"/>
                <a:ea typeface="Noto Sans KR"/>
              </a:rPr>
              <a:t>부분 실패 허용: 도구 하나가 죽어도 나머지 결과로 답함</a:t>
            </a:r>
            <a:endParaRPr lang="ko-KR" sz="1300" dirty="0">
              <a:latin typeface="Noto Sans KR"/>
              <a:ea typeface="Noto Sans KR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원본 src/agent 는 이식 커밋(55e15f1) 이후 변경 0. base 는 원본 build_graph 를 그대로 호출. 개선은 src/ext/ 에 플래그로.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8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평가: 조정에 쓰지 않은 질의로, 반복해서, 짝지어 비교했다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ev-0"/>
          <p:cNvSpPr/>
          <p:nvPr/>
        </p:nvSpPr>
        <p:spPr>
          <a:xfrm>
            <a:off x="548640" y="1325880"/>
            <a:ext cx="545896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700" b="1" dirty="0">
                <a:solidFill>
                  <a:schemeClr val="tx2"/>
                </a:solidFill>
                <a:latin typeface="Noto Sans KR"/>
                <a:ea typeface="Noto Sans KR"/>
              </a:rPr>
              <a:t>평가셋 60건</a:t>
            </a:r>
            <a:endParaRPr lang="ko-KR" sz="1700" dirty="0">
              <a:latin typeface="Noto Sans KR"/>
              <a:ea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dev 24건: v2 기준값(RAG 최소 유사도) 조정에만 사용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holdout 36건: v2 구현 전에 고정해 커밋, 최종 보고에만 사용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정상 30 · 형식 제약 8 · 복합 8 · 미등록 7 · 모호 7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6" name="ev-1"/>
          <p:cNvSpPr/>
          <p:nvPr/>
        </p:nvSpPr>
        <p:spPr>
          <a:xfrm>
            <a:off x="6153912" y="1325880"/>
            <a:ext cx="545896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700" b="1" dirty="0">
                <a:solidFill>
                  <a:schemeClr val="tx2"/>
                </a:solidFill>
                <a:latin typeface="Noto Sans KR"/>
                <a:ea typeface="Noto Sans KR"/>
              </a:rPr>
              <a:t>반복과 유의성</a:t>
            </a:r>
            <a:endParaRPr lang="ko-KR" sz="1700" dirty="0">
              <a:latin typeface="Noto Sans KR"/>
              <a:ea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28232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7구성 x 60건 x 3회 = 1,260회 실행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반복 간 95% CI (t 분포)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구성 간 차이는 질의 단위 paired bootstrap 2,000회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9" name="ev-2"/>
          <p:cNvSpPr/>
          <p:nvPr/>
        </p:nvSpPr>
        <p:spPr>
          <a:xfrm>
            <a:off x="548640" y="3657600"/>
            <a:ext cx="545896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40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700" b="1" dirty="0">
                <a:solidFill>
                  <a:schemeClr val="tx2"/>
                </a:solidFill>
                <a:latin typeface="Noto Sans KR"/>
                <a:ea typeface="Noto Sans KR"/>
              </a:rPr>
              <a:t>측정 축 분리</a:t>
            </a:r>
            <a:endParaRPr lang="ko-KR" sz="1700" dirty="0">
              <a:latin typeface="Noto Sans KR"/>
              <a:ea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검색: Recall@k, 정답 런북 누락·혼입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답변: 평가 Judge 4지표 + 런북 어구 포함(결정적)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운영: 건당 비용, p50/p95 지연, 재작성, 동시성, 장애 주입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12" name="ev-3"/>
          <p:cNvSpPr/>
          <p:nvPr/>
        </p:nvSpPr>
        <p:spPr>
          <a:xfrm>
            <a:off x="6153912" y="3657600"/>
            <a:ext cx="545896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8232" y="3840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700" b="1" dirty="0">
                <a:solidFill>
                  <a:schemeClr val="tx2"/>
                </a:solidFill>
                <a:latin typeface="Noto Sans KR"/>
                <a:ea typeface="Noto Sans KR"/>
              </a:rPr>
              <a:t>평가자 검증</a:t>
            </a:r>
            <a:endParaRPr lang="ko-KR" sz="1700" dirty="0">
              <a:latin typeface="Noto Sans KR"/>
              <a:ea typeface="Noto Sans KR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28232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평가 Judge는 gpt-4o로 고정 (파이프라인 Judge gpt-4o-mini와 분리)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독립 평가자(Claude, LLM) 블라인드 60건 → 지표별 kappa, 오판 유형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사람 표본 20건 라벨은 아직 없음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9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Before/After 1: 누락은 RAG가, 무관 런북 혼입은 v2가 줄였다</a:t>
            </a:r>
            <a:endParaRPr lang="ko-KR" sz="2800" dirty="0">
              <a:latin typeface="Noto Sans KR"/>
              <a:ea typeface="Noto Sans KR"/>
            </a:endParaRPr>
          </a:p>
        </p:txBody>
      </p:sp>
      <p:graphicFrame>
        <p:nvGraphicFramePr>
          <p:cNvPr id="3" name="chart-miss" descr=""/>
          <p:cNvGraphicFramePr/>
          <p:nvPr/>
        </p:nvGraphicFramePr>
        <p:xfrm>
          <a:off x="548640" y="128016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-wrong" descr=""/>
          <p:cNvGraphicFramePr/>
          <p:nvPr/>
        </p:nvGraphicFramePr>
        <p:xfrm>
          <a:off x="6153912" y="128016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holdout, 3회 평균. 누락·혼입은 장애 경로 질의 기준. Recall@1·MRR은 gold 있는 holdout 질의 전체 기준: 33% → 52%, MRR 0.37 → 0.68. 누락 = 맞는 조치를 못 줄 위험, 혼입 = 잘못된 조치를 섞을 위험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10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Before/After 2: 개선별 기여도 — 같은 질의끼리 짝지어 비교했다</a:t>
            </a:r>
            <a:endParaRPr lang="ko-KR" sz="2800" dirty="0">
              <a:latin typeface="Noto Sans KR"/>
              <a:ea typeface="Noto Sans KR"/>
            </a:endParaRPr>
          </a:p>
        </p:txBody>
      </p:sp>
      <p:graphicFrame>
        <p:nvGraphicFramePr>
          <p:cNvPr id="12" name="contrib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25880"/>
                <a:gridCol w="1325880"/>
                <a:gridCol w="1325880"/>
                <a:gridCol w="132588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켠 것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정답 누락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무관 혼입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어구 포함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Judge 통과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질의당 비용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질의당 지연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RAG 단독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-46%p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-6%p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+37%p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+20%p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+0.0004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+0.4초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Judge 단독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-1%p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-1%p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+2%p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+3%p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+0.0009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+2.7초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RAG 위에 Judge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-3%p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+0.0005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+1.8초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캐스케이드+캐시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-5%p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-2%p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-0.0030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+0.1초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v2 보완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-24%p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-3%p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+2%p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-0.0003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+0.0초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v2 위에 비용·런타임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+1%p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-2%p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-1%p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-0.0030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+0.3초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전체 (Before→After)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-46%p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-29%p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+30%p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+21%p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-0.0024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25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+2.5초 ★</a:t>
                      </a:r>
                      <a:endParaRPr lang="ko-KR" sz="125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50" dirty="0">
                <a:solidFill>
                  <a:schemeClr val="tx1"/>
                </a:solidFill>
                <a:latin typeface="Noto Sans KR"/>
                <a:ea typeface="Noto Sans KR"/>
              </a:rPr>
              <a:t>★ = 95% 신뢰구간이 0을 포함하지 않음 (holdout 36건, 질의 단위 paired bootstrap 2,000회). 초록 = 좋아짐, 주황 = 나빠짐. 표시 없는 칸은 차이가 있다고 말할 수 없음. 지연은 7구성을 같은 부하로 다시 잰 값(평가 Judge 생략, scripts/run_latency_ctrl.sh).</a:t>
            </a:r>
            <a:endParaRPr lang="ko-KR" sz="1150" dirty="0">
              <a:latin typeface="Noto Sans KR"/>
              <a:ea typeface="Noto Sans KR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results/stats_holdout.json · eval/stats.py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11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Before/After 3: 품질을 얻은 대가 — 트레이드오프 한 장</a:t>
            </a:r>
            <a:endParaRPr lang="ko-KR" sz="2800" dirty="0">
              <a:latin typeface="Noto Sans KR"/>
              <a:ea typeface="Noto Sans KR"/>
            </a:endParaRPr>
          </a:p>
        </p:txBody>
      </p:sp>
      <p:graphicFrame>
        <p:nvGraphicFramePr>
          <p:cNvPr id="13" name="tradeoff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234440"/>
                <a:gridCol w="1234440"/>
                <a:gridCol w="1234440"/>
                <a:gridCol w="1737360"/>
                <a:gridCol w="137160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구성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정답 누락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무관 혼입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어구 포함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Judge 통과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장애 1건당 비용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p95 지연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재작성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base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56%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65%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45%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77%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$0.00343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8.6초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0.0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+RAG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59%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81%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97%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$0.00397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9.2초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0.0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+Judge만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54%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63%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46%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80%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$0.00460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16.1초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7.0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RAG+Judge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59%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78%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97%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$0.00464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12.3초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2.0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+비용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59%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72%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95%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$0.00093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12.2초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2.3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+v2 보완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10%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35%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75%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$0.00415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12.1초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0.0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final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35%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73%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98%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$0.00057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12.1초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0.0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ko-KR" sz="1350" b="1" dirty="0">
                <a:solidFill>
                  <a:schemeClr val="tx1"/>
                </a:solidFill>
                <a:latin typeface="Noto Sans KR"/>
                <a:ea typeface="Noto Sans KR"/>
              </a:rPr>
              <a:t>읽는 법</a:t>
            </a:r>
            <a:endParaRPr lang="ko-KR" sz="135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Judge를 붙이면 비용과 지연이 오르지만, 품질 지표는 신뢰구간 안에서 움직이지 않았다.</a:t>
            </a:r>
            <a:endParaRPr lang="ko-KR" sz="1350" dirty="0">
              <a:latin typeface="Noto Sans KR"/>
              <a:ea typeface="Noto Sans KR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캐스케이드는 장애 1건당 비용을 크게 줄이는 대신 런북 어구 포함이 내려갔다 (-5%p, 유의하지 않음). 이 대가를 받아들일지는 운영 정책의 선택이다.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holdout 36건, 3회 평균. 비용은 OpenAI 공개 단가 x 실측 토큰 추정치 (평가 Judge 제외). p95 지연은 7구성을 같은 부하(동시 7프로세스 x 2)로 다시 잰 값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12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1차 실측이 찾은 약점을 v2가 고쳤고, holdout에서 확인했다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stat-unreg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2"/>
                </a:solidFill>
                <a:latin typeface="Noto Sans KR"/>
                <a:ea typeface="Noto Sans KR"/>
              </a:rPr>
              <a:t>83% → 100%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미등록 질의 평가 통과율 (4건 x 3회)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전체 통과율 차이는 유의하지 않음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6" name="stat-wrong"/>
          <p:cNvSpPr/>
          <p:nvPr/>
        </p:nvSpPr>
        <p:spPr>
          <a:xfrm>
            <a:off x="4334256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2"/>
                </a:solidFill>
                <a:latin typeface="Noto Sans KR"/>
                <a:ea typeface="Noto Sans KR"/>
              </a:rPr>
              <a:t>59% → 35%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08576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무관 런북 혼입률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최소 유사도 기준 (dev로만 정함)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9" name="stat-rw"/>
          <p:cNvSpPr/>
          <p:nvPr/>
        </p:nvSpPr>
        <p:spPr>
          <a:xfrm>
            <a:off x="8119872" y="13716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572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3600" b="1" dirty="0">
                <a:solidFill>
                  <a:schemeClr val="accent2"/>
                </a:solidFill>
                <a:latin typeface="Noto Sans KR"/>
                <a:ea typeface="Noto Sans KR"/>
              </a:rPr>
              <a:t>2.0 → 0.0</a:t>
            </a:r>
            <a:endParaRPr lang="ko-KR" sz="3600" dirty="0">
              <a:latin typeface="Noto Sans KR"/>
              <a:ea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394192" y="2468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Judge 재작성 (holdout 36건, 회당)</a:t>
            </a:r>
            <a:endParaRPr lang="ko-KR" sz="135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근거 밖 요구를 하지 않게 함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ko-KR" sz="1400" b="1" dirty="0">
                <a:solidFill>
                  <a:schemeClr val="tx1"/>
                </a:solidFill>
                <a:latin typeface="Noto Sans KR"/>
                <a:ea typeface="Noto Sans KR"/>
              </a:rPr>
              <a:t>1차 실측(dev 24건)에서 본 문제</a:t>
            </a:r>
            <a:endParaRPr lang="ko-KR" sz="1400" dirty="0">
              <a:latin typeface="Noto Sans KR"/>
              <a:ea typeface="Noto Sans KR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o-KR" sz="1400" dirty="0">
                <a:solidFill>
                  <a:schemeClr val="tx1"/>
                </a:solidFill>
                <a:latin typeface="Noto Sans KR"/>
                <a:ea typeface="Noto Sans KR"/>
              </a:rPr>
              <a:t>Kafka처럼 런북이 없는 질문에 Judge가 '런북 절차를 반영하라'며 반려 → 답이 무관한 절차를 섞는 쪽으로 바뀜</a:t>
            </a:r>
            <a:endParaRPr lang="ko-KR" sz="1400" dirty="0">
              <a:latin typeface="Noto Sans KR"/>
              <a:ea typeface="Noto Sans KR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o-KR" sz="1400" dirty="0">
                <a:solidFill>
                  <a:schemeClr val="tx1"/>
                </a:solidFill>
                <a:latin typeface="Noto Sans KR"/>
                <a:ea typeface="Noto Sans KR"/>
              </a:rPr>
              <a:t>RAG가 유사도와 상관없이 늘 런북을 넣음</a:t>
            </a:r>
            <a:endParaRPr lang="ko-KR" sz="1400" dirty="0">
              <a:latin typeface="Noto Sans KR"/>
              <a:ea typeface="Noto Sans KR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ko-KR" sz="600" dirty="0">
                <a:solidFill>
                  <a:schemeClr val="tx1"/>
                </a:solidFill>
                <a:latin typeface="Noto Sans KR"/>
                <a:ea typeface="Noto Sans KR"/>
              </a:rPr>
              <a:t> </a:t>
            </a:r>
            <a:endParaRPr lang="ko-KR" sz="1400" dirty="0">
              <a:latin typeface="Noto Sans KR"/>
              <a:ea typeface="Noto Sans KR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ko-KR" sz="1400" dirty="0">
                <a:solidFill>
                  <a:srgbClr val="E8833A"/>
                </a:solidFill>
                <a:latin typeface="Noto Sans KR"/>
                <a:ea typeface="Noto Sans KR"/>
              </a:rPr>
              <a:t>주의: 최소 유사도 0.3236는 dev에서 정답 있는 질의와 없는 질의의 간격이 0.0023뿐인 경계값이다. holdout에서 정답 누락은 9% → 10%로 거의 늘지 않았다.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13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운영 안정성: 동시 요청, 도구 장애, 반복 질문</a:t>
            </a:r>
            <a:endParaRPr lang="ko-KR" sz="2800" dirty="0">
              <a:latin typeface="Noto Sans KR"/>
              <a:ea typeface="Noto Sans KR"/>
            </a:endParaRPr>
          </a:p>
        </p:txBody>
      </p:sp>
      <p:graphicFrame>
        <p:nvGraphicFramePr>
          <p:cNvPr id="3" name="chart-conc" descr=""/>
          <p:cNvGraphicFramePr/>
          <p:nvPr/>
        </p:nvGraphicFramePr>
        <p:xfrm>
          <a:off x="548640" y="128016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ult-card"/>
          <p:cNvSpPr/>
          <p:nvPr/>
        </p:nvSpPr>
        <p:spPr>
          <a:xfrm>
            <a:off x="6492240" y="1280160"/>
            <a:ext cx="514807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66560" y="1417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400" b="1" dirty="0">
                <a:solidFill>
                  <a:srgbClr val="16202C"/>
                </a:solidFill>
                <a:latin typeface="Noto Sans KR"/>
                <a:ea typeface="Noto Sans KR"/>
              </a:rPr>
              <a:t>도구 장애 주입 (모니터링 호출 30% 실패)</a:t>
            </a:r>
            <a:endParaRPr lang="ko-KR" sz="140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200" dirty="0">
                <a:solidFill>
                  <a:srgbClr val="8A94A3"/>
                </a:solidFill>
                <a:latin typeface="Noto Sans KR"/>
                <a:ea typeface="Noto Sans KR"/>
              </a:rPr>
              <a:t>장애를 맞은 질의 중 끝까지 답한 건수</a:t>
            </a:r>
            <a:endParaRPr lang="ko-KR" sz="140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700" b="1" dirty="0">
                <a:solidFill>
                  <a:srgbClr val="155E4B"/>
                </a:solidFill>
                <a:latin typeface="Noto Sans KR"/>
                <a:ea typeface="Noto Sans KR"/>
              </a:rPr>
              <a:t>base 0/19 · 허용 끔 0/18 · final 18/18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6" name="cache-card"/>
          <p:cNvSpPr/>
          <p:nvPr/>
        </p:nvSpPr>
        <p:spPr>
          <a:xfrm>
            <a:off x="6492240" y="3520440"/>
            <a:ext cx="514807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36576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sz="1400" b="1" dirty="0">
                <a:solidFill>
                  <a:srgbClr val="16202C"/>
                </a:solidFill>
                <a:latin typeface="Noto Sans KR"/>
                <a:ea typeface="Noto Sans KR"/>
              </a:rPr>
              <a:t>반복 질문 캐시 (같은 60건 2회, 실제 API)</a:t>
            </a:r>
            <a:endParaRPr lang="ko-KR" sz="140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600" b="1" dirty="0">
                <a:solidFill>
                  <a:srgbClr val="155E4B"/>
                </a:solidFill>
                <a:latin typeface="Noto Sans KR"/>
                <a:ea typeface="Noto Sans KR"/>
              </a:rPr>
              <a:t>2회차 적중 112/160, 지연 p50 7.9초 → 5.6초</a:t>
            </a:r>
            <a:endParaRPr lang="ko-KR" sz="1400" dirty="0">
              <a:latin typeface="Noto Sans KR"/>
              <a:ea typeface="Noto Sans KR"/>
            </a:endParaRPr>
          </a:p>
          <a:p>
            <a:pPr indent="0" marL="0">
              <a:buNone/>
            </a:pPr>
            <a:r>
              <a:rPr lang="ko-KR" sz="1200" dirty="0">
                <a:solidFill>
                  <a:schemeClr val="tx1"/>
                </a:solidFill>
                <a:latin typeface="Noto Sans KR"/>
                <a:ea typeface="Noto Sans KR"/>
              </a:rPr>
              <a:t>route·plan·임베딩만 캐시 (final 비용의 21%). 1회차 → 2회차 비용 $0.0272 → $0.0233. 모니터링·답변은 캐시하지 않음.</a:t>
            </a:r>
            <a:endParaRPr lang="ko-KR" sz="1400" dirty="0">
              <a:latin typeface="Noto Sans KR"/>
              <a:ea typeface="Noto Sans KR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동시성·장애 주입·캐시 모두 실제 API (results/concurrency_bench_latest.json · fault_bench_latest.json · cache_bench_latest.json). 동시성은 N마다 1회 측정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14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평가자 검증: AI 채점을 그대로 믿지 않았다</a:t>
            </a:r>
            <a:endParaRPr lang="ko-KR" sz="2800" dirty="0">
              <a:latin typeface="Noto Sans KR"/>
              <a:ea typeface="Noto Sans KR"/>
            </a:endParaRPr>
          </a:p>
        </p:txBody>
      </p:sp>
      <p:graphicFrame>
        <p:nvGraphicFramePr>
          <p:cNvPr id="3" name="chart-pass" descr=""/>
          <p:cNvGraphicFramePr/>
          <p:nvPr/>
        </p:nvGraphicFramePr>
        <p:xfrm>
          <a:off x="548640" y="128016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laude-kapp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309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39903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지표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일치율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kappa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Judge 관대도*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관련성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73%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0.44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57%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완전성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78%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0.02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83%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도메인 적합성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55%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0.25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63%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명확성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95%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0.37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67%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b="1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종합 (3/4)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70%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0.39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00" dirty="0">
                          <a:solidFill>
                            <a:srgbClr val="1A2230"/>
                          </a:solidFill>
                          <a:latin typeface="Noto Sans KR"/>
                          <a:ea typeface="Noto Sans KR"/>
                        </a:rPr>
                        <a:t>59%</a:t>
                      </a:r>
                      <a:endParaRPr lang="ko-KR" sz="1300" dirty="0">
                        <a:latin typeface="Noto Sans KR"/>
                        <a:ea typeface="Noto Sans KR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309360" y="3931920"/>
            <a:ext cx="5330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150" dirty="0">
                <a:solidFill>
                  <a:schemeClr val="accent3"/>
                </a:solidFill>
                <a:latin typeface="Noto Sans KR"/>
                <a:ea typeface="Noto Sans KR"/>
              </a:rPr>
              <a:t>평가 Judge vs 독립 평가자(Claude, Judge 판정을 가린 블라인드 채점) base 답변 60건. 사람 라벨이 아니다. * 독립 평가자가 Fail로 본 답을 Judge가 Pass로 준 비율. 사람 표본 라벨은 아직 없다.</a:t>
            </a:r>
            <a:endParaRPr lang="ko-KR" sz="1150" dirty="0">
              <a:latin typeface="Noto Sans KR"/>
              <a:ea typeface="Noto Sans KR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dirty="0">
                <a:solidFill>
                  <a:schemeClr val="tx1"/>
                </a:solidFill>
                <a:latin typeface="Noto Sans KR"/>
                <a:ea typeface="Noto Sans KR"/>
              </a:rPr>
              <a:t>평가 Judge는 RAG가 들어간 구성에서 95%~99%로 포화돼 구성 차이를 잘 보지 못했다. 그래서 Judge 무관 지표(정답 누락·혼입, 런북 어구 포함)로 결론을 냈다.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15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시연: 같은 질문, base와 final을 나란히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demo-cmd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scripts/demo_side_by_side.py --id Q01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5" name="demo-base"/>
          <p:cNvSpPr/>
          <p:nvPr/>
        </p:nvSpPr>
        <p:spPr>
          <a:xfrm>
            <a:off x="548640" y="2560320"/>
            <a:ext cx="545896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800" b="1" dirty="0">
                <a:solidFill>
                  <a:schemeClr val="tx2"/>
                </a:solidFill>
                <a:latin typeface="Noto Sans KR"/>
                <a:ea typeface="Noto Sans KR"/>
              </a:rPr>
              <a:t>[base]</a:t>
            </a:r>
            <a:endParaRPr lang="ko-KR" sz="1800" dirty="0">
              <a:latin typeface="Noto Sans KR"/>
              <a:ea typeface="Noto Sans KR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sz="1600" b="1" dirty="0">
                <a:solidFill>
                  <a:schemeClr val="accent1"/>
                </a:solidFill>
                <a:latin typeface="Noto Sans KR"/>
                <a:ea typeface="Noto Sans KR"/>
              </a:rPr>
              <a:t>오답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ko-KR" sz="1450" dirty="0">
                <a:solidFill>
                  <a:srgbClr val="8A94A3"/>
                </a:solidFill>
                <a:latin typeface="Noto Sans KR"/>
                <a:ea typeface="Noto Sans KR"/>
              </a:rPr>
              <a:t>고른 런북  </a:t>
            </a:r>
            <a:pPr indent="0" marL="0">
              <a:spcAft>
                <a:spcPts val="800"/>
              </a:spcAft>
              <a:buNone/>
            </a:pPr>
            <a:r>
              <a:rPr lang="ko-KR" sz="1450" b="1" dirty="0">
                <a:solidFill>
                  <a:schemeClr val="tx1"/>
                </a:solidFill>
                <a:latin typeface="Noto Sans KR"/>
                <a:ea typeface="Noto Sans KR"/>
              </a:rPr>
              <a:t>high-latency (응답 지연 절차)</a:t>
            </a:r>
            <a:endParaRPr lang="ko-KR" sz="1450" dirty="0">
              <a:latin typeface="Noto Sans KR"/>
              <a:ea typeface="Noto Sans KR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ko-KR" sz="1450" dirty="0">
                <a:solidFill>
                  <a:srgbClr val="8A94A3"/>
                </a:solidFill>
                <a:latin typeface="Noto Sans KR"/>
                <a:ea typeface="Noto Sans KR"/>
              </a:rPr>
              <a:t>답의 핵심  </a:t>
            </a:r>
            <a:pPr indent="0" marL="0">
              <a:spcAft>
                <a:spcPts val="800"/>
              </a:spcAft>
              <a:buNone/>
            </a:pPr>
            <a:r>
              <a:rPr lang="ko-KR" sz="1450" dirty="0">
                <a:solidFill>
                  <a:schemeClr val="tx1"/>
                </a:solidFill>
                <a:latin typeface="Noto Sans KR"/>
                <a:ea typeface="Noto Sans KR"/>
              </a:rPr>
              <a:t>커넥션 풀 늘리기, 트래픽 분산…</a:t>
            </a:r>
            <a:endParaRPr lang="ko-KR" sz="1450" dirty="0">
              <a:latin typeface="Noto Sans KR"/>
              <a:ea typeface="Noto Sans KR"/>
            </a:endParaRPr>
          </a:p>
        </p:txBody>
      </p:sp>
      <p:sp>
        <p:nvSpPr>
          <p:cNvPr id="9" name="demo-final"/>
          <p:cNvSpPr/>
          <p:nvPr/>
        </p:nvSpPr>
        <p:spPr>
          <a:xfrm>
            <a:off x="6153912" y="2560320"/>
            <a:ext cx="545896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800" b="1" dirty="0">
                <a:solidFill>
                  <a:schemeClr val="tx2"/>
                </a:solidFill>
                <a:latin typeface="Noto Sans KR"/>
                <a:ea typeface="Noto Sans KR"/>
              </a:rPr>
              <a:t>[final]</a:t>
            </a:r>
            <a:endParaRPr lang="ko-KR" sz="1800" dirty="0">
              <a:latin typeface="Noto Sans KR"/>
              <a:ea typeface="Noto Sans KR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177272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sz="1600" b="1" dirty="0">
                <a:solidFill>
                  <a:schemeClr val="accent2"/>
                </a:solidFill>
                <a:latin typeface="Noto Sans KR"/>
                <a:ea typeface="Noto Sans KR"/>
              </a:rPr>
              <a:t>정답 포함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28232" y="3291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ko-KR" sz="1450" dirty="0">
                <a:solidFill>
                  <a:srgbClr val="8A94A3"/>
                </a:solidFill>
                <a:latin typeface="Noto Sans KR"/>
                <a:ea typeface="Noto Sans KR"/>
              </a:rPr>
              <a:t>고른 런북  </a:t>
            </a:r>
            <a:pPr indent="0" marL="0">
              <a:spcAft>
                <a:spcPts val="800"/>
              </a:spcAft>
              <a:buNone/>
            </a:pPr>
            <a:r>
              <a:rPr lang="ko-KR" sz="1450" b="1" dirty="0">
                <a:solidFill>
                  <a:schemeClr val="tx1"/>
                </a:solidFill>
                <a:latin typeface="Noto Sans KR"/>
                <a:ea typeface="Noto Sans KR"/>
              </a:rPr>
              <a:t>db-down (+disk-full 혼입)</a:t>
            </a:r>
            <a:endParaRPr lang="ko-KR" sz="1450" dirty="0">
              <a:latin typeface="Noto Sans KR"/>
              <a:ea typeface="Noto Sans KR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ko-KR" sz="1450" dirty="0">
                <a:solidFill>
                  <a:srgbClr val="8A94A3"/>
                </a:solidFill>
                <a:latin typeface="Noto Sans KR"/>
                <a:ea typeface="Noto Sans KR"/>
              </a:rPr>
              <a:t>답의 핵심  </a:t>
            </a:r>
            <a:pPr indent="0" marL="0">
              <a:spcAft>
                <a:spcPts val="800"/>
              </a:spcAft>
              <a:buNone/>
            </a:pPr>
            <a:r>
              <a:rPr lang="ko-KR" sz="1450" dirty="0">
                <a:solidFill>
                  <a:schemeClr val="tx1"/>
                </a:solidFill>
                <a:latin typeface="Noto Sans KR"/>
                <a:ea typeface="Noto Sans KR"/>
              </a:rPr>
              <a:t>커넥션 풀 점검, 필요 시 failover 노드로 전환…</a:t>
            </a:r>
            <a:endParaRPr lang="ko-KR" sz="1450" dirty="0">
              <a:latin typeface="Noto Sans KR"/>
              <a:ea typeface="Noto Sans KR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050" dirty="0">
                <a:solidFill>
                  <a:schemeClr val="accent3"/>
                </a:solidFill>
                <a:latin typeface="Noto Sans KR"/>
                <a:ea typeface="Noto Sans KR"/>
              </a:rPr>
              <a:t>질문: "DB 프라이머리가 다운됐습니다. 대응 절차를 알려주세요." 화면 하나에 런북 정오·답변·지연·비용·근거 없는 수치. 기록 results/raw/demo_*.json</a:t>
            </a:r>
            <a:endParaRPr lang="ko-KR" sz="10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16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sz="2800" b="1" dirty="0">
                <a:solidFill>
                  <a:schemeClr val="tx2"/>
                </a:solidFill>
                <a:latin typeface="Noto Sans KR"/>
                <a:ea typeface="Noto Sans KR"/>
              </a:rPr>
              <a:t>한계와 다음 개선</a:t>
            </a:r>
            <a:endParaRPr lang="ko-KR" sz="2800" dirty="0">
              <a:latin typeface="Noto Sans KR"/>
              <a:ea typeface="Noto Sans KR"/>
            </a:endParaRPr>
          </a:p>
        </p:txBody>
      </p:sp>
      <p:sp>
        <p:nvSpPr>
          <p:cNvPr id="3" name="lim-0"/>
          <p:cNvSpPr/>
          <p:nvPr/>
        </p:nvSpPr>
        <p:spPr>
          <a:xfrm>
            <a:off x="548640" y="1280160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-dot-0"/>
          <p:cNvSpPr/>
          <p:nvPr/>
        </p:nvSpPr>
        <p:spPr>
          <a:xfrm>
            <a:off x="777240" y="160934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600" b="1" dirty="0">
                <a:solidFill>
                  <a:schemeClr val="bg1"/>
                </a:solidFill>
                <a:latin typeface="Noto Sans KR"/>
                <a:ea typeface="Noto Sans KR"/>
              </a:rPr>
              <a:t>!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417320" y="1389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chemeClr val="tx2"/>
                </a:solidFill>
                <a:latin typeface="Noto Sans KR"/>
                <a:ea typeface="Noto Sans KR"/>
              </a:rPr>
              <a:t>일반화 격차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417320" y="17922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50" dirty="0">
                <a:solidFill>
                  <a:schemeClr val="tx1"/>
                </a:solidFill>
                <a:latin typeface="Noto Sans KR"/>
                <a:ea typeface="Noto Sans KR"/>
              </a:rPr>
              <a:t>RAG Recall@1이 dev 72% → holdout 52%. 자기 말로 묻는 holdout 질의는 33%</a:t>
            </a:r>
            <a:endParaRPr lang="ko-KR" sz="1250" dirty="0">
              <a:latin typeface="Noto Sans KR"/>
              <a:ea typeface="Noto Sans KR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92240" y="13898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dirty="0">
                <a:solidFill>
                  <a:schemeClr val="accent6"/>
                </a:solidFill>
                <a:latin typeface="Noto Sans KR"/>
                <a:ea typeface="Noto Sans KR"/>
              </a:rPr>
              <a:t>다음: 런북 본문 외에 증상 예시 문장을 색인해 질문과 문서의 표현 차이를 줄임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9" name="lim-1"/>
          <p:cNvSpPr/>
          <p:nvPr/>
        </p:nvSpPr>
        <p:spPr>
          <a:xfrm>
            <a:off x="548640" y="2487168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m-dot-1"/>
          <p:cNvSpPr/>
          <p:nvPr/>
        </p:nvSpPr>
        <p:spPr>
          <a:xfrm>
            <a:off x="777240" y="281635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600" b="1" dirty="0">
                <a:solidFill>
                  <a:schemeClr val="bg1"/>
                </a:solidFill>
                <a:latin typeface="Noto Sans KR"/>
                <a:ea typeface="Noto Sans KR"/>
              </a:rPr>
              <a:t>!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417320" y="25968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chemeClr val="tx2"/>
                </a:solidFill>
                <a:latin typeface="Noto Sans KR"/>
                <a:ea typeface="Noto Sans KR"/>
              </a:rPr>
              <a:t>무관 런북 혼입이 남음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17320" y="2999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50" dirty="0">
                <a:solidFill>
                  <a:schemeClr val="tx1"/>
                </a:solidFill>
                <a:latin typeface="Noto Sans KR"/>
                <a:ea typeface="Noto Sans KR"/>
              </a:rPr>
              <a:t>final 혼입 35%. 1위와 점수가 가까운 런북을 함께 넣는 규칙, 맞는 런북이 없는 질문에도 런북이 들어가는 경우</a:t>
            </a:r>
            <a:endParaRPr lang="ko-KR" sz="1250" dirty="0">
              <a:latin typeface="Noto Sans KR"/>
              <a:ea typeface="Noto Sans KR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92240" y="259689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dirty="0">
                <a:solidFill>
                  <a:schemeClr val="accent6"/>
                </a:solidFill>
                <a:latin typeface="Noto Sans KR"/>
                <a:ea typeface="Noto Sans KR"/>
              </a:rPr>
              <a:t>다음: 재순위(reranker), 질문 속 증상 수에 맞춘 투입 개수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15" name="lim-2"/>
          <p:cNvSpPr/>
          <p:nvPr/>
        </p:nvSpPr>
        <p:spPr>
          <a:xfrm>
            <a:off x="548640" y="3694176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im-dot-2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600" b="1" dirty="0">
                <a:solidFill>
                  <a:schemeClr val="bg1"/>
                </a:solidFill>
                <a:latin typeface="Noto Sans KR"/>
                <a:ea typeface="Noto Sans KR"/>
              </a:rPr>
              <a:t>!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417320" y="38039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chemeClr val="tx2"/>
                </a:solidFill>
                <a:latin typeface="Noto Sans KR"/>
                <a:ea typeface="Noto Sans KR"/>
              </a:rPr>
              <a:t>캐스케이드의 품질 대가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417320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50" dirty="0">
                <a:solidFill>
                  <a:schemeClr val="tx1"/>
                </a:solidFill>
                <a:latin typeface="Noto Sans KR"/>
                <a:ea typeface="Noto Sans KR"/>
              </a:rPr>
              <a:t>어구 포함 -5%p (유의하지 않음). 저가 초안이 런북 문구를 덜 인용하는 것으로 추정 (미검증)</a:t>
            </a:r>
            <a:endParaRPr lang="ko-KR" sz="1250" dirty="0">
              <a:latin typeface="Noto Sans KR"/>
              <a:ea typeface="Noto Sans KR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92240" y="3803904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dirty="0">
                <a:solidFill>
                  <a:schemeClr val="accent6"/>
                </a:solidFill>
                <a:latin typeface="Noto Sans KR"/>
                <a:ea typeface="Noto Sans KR"/>
              </a:rPr>
              <a:t>다음: Judge 대신 결정적 어구 대조로 승급 기준을 정함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21" name="lim-3"/>
          <p:cNvSpPr/>
          <p:nvPr/>
        </p:nvSpPr>
        <p:spPr>
          <a:xfrm>
            <a:off x="548640" y="4901184"/>
            <a:ext cx="11064240" cy="1078992"/>
          </a:xfrm>
          <a:prstGeom prst="roundRect">
            <a:avLst>
              <a:gd name="adj" fmla="val 101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im-dot-3"/>
          <p:cNvSpPr/>
          <p:nvPr/>
        </p:nvSpPr>
        <p:spPr>
          <a:xfrm>
            <a:off x="777240" y="52303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sz="1600" b="1" dirty="0">
                <a:solidFill>
                  <a:schemeClr val="bg1"/>
                </a:solidFill>
                <a:latin typeface="Noto Sans KR"/>
                <a:ea typeface="Noto Sans KR"/>
              </a:rPr>
              <a:t>!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417320" y="50109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600" b="1" dirty="0">
                <a:solidFill>
                  <a:schemeClr val="tx2"/>
                </a:solidFill>
                <a:latin typeface="Noto Sans KR"/>
                <a:ea typeface="Noto Sans KR"/>
              </a:rPr>
              <a:t>평가 규모와 범위</a:t>
            </a:r>
            <a:endParaRPr lang="ko-KR" sz="1600" dirty="0">
              <a:latin typeface="Noto Sans KR"/>
              <a:ea typeface="Noto Sans KR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417320" y="54132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250" dirty="0">
                <a:solidFill>
                  <a:schemeClr val="tx1"/>
                </a:solidFill>
                <a:latin typeface="Noto Sans KR"/>
                <a:ea typeface="Noto Sans KR"/>
              </a:rPr>
              <a:t>holdout 36건 x 3회 (1건 = 2.8%p). 평가 Judge 포화. 라우터는 개선 범위 밖</a:t>
            </a:r>
            <a:endParaRPr lang="ko-KR" sz="1250" dirty="0">
              <a:latin typeface="Noto Sans KR"/>
              <a:ea typeface="Noto Sans KR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92240" y="501091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sz="1350" dirty="0">
                <a:solidFill>
                  <a:schemeClr val="accent6"/>
                </a:solidFill>
                <a:latin typeface="Noto Sans KR"/>
                <a:ea typeface="Noto Sans KR"/>
              </a:rPr>
              <a:t>다음: 질의 확대, 라우팅 개선을 같은 체계로 재측정</a:t>
            </a:r>
            <a:endParaRPr lang="ko-KR" sz="1350" dirty="0">
              <a:latin typeface="Noto Sans KR"/>
              <a:ea typeface="Noto Sans KR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Noto Sans KR"/>
                <a:ea typeface="Noto Sans KR"/>
              </a:defRPr>
            </a:lvl1pPr>
          </a:lstStyle>
          <a:p>
            <a:pPr algn="r"/>
            <a:fld id="{F7021451-1387-4CA6-816F-3879F97B5CBC}" type="slidenum">
              <a:rPr b="0" lang="ko-KR">
                <a:latin typeface="Noto Sans KR"/>
                <a:ea typeface="Noto Sans KR"/>
              </a:rPr>
              <a:t>17</a:t>
            </a:fld>
            <a:endParaRPr lang="ko-KR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ko-KR" sz="4000" b="1" dirty="0">
                <a:solidFill>
                  <a:schemeClr val="bg1"/>
                </a:solidFill>
                <a:latin typeface="Noto Sans KR"/>
                <a:ea typeface="Noto Sans KR"/>
              </a:rPr>
              <a:t>기능을 더하기 전에, 효과를 재는 법부터</a:t>
            </a:r>
            <a:endParaRPr lang="ko-KR" sz="4000" dirty="0">
              <a:latin typeface="Noto Sans KR"/>
              <a:ea typeface="Noto Sans KR"/>
            </a:endParaRPr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chemeClr val="bg2"/>
                </a:solidFill>
                <a:latin typeface="Noto Sans KR"/>
                <a:ea typeface="Noto Sans KR"/>
              </a:rPr>
              <a:t>RAG가 조치 정확도를 올렸고, Judge는 품질 향상이 확인되지 않은 채 비용·지연만 늘렸으며, 캐스케이드로 장애 1건당 비용을 낮췄다. 모두 holdout에서, 반복과 짝지은 비교로 확인했다.</a:t>
            </a:r>
            <a:endParaRPr lang="ko-KR" sz="1800" dirty="0">
              <a:latin typeface="Noto Sans KR"/>
              <a:ea typeface="Noto Sans KR"/>
            </a:endParaRPr>
          </a:p>
          <a:p>
            <a:pPr algn="l" indent="0" marL="0">
              <a:buNone/>
            </a:pPr>
            <a:r>
              <a:rPr lang="ko-KR" sz="1400" dirty="0">
                <a:solidFill>
                  <a:schemeClr val="accent3"/>
                </a:solidFill>
                <a:latin typeface="Noto Sans KR"/>
                <a:ea typeface="Noto Sans KR"/>
              </a:rPr>
              <a:t>github.com/jang961111-hash/incident-agent-ablation</a:t>
            </a:r>
            <a:endParaRPr lang="ko-KR" sz="1800" dirty="0"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cident Ablation">
  <a:themeElements>
    <a:clrScheme name="Incident Ablation">
      <a:dk1>
        <a:srgbClr val="1A2230"/>
      </a:dk1>
      <a:lt1>
        <a:srgbClr val="FFFFFF"/>
      </a:lt1>
      <a:dk2>
        <a:srgbClr val="16202C"/>
      </a:dk2>
      <a:lt2>
        <a:srgbClr val="EEF2F6"/>
      </a:lt2>
      <a:accent1>
        <a:srgbClr val="E8833A"/>
      </a:accent1>
      <a:accent2>
        <a:srgbClr val="1F8A70"/>
      </a:accent2>
      <a:accent3>
        <a:srgbClr val="8A94A3"/>
      </a:accent3>
      <a:accent4>
        <a:srgbClr val="C9A227"/>
      </a:accent4>
      <a:accent5>
        <a:srgbClr val="D1495B"/>
      </a:accent5>
      <a:accent6>
        <a:srgbClr val="155E4B"/>
      </a:accent6>
      <a:hlink>
        <a:srgbClr val="1F8A70"/>
      </a:hlink>
      <a:folHlink>
        <a:srgbClr val="155E4B"/>
      </a:folHlink>
    </a:clrScheme>
    <a:fontScheme name="Incident Ablation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인시던트 에이전트 개선 Ablation</dc:title>
  <dc:subject>PptxGenJS Presentation</dc:subject>
  <dc:creator>장병헌 (G062)</dc:creator>
  <cp:lastModifiedBy>장병헌 (G062)</cp:lastModifiedBy>
  <cp:revision>1</cp:revision>
  <dcterms:created xsi:type="dcterms:W3CDTF">2026-10-22T01:23:33Z</dcterms:created>
  <dcterms:modified xsi:type="dcterms:W3CDTF">2026-10-22T01:23:33Z</dcterms:modified>
</cp:coreProperties>
</file>