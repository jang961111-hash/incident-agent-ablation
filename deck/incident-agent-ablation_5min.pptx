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6"/>
    <p:sldId id="258" r:id="rId4"/>
    <p:sldId id="265" r:id="rId11"/>
    <p:sldId id="270" r:id="rId16"/>
    <p:sldId id="271" r:id="rId17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0ca7d6db-fdb8-bcd4-f044-2dfe218f7e7d}">
          <p14:sldIdLst>
            <p14:sldId id="256"/>
          </p14:sldIdLst>
        </p14:section>
        <p14:section name="요약" id="{9adafa3c-f3cd-3044-e1dd-aaa6ff5db02d}">
          <p14:sldIdLst>
            <p14:sldId id="257"/>
            <p14:sldId id="258"/>
          </p14:sldIdLst>
        </p14:section>
        <p14:section name="문제" id="{99e2068b-bc77-d4c6-d18e-9851e7d81062}">
          <p14:sldIdLst>
            <p14:sldId id="260"/>
          </p14:sldIdLst>
        </p14:section>
        <p14:section name="개선" id="{7ae72d53-17b1-2a87-0ab4-de496c65272f}">
          <p14:sldIdLst/>
        </p14:section>
        <p14:section name="평가 설계" id="{89c76f3a-cb6f-e817-2ce5-2571ec1d857e}">
          <p14:sldIdLst/>
        </p14:section>
        <p14:section name="Before/After" id="{29ccccdf-61f8-fc02-b50a-73c802a2bf28}">
          <p14:sldIdLst>
            <p14:sldId id="265"/>
          </p14:sldIdLst>
        </p14:section>
        <p14:section name="평가자 검증" id="{5c4d0fdb-fa7e-04b9-3581-29f9835d05fa}">
          <p14:sldIdLst/>
        </p14:section>
        <p14:section name="시연" id="{91e61492-86e6-5381-c26d-32b2a5f584f9}">
          <p14:sldIdLst>
            <p14:sldId id="270"/>
          </p14:sldIdLst>
        </p14:section>
        <p14:section name="한계" id="{b0da42d1-4cd1-97b9-b696-c86b27506e1b}">
          <p14:sldIdLst>
            <p14:sldId id="271"/>
          </p14:sldIdLst>
        </p14:section>
        <p14:section name="마무리" id="{bfa83e08-d88f-4e51-fc14-2609c97fb18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개선을 많이 붙인 게 아니라, 어떤 개선이 실제로 효과였는지를 통계로 분리했고, 채점한 AI 평가자가 얼마나 관대한지도 다른 평가자와 대조해 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새벽 당직자가 DB가 죽었다고 물어도 원본은 응답 지연 매뉴얼을 꺼냈습니다. 고친 부분을 하나씩 켜고 끄며 효과를 쟀고, 채점하는 AI도 검사했습니다. 결과 숫자는 오른쪽 다섯 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숫자가 결론입니다. 그리고 이 숫자를 어떻게 믿을 수 있는지가 이 발표의 나머지입니다.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평가셋을 알림 문구와 같은 말로 묻는 질문과 자기 말로 묻는 질문으로 나눠 봤습니다. base는 자기 말로 물으면 거의 못 맞힙니다.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표가 핵심입니다. RAG 행에 품질 별표가 몰려 있고, Judge 행에는 비용과 지연 별표만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SKALA 4기 AI Mini-Project · 과제1 · 장병헌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개선 효과를 통계로 분리하고, AI 평가자의 관대함까지 쟀다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인시던트 대응 에이전트 개선을 하나씩 켠 7구성 Ablation · 조정에 쓰지 않은 holdout 36건 · 3회 반복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SKALA 4기 AI Mini-Project 과제1 · 광주 2반 장병헌 (G062)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한 장 요약: 무엇을 고쳤고, 무엇이 효과였나</a:t>
            </a:r>
            <a:endParaRPr lang="en-US" sz="2800" dirty="0"/>
          </a:p>
        </p:txBody>
      </p:sp>
      <p:pic>
        <p:nvPicPr>
          <p:cNvPr id="3" name="summary-webtoon" descr="4컷 웹툰: 새벽 당직, 스위치 켜기, 맞는 매뉴얼, 채점관 검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119" y="1234440"/>
            <a:ext cx="4434840" cy="4434840"/>
          </a:xfrm>
          <a:prstGeom prst="rect">
            <a:avLst/>
          </a:prstGeom>
        </p:spPr>
      </p:pic>
      <p:pic>
        <p:nvPicPr>
          <p:cNvPr id="4" name="summary-infographic" descr="결과 숫자 5개 인포그래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439" y="1234440"/>
            <a:ext cx="3549137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그림은 ChatGPT로 생성 · 그림 속 숫자는 results/*_latest.json, 실제 API 벤치 실측값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결론: 조치 정확도는 RAG가, 비용은 캐스케이드가 낮췄다</a:t>
            </a:r>
            <a:endParaRPr lang="en-US" sz="2800" dirty="0"/>
          </a:p>
        </p:txBody>
      </p:sp>
      <p:sp>
        <p:nvSpPr>
          <p:cNvPr id="3" name="stat-miss"/>
          <p:cNvSpPr/>
          <p:nvPr/>
        </p:nvSpPr>
        <p:spPr>
          <a:xfrm>
            <a:off x="548640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72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56% → 9%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정답 런북 누락률 (base → final)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= 맞는 조치를 권고하지 못할 위험</a:t>
            </a:r>
            <a:endParaRPr lang="en-US" sz="1350" dirty="0"/>
          </a:p>
        </p:txBody>
      </p:sp>
      <p:sp>
        <p:nvSpPr>
          <p:cNvPr id="6" name="stat-cost"/>
          <p:cNvSpPr/>
          <p:nvPr/>
        </p:nvSpPr>
        <p:spPr>
          <a:xfrm>
            <a:off x="4334256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8576" y="1572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6"/>
                </a:solidFill>
              </a:rPr>
              <a:t>-84%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608576" y="2468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장애 1건당 처리 비용 $0.00343 → $0.00057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(캐스케이드만 켜면 -73%)</a:t>
            </a:r>
            <a:endParaRPr lang="en-US" sz="1350" dirty="0"/>
          </a:p>
        </p:txBody>
      </p:sp>
      <p:sp>
        <p:nvSpPr>
          <p:cNvPr id="9" name="stat-judge"/>
          <p:cNvSpPr/>
          <p:nvPr/>
        </p:nvSpPr>
        <p:spPr>
          <a:xfrm>
            <a:off x="8119872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94192" y="1572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개선 미확인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468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LLM Judge 단독: 품질 향상 확인 안 됨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지연은 +2.3초 (유의)</a:t>
            </a:r>
            <a:endParaRPr lang="en-US" sz="1350" dirty="0"/>
          </a:p>
        </p:txBody>
      </p:sp>
      <p:sp>
        <p:nvSpPr>
          <p:cNvPr id="12" name="method"/>
          <p:cNvSpPr/>
          <p:nvPr/>
        </p:nvSpPr>
        <p:spPr>
          <a:xfrm>
            <a:off x="548640" y="3520440"/>
            <a:ext cx="110642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5760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6202C"/>
                </a:solidFill>
              </a:rPr>
              <a:t>어떻게 증명했나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평가셋 60건을 dev 24건(기준값 조정용)과 holdout 36건(조정 전에 고정, 최종 보고용)으로 나눴다. 이 덱의 수치는 모두 holdout.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개선을 하나씩 켠 7구성을 각 3회 반복하고, 구성 간 차이는 같은 질의끼리 짝지은 bootstrap 95% 신뢰구간으로 판정했다.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평가자(LLM Judge)가 관대할 수 있어, Judge와 무관한 결정적 지표(정답 런북 누락·혼입, 런북 어구 포함)로 결론을 냈다.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출처: results/*_latest.json (7구성 x 60건 x 3회 = 1,260회, 실행 오류 0), results/stats_holdout.json, eval/extra_metrics.py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문제 1: base는 질문을 읽지 않고, 알림 키워드로 런북을 고른다</a:t>
            </a:r>
            <a:endParaRPr lang="en-US" sz="2800" dirty="0"/>
          </a:p>
        </p:txBody>
      </p:sp>
      <p:sp>
        <p:nvSpPr>
          <p:cNvPr id="3" name="flow-0"/>
          <p:cNvSpPr/>
          <p:nvPr/>
        </p:nvSpPr>
        <p:spPr>
          <a:xfrm>
            <a:off x="548640" y="1371600"/>
            <a:ext cx="24688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사용자 질의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"DB 프라이머리가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다운됐습니다"</a:t>
            </a:r>
            <a:endParaRPr lang="en-US" sz="1500" dirty="0"/>
          </a:p>
        </p:txBody>
      </p:sp>
      <p:sp>
        <p:nvSpPr>
          <p:cNvPr id="6" name="arrow-0"/>
          <p:cNvSpPr/>
          <p:nvPr/>
        </p:nvSpPr>
        <p:spPr>
          <a:xfrm>
            <a:off x="3063240" y="2057400"/>
            <a:ext cx="2743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flow-1"/>
          <p:cNvSpPr/>
          <p:nvPr/>
        </p:nvSpPr>
        <p:spPr>
          <a:xfrm>
            <a:off x="3383280" y="1371600"/>
            <a:ext cx="24688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planner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920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시스템명 없음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→ auth-service 폴백</a:t>
            </a:r>
            <a:endParaRPr lang="en-US" sz="1500" dirty="0"/>
          </a:p>
        </p:txBody>
      </p:sp>
      <p:sp>
        <p:nvSpPr>
          <p:cNvPr id="10" name="arrow-1"/>
          <p:cNvSpPr/>
          <p:nvPr/>
        </p:nvSpPr>
        <p:spPr>
          <a:xfrm>
            <a:off x="5897880" y="2057400"/>
            <a:ext cx="2743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flow-2"/>
          <p:cNvSpPr/>
          <p:nvPr/>
        </p:nvSpPr>
        <p:spPr>
          <a:xfrm>
            <a:off x="6217920" y="1371600"/>
            <a:ext cx="24688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모니터링 알림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1920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"p95 latency 2.4s"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키워드 'latency' 일치</a:t>
            </a:r>
            <a:endParaRPr lang="en-US" sz="1500" dirty="0"/>
          </a:p>
        </p:txBody>
      </p:sp>
      <p:sp>
        <p:nvSpPr>
          <p:cNvPr id="14" name="arrow-2"/>
          <p:cNvSpPr/>
          <p:nvPr/>
        </p:nvSpPr>
        <p:spPr>
          <a:xfrm>
            <a:off x="8732520" y="2057400"/>
            <a:ext cx="2743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flow-3"/>
          <p:cNvSpPr/>
          <p:nvPr/>
        </p:nvSpPr>
        <p:spPr>
          <a:xfrm>
            <a:off x="9052560" y="1371600"/>
            <a:ext cx="246888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3544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선택된 런북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1920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high-latency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(응답 지연 절차)</a:t>
            </a:r>
            <a:endParaRPr lang="en-US" sz="1500" dirty="0"/>
          </a:p>
        </p:txBody>
      </p:sp>
      <p:sp>
        <p:nvSpPr>
          <p:cNvPr id="18" name="stat-basemiss"/>
          <p:cNvSpPr/>
          <p:nvPr/>
        </p:nvSpPr>
        <p:spPr>
          <a:xfrm>
            <a:off x="548640" y="34290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6301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56%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526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holdout에서 base가 정답 런북을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근거에 못 넣은 비율</a:t>
            </a:r>
            <a:endParaRPr lang="en-US" sz="1350" dirty="0"/>
          </a:p>
        </p:txBody>
      </p:sp>
      <p:sp>
        <p:nvSpPr>
          <p:cNvPr id="21" name="stat-bias"/>
          <p:cNvSpPr/>
          <p:nvPr/>
        </p:nvSpPr>
        <p:spPr>
          <a:xfrm>
            <a:off x="4334256" y="34290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08576" y="36301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78% vs 11%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4608576" y="4526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알림 문구대로 물을 때 vs 자기 말로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물을 때 base Recall@1 (편향 검증)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3429000"/>
            <a:ext cx="34107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chemeClr val="tx1"/>
                </a:solidFill>
              </a:rPr>
              <a:t>원인 (src/agent/graph.py:192-213)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조사한 시스템의 알림 문구에서 키워드를 순서대로 찾아 첫 일치로 런북 1개를 고른다.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질의 문장은 쓰지 않는다. 당직자가 알림과 다른 말로 물으면 거의 맞히지 못한다.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holdout 정상 질의 aligned 9건 / paraphrased 9건, 3회 평균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Before/After 2: 개선별 기여도 — 같은 질의끼리 짝지어 비교했다</a:t>
            </a:r>
            <a:endParaRPr lang="en-US" sz="2800" dirty="0"/>
          </a:p>
        </p:txBody>
      </p:sp>
      <p:graphicFrame>
        <p:nvGraphicFramePr>
          <p:cNvPr id="11" name="contrib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25880"/>
                <a:gridCol w="1325880"/>
                <a:gridCol w="1325880"/>
                <a:gridCol w="132588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켠 것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정답 누락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무관 혼입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어구 포함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Judge 통과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질의당 비용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질의당 지연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RAG 단독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-46%p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-6%p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+37%p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+20%p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+0.0004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+0.4초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Judge 단독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-1%p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-1%p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+2%p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+3%p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+0.0009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+2.3초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RAG 위에 Judge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+0%p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+0%p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-3%p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0%p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+0.0005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+1.8초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캐스케이드+캐시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+0%p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+0%p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-5%p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-2%p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-0.0030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-0.7초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v2 보완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+0%p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-24%p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-3%p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+2%p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-0.0003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+0.1초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v2 위에 비용·런타임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+0%p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+1%p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-2%p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-1%p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-0.0030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-0.9초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전체 (Before→After)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-46%p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-29%p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+30%p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+21%p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-0.0024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+1.4초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★ = 95% 신뢰구간이 0을 포함하지 않음 (holdout 36건, 질의 단위 paired bootstrap 2,000회). 초록 = 좋아짐, 주황 = 나빠짐. 표시 없는 칸은 차이가 있다고 말할 수 없음. 캐스케이드·v2 위 비용·전체 행의 지연은 재측정 부하(2프로세스 vs 7프로세스) 차이가 섞였을 수 있음.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results/stats_holdout.json · eval/stats.py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시연: 같은 질문, base와 final을 나란히</a:t>
            </a:r>
            <a:endParaRPr lang="en-US" sz="2800" dirty="0"/>
          </a:p>
        </p:txBody>
      </p:sp>
      <p:sp>
        <p:nvSpPr>
          <p:cNvPr id="3" name="demo-cmd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.venv/bin/python scripts/demo_side_by_side.py --id Q01</a:t>
            </a:r>
            <a:endParaRPr lang="en-US" sz="1600" dirty="0"/>
          </a:p>
        </p:txBody>
      </p:sp>
      <p:sp>
        <p:nvSpPr>
          <p:cNvPr id="5" name="demo-base"/>
          <p:cNvSpPr/>
          <p:nvPr/>
        </p:nvSpPr>
        <p:spPr>
          <a:xfrm>
            <a:off x="548640" y="2560320"/>
            <a:ext cx="545896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[base]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2743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오답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8A94A3"/>
                </a:solidFill>
              </a:rPr>
              <a:t>고른 런북  </a:t>
            </a:r>
            <a:pPr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chemeClr val="tx1"/>
                </a:solidFill>
              </a:rPr>
              <a:t>high-latency (응답 지연 절차)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8A94A3"/>
                </a:solidFill>
              </a:rPr>
              <a:t>답의 핵심 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커넥션 풀 늘리기, 트래픽 분산…</a:t>
            </a:r>
            <a:endParaRPr lang="en-US" sz="1450" dirty="0"/>
          </a:p>
        </p:txBody>
      </p:sp>
      <p:sp>
        <p:nvSpPr>
          <p:cNvPr id="9" name="demo-final"/>
          <p:cNvSpPr/>
          <p:nvPr/>
        </p:nvSpPr>
        <p:spPr>
          <a:xfrm>
            <a:off x="6153912" y="2560320"/>
            <a:ext cx="545896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[final]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2743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정답 포함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28232" y="32918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8A94A3"/>
                </a:solidFill>
              </a:rPr>
              <a:t>고른 런북  </a:t>
            </a:r>
            <a:pPr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chemeClr val="tx1"/>
                </a:solidFill>
              </a:rPr>
              <a:t>db-down (+disk-full 혼입)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8A94A3"/>
                </a:solidFill>
              </a:rPr>
              <a:t>답의 핵심 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커넥션 풀 점검, 필요 시 failover 노드로 전환…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15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질문: "DB 프라이머리가 다운됐습니다. 대응 절차를 알려주세요." 화면 하나에 런북 정오·답변·지연·비용·근거 없는 수치. 기록 results/raw/demo_*.json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한계와 다음 개선</a:t>
            </a:r>
            <a:endParaRPr lang="en-US" sz="2800" dirty="0"/>
          </a:p>
        </p:txBody>
      </p:sp>
      <p:sp>
        <p:nvSpPr>
          <p:cNvPr id="3" name="lim-0"/>
          <p:cNvSpPr/>
          <p:nvPr/>
        </p:nvSpPr>
        <p:spPr>
          <a:xfrm>
            <a:off x="548640" y="1280160"/>
            <a:ext cx="1106424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m-dot-0"/>
          <p:cNvSpPr/>
          <p:nvPr/>
        </p:nvSpPr>
        <p:spPr>
          <a:xfrm>
            <a:off x="777240" y="160934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898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일반화 격차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9222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RAG Recall@1이 dev 72% → holdout 52%. 자기 말로 묻는 holdout 질의는 33%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38988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다음: 런북 본문 외에 증상 예시 문장을 색인해 질문과 문서의 표현 차이를 줄임</a:t>
            </a:r>
            <a:endParaRPr lang="en-US" sz="1350" dirty="0"/>
          </a:p>
        </p:txBody>
      </p:sp>
      <p:sp>
        <p:nvSpPr>
          <p:cNvPr id="9" name="lim-1"/>
          <p:cNvSpPr/>
          <p:nvPr/>
        </p:nvSpPr>
        <p:spPr>
          <a:xfrm>
            <a:off x="548640" y="2487168"/>
            <a:ext cx="1106424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im-dot-1"/>
          <p:cNvSpPr/>
          <p:nvPr/>
        </p:nvSpPr>
        <p:spPr>
          <a:xfrm>
            <a:off x="777240" y="281635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59689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무관 런북 혼입이 남음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992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final 혼입 35%. 1위와 점수가 가까운 런북을 함께 넣는 규칙, 맞는 런북이 없는 질문에도 런북이 들어가는 경우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596896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다음: 재순위(reranker), 질문 속 증상 수에 맞춘 투입 개수</a:t>
            </a:r>
            <a:endParaRPr lang="en-US" sz="1350" dirty="0"/>
          </a:p>
        </p:txBody>
      </p:sp>
      <p:sp>
        <p:nvSpPr>
          <p:cNvPr id="15" name="lim-2"/>
          <p:cNvSpPr/>
          <p:nvPr/>
        </p:nvSpPr>
        <p:spPr>
          <a:xfrm>
            <a:off x="548640" y="3694176"/>
            <a:ext cx="1106424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im-dot-2"/>
          <p:cNvSpPr/>
          <p:nvPr/>
        </p:nvSpPr>
        <p:spPr>
          <a:xfrm>
            <a:off x="777240" y="40233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80390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캐스케이드의 품질 대가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206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어구 포함 -5%p (유의하지 않음). 저가 초안이 런북 문구를 덜 인용하는 것으로 추정 (미검증)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803904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다음: Judge 대신 결정적 어구 대조로 승급 기준을 정함</a:t>
            </a:r>
            <a:endParaRPr lang="en-US" sz="1350" dirty="0"/>
          </a:p>
        </p:txBody>
      </p:sp>
      <p:sp>
        <p:nvSpPr>
          <p:cNvPr id="21" name="lim-3"/>
          <p:cNvSpPr/>
          <p:nvPr/>
        </p:nvSpPr>
        <p:spPr>
          <a:xfrm>
            <a:off x="548640" y="4901184"/>
            <a:ext cx="1106424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lim-dot-3"/>
          <p:cNvSpPr/>
          <p:nvPr/>
        </p:nvSpPr>
        <p:spPr>
          <a:xfrm>
            <a:off x="777240" y="523036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230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50109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평가 규모와 범위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4132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holdout 36건 x 3회 (1건 = 2.8%p). 평가 Judge 포화. 라우터는 개선 범위 밖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501091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다음: 질의 확대, 라우팅 개선을 같은 체계로 재측정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cident Ablation">
  <a:themeElements>
    <a:clrScheme name="Incident Ablation">
      <a:dk1>
        <a:srgbClr val="1A2230"/>
      </a:dk1>
      <a:lt1>
        <a:srgbClr val="FFFFFF"/>
      </a:lt1>
      <a:dk2>
        <a:srgbClr val="16202C"/>
      </a:dk2>
      <a:lt2>
        <a:srgbClr val="EEF2F6"/>
      </a:lt2>
      <a:accent1>
        <a:srgbClr val="E8833A"/>
      </a:accent1>
      <a:accent2>
        <a:srgbClr val="1F8A70"/>
      </a:accent2>
      <a:accent3>
        <a:srgbClr val="8A94A3"/>
      </a:accent3>
      <a:accent4>
        <a:srgbClr val="C9A227"/>
      </a:accent4>
      <a:accent5>
        <a:srgbClr val="D1495B"/>
      </a:accent5>
      <a:accent6>
        <a:srgbClr val="155E4B"/>
      </a:accent6>
      <a:hlink>
        <a:srgbClr val="1F8A70"/>
      </a:hlink>
      <a:folHlink>
        <a:srgbClr val="155E4B"/>
      </a:folHlink>
    </a:clrScheme>
    <a:fontScheme name="Incident Ablation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인시던트 에이전트 개선 Ablation</dc:title>
  <dc:subject>PptxGenJS Presentation</dc:subject>
  <dc:creator>장병헌 (G062)</dc:creator>
  <cp:lastModifiedBy>장병헌 (G062)</cp:lastModifiedBy>
  <cp:revision>1</cp:revision>
  <dcterms:created xsi:type="dcterms:W3CDTF">2026-10-22T00:17:34Z</dcterms:created>
  <dcterms:modified xsi:type="dcterms:W3CDTF">2026-10-22T00:17:34Z</dcterms:modified>
</cp:coreProperties>
</file>