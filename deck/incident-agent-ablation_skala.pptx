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광주 2반 장병헌입니다. 장애 대응 AI 비서를 다섯 군데 고치고, 무엇이 진짜 효과였는지 하나씩 재 봤습니다.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새벽 장애에 당직자가 "DB 프라이머리가 다운됐습니다"라고 묻습니다. 그런데 원본 비서는 응답 지연 매뉴얼을 꺼냅니다. 질문이 아니라 모니터링 경고 문구의 단어로 매뉴얼을 고르기 때문입니다. 그래서 맞는 매뉴얼을 56% 놓쳤습니다.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원본은 그대로 두고, 개선 다섯 개를 스위치로 붙였습니다.
RAG는 매뉴얼 책장에서 맞는 페이지를 찾아 펴 주는 기능입니다.
Judge는 답을 한 번 더 검수하는 AI 채점관입니다.
캐스케이드는 쉬운 건 신입이 먼저, 막히면 선배에게 넘기는 방식입니다. 싼 모델이 먼저 씁니다.
v2 보완은 맞는 매뉴얼이 없으면 없다고 말하게 했습니다.
마지막으로 질문을 동시에 처리하고, 조회가 고장 나도 끝까지 답하게 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증명은 Ablation으로 했습니다. 스위치를 하나씩 켜고 끄며 무엇이 효과였는지 가리는 방법입니다. 7가지 버전을 holdout 36개, 즉 개발 중 한 번도 안 본 시험 문제로 3번씩 돌렸습니다. 같은 문제끼리 짝지어 비교했고, 신뢰구간, 진짜 효과가 있을 법한 범위에 0이 없을 때만 효과라고 했습니다. 숫자는 모두 결과 파일에서 자동으로 뽑았습니다.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핵심입니다. 품질을 올린 건 두 가지였습니다. RAG는 맞는 매뉴얼 누락을 -46%p, 전체로는 56%에서 9%로 줄였습니다. v2 보완은 엉뚱한 매뉴얼 혼입을 -24%p 줄였습니다.
반면 많이들 넣는 AI 검수, Judge는 혼자서는 품질 향상이 확인되지 않았고, 지연만 +2.7초 늘었습니다.
AI 검수를 넣는다고 좋아지진 않았습니다. 측정이 먼저입니다.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운영에서는 장애 1건 비용이 -84%, 약 6분의 1이 됐습니다. 동시 질문 10개는 62.8초 → 9.2초, 조회 30%를 일부러 고장 냈을 때 완주는 0/19 → 18/18입니다. 5번 반복해도 매번 6.5~9.4배 빨랐고, 고장 위치를 바꿔도 0/71 → 71/71이었습니다. 대신 같은 부하로 다시 재 보니 질문당 +2.5초 느려졌습니다.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질문의 실제 실행 기록입니다. 원본은 응답 지연 매뉴얼로 커넥션 풀을 늘리라고 합니다. 최종은 DB 다운 매뉴얼로 failover, 즉 예비 DB로 바꿔 타라고 권합니다. 비용은 약 6분의 1입니다. 다만 디스크 부족 매뉴얼이 섞이는 혼입은 남았습니다.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한계도 있습니다. 자기 말로 묻는 질문의 1순위 정답률은 33%, 엉뚱한 매뉴얼 혼입은 35% 남았습니다. 시험 문제는 직접 만든 합성 문제이고, 사람 채점은 없었습니다. 배운 점은 기능을 더하기 전에 재는 법부터 만들어야 한다는 것입니다.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jang961111-hash/incident-agent-ablation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8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SKALA 4기 · 광주 2반 · G062 장병헌</a:t>
            </a:r>
            <a:endParaRPr lang="ko-KR" sz="800" dirty="0"/>
          </a:p>
        </p:txBody>
      </p:sp>
      <p:sp>
        <p:nvSpPr>
          <p:cNvPr id="3" name="Text 1"/>
          <p:cNvSpPr/>
          <p:nvPr/>
        </p:nvSpPr>
        <p:spPr>
          <a:xfrm>
            <a:off x="813816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8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ko-KR" sz="800" dirty="0"/>
          </a:p>
        </p:txBody>
      </p:sp>
      <p:pic>
        <p:nvPicPr>
          <p:cNvPr id="5" name="Image 0" descr="/Users/jangbyeongheon/projects/incident-agent-ablation/docs/figures/gpt_webto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74920" y="502920"/>
            <a:ext cx="3749040" cy="37490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822960"/>
            <a:ext cx="237744" cy="237744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123444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장애 대응 AI 비서,</a:t>
            </a:r>
            <a:endParaRPr lang="ko-KR" sz="3000" dirty="0"/>
          </a:p>
          <a:p>
            <a:pPr indent="0" marL="0">
              <a:buNone/>
            </a:pPr>
            <a:r>
              <a:rPr lang="ko-KR" altLang="en-US" sz="3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무엇이 진짜 효과였나</a:t>
            </a:r>
            <a:endParaRPr lang="ko-KR" sz="3000" dirty="0"/>
          </a:p>
        </p:txBody>
      </p:sp>
      <p:sp>
        <p:nvSpPr>
          <p:cNvPr id="8" name="Shape 4"/>
          <p:cNvSpPr/>
          <p:nvPr/>
        </p:nvSpPr>
        <p:spPr>
          <a:xfrm>
            <a:off x="548640" y="2834640"/>
            <a:ext cx="4206240" cy="566928"/>
          </a:xfrm>
          <a:prstGeom prst="roundRect">
            <a:avLst>
              <a:gd name="adj" fmla="val 48387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283464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C81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고친 것 5가지</a:t>
            </a:r>
            <a:pPr indent="0" marL="0">
              <a:buNone/>
            </a:pPr>
            <a:r>
              <a:rPr lang="ko-KR" altLang="en-US" sz="14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스위치로 하나씩 증명</a:t>
            </a:r>
            <a:endParaRPr lang="ko-KR" sz="1400" dirty="0"/>
          </a:p>
        </p:txBody>
      </p:sp>
      <p:sp>
        <p:nvSpPr>
          <p:cNvPr id="10" name="Text 6"/>
          <p:cNvSpPr/>
          <p:nvPr/>
        </p:nvSpPr>
        <p:spPr>
          <a:xfrm>
            <a:off x="548640" y="3611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광주 2반 장병헌</a:t>
            </a:r>
            <a:endParaRPr lang="ko-KR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46304" cy="146304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새벽 장애, 비서가 헛짚었어요</a:t>
            </a:r>
            <a:endParaRPr lang="ko-KR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8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SKALA 4기 · 광주 2반 · G062 장병헌</a:t>
            </a:r>
            <a:endParaRPr lang="ko-KR" sz="800" dirty="0"/>
          </a:p>
        </p:txBody>
      </p:sp>
      <p:sp>
        <p:nvSpPr>
          <p:cNvPr id="5" name="Text 3"/>
          <p:cNvSpPr/>
          <p:nvPr/>
        </p:nvSpPr>
        <p:spPr>
          <a:xfrm>
            <a:off x="813816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8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ko-KR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1051560"/>
            <a:ext cx="4206240" cy="86868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rot="10800000">
            <a:off x="868680" y="1901952"/>
            <a:ext cx="228600" cy="182880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50392" y="1865376"/>
            <a:ext cx="265176" cy="73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1124712"/>
            <a:ext cx="37490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ko-KR" alt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당직자</a:t>
            </a:r>
            <a:endParaRPr lang="ko-KR" sz="10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"DB 프라이머리가 다운됐습니다"</a:t>
            </a:r>
            <a:endParaRPr lang="ko-KR" sz="1000" dirty="0"/>
          </a:p>
        </p:txBody>
      </p:sp>
      <p:sp>
        <p:nvSpPr>
          <p:cNvPr id="11" name="Shape 8"/>
          <p:cNvSpPr/>
          <p:nvPr/>
        </p:nvSpPr>
        <p:spPr>
          <a:xfrm>
            <a:off x="1097280" y="2286000"/>
            <a:ext cx="4023360" cy="868680"/>
          </a:xfrm>
          <a:prstGeom prst="roundRect">
            <a:avLst>
              <a:gd name="adj" fmla="val 26316"/>
            </a:avLst>
          </a:prstGeom>
          <a:solidFill>
            <a:srgbClr val="FDECEE"/>
          </a:solidFill>
          <a:ln w="19050">
            <a:solidFill>
              <a:srgbClr val="F26B2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rot="10800000">
            <a:off x="4572000" y="3136392"/>
            <a:ext cx="228600" cy="182880"/>
          </a:xfrm>
          <a:prstGeom prst="triangle">
            <a:avLst/>
          </a:prstGeom>
          <a:solidFill>
            <a:srgbClr val="FDECEE"/>
          </a:solidFill>
          <a:ln w="19050">
            <a:solidFill>
              <a:srgbClr val="F26B2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53712" y="3099816"/>
            <a:ext cx="265176" cy="73152"/>
          </a:xfrm>
          <a:prstGeom prst="roundRect">
            <a:avLst/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25880" y="2359152"/>
            <a:ext cx="35661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ko-KR" alt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원본 비서</a:t>
            </a:r>
            <a:endParaRPr lang="ko-KR" sz="10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"응답 지연 매뉴얼입니다"</a:t>
            </a:r>
            <a:endParaRPr lang="ko-KR" sz="1000" dirty="0"/>
          </a:p>
        </p:txBody>
      </p:sp>
      <p:sp>
        <p:nvSpPr>
          <p:cNvPr id="15" name="Text 12"/>
          <p:cNvSpPr/>
          <p:nvPr/>
        </p:nvSpPr>
        <p:spPr>
          <a:xfrm>
            <a:off x="1097280" y="33101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b="1" dirty="0">
                <a:solidFill>
                  <a:srgbClr val="F26B2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✕ 엉뚱한 매뉴얼</a:t>
            </a:r>
            <a:endParaRPr lang="ko-KR" sz="1100" dirty="0"/>
          </a:p>
        </p:txBody>
      </p:sp>
      <p:sp>
        <p:nvSpPr>
          <p:cNvPr id="16" name="Shape 13"/>
          <p:cNvSpPr/>
          <p:nvPr/>
        </p:nvSpPr>
        <p:spPr>
          <a:xfrm>
            <a:off x="5577840" y="1051560"/>
            <a:ext cx="3017520" cy="2377440"/>
          </a:xfrm>
          <a:prstGeom prst="roundRect">
            <a:avLst>
              <a:gd name="adj" fmla="val 8462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06440" y="1234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맞는 매뉴얼을</a:t>
            </a:r>
            <a:endParaRPr lang="ko-KR" sz="1300" dirty="0"/>
          </a:p>
        </p:txBody>
      </p:sp>
      <p:sp>
        <p:nvSpPr>
          <p:cNvPr id="18" name="Text 15"/>
          <p:cNvSpPr/>
          <p:nvPr/>
        </p:nvSpPr>
        <p:spPr>
          <a:xfrm>
            <a:off x="5806440" y="155448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7200" b="1" dirty="0">
                <a:solidFill>
                  <a:srgbClr val="C81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56%</a:t>
            </a:r>
            <a:endParaRPr lang="ko-KR" sz="7200" dirty="0"/>
          </a:p>
        </p:txBody>
      </p:sp>
      <p:sp>
        <p:nvSpPr>
          <p:cNvPr id="19" name="Text 16"/>
          <p:cNvSpPr/>
          <p:nvPr/>
        </p:nvSpPr>
        <p:spPr>
          <a:xfrm>
            <a:off x="5806440" y="2834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놓쳤어요</a:t>
            </a:r>
            <a:endParaRPr lang="ko-KR" sz="1500" dirty="0"/>
          </a:p>
        </p:txBody>
      </p:sp>
      <p:sp>
        <p:nvSpPr>
          <p:cNvPr id="20" name="Shape 17"/>
          <p:cNvSpPr/>
          <p:nvPr/>
        </p:nvSpPr>
        <p:spPr>
          <a:xfrm rot="-90000">
            <a:off x="5394960" y="3730752"/>
            <a:ext cx="3291840" cy="868680"/>
          </a:xfrm>
          <a:prstGeom prst="rect">
            <a:avLst/>
          </a:prstGeom>
          <a:solidFill>
            <a:srgbClr val="FFF1D6"/>
          </a:solidFill>
          <a:ln w="6350">
            <a:solidFill>
              <a:srgbClr val="E8D3A8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 rot="-90000">
            <a:off x="5532120" y="3803904"/>
            <a:ext cx="30175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ko-KR" alt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이유: 경고 문구로 골라요</a:t>
            </a:r>
            <a:endParaRPr lang="ko-KR" sz="1400" dirty="0"/>
          </a:p>
          <a:p>
            <a:pPr indent="0" marL="0">
              <a:spcAft>
                <a:spcPts val="200"/>
              </a:spcAft>
              <a:buNone/>
            </a:pPr>
            <a:r>
              <a:rPr lang="ko-KR" alt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질문이 아니라 모니터링 경고의 단어로 매뉴얼 선택</a:t>
            </a:r>
            <a:endParaRPr lang="ko-KR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46304" cy="146304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제가 바꾼 건 5곳이에요</a:t>
            </a:r>
            <a:endParaRPr lang="ko-KR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8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SKALA 4기 · 광주 2반 · G062 장병헌</a:t>
            </a:r>
            <a:endParaRPr lang="ko-KR" sz="800" dirty="0"/>
          </a:p>
        </p:txBody>
      </p:sp>
      <p:sp>
        <p:nvSpPr>
          <p:cNvPr id="5" name="Text 3"/>
          <p:cNvSpPr/>
          <p:nvPr/>
        </p:nvSpPr>
        <p:spPr>
          <a:xfrm>
            <a:off x="813816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8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ko-KR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960120"/>
            <a:ext cx="2514600" cy="475488"/>
          </a:xfrm>
          <a:prstGeom prst="roundRect">
            <a:avLst>
              <a:gd name="adj" fmla="val 50000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96012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C81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 </a:t>
            </a:r>
            <a:pPr indent="0" marL="0">
              <a:buNone/>
            </a:pPr>
            <a:r>
              <a:rPr lang="ko-KR" alt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route</a:t>
            </a:r>
            <a:pPr indent="0" marL="0">
              <a:buNone/>
            </a:pPr>
            <a:r>
              <a:rPr lang="ko-KR" alt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질문 분류</a:t>
            </a:r>
            <a:endParaRPr lang="ko-KR" sz="1200" dirty="0"/>
          </a:p>
        </p:txBody>
      </p:sp>
      <p:sp>
        <p:nvSpPr>
          <p:cNvPr id="9" name="Shape 6"/>
          <p:cNvSpPr/>
          <p:nvPr/>
        </p:nvSpPr>
        <p:spPr>
          <a:xfrm>
            <a:off x="914400" y="1435608"/>
            <a:ext cx="0" cy="146304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1581912"/>
            <a:ext cx="2514600" cy="475488"/>
          </a:xfrm>
          <a:prstGeom prst="roundRect">
            <a:avLst>
              <a:gd name="adj" fmla="val 50000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9808" y="158191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C81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 </a:t>
            </a:r>
            <a:pPr indent="0" marL="0">
              <a:buNone/>
            </a:pPr>
            <a:r>
              <a:rPr lang="ko-KR" alt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plan</a:t>
            </a:r>
            <a:pPr indent="0" marL="0">
              <a:buNone/>
            </a:pPr>
            <a:r>
              <a:rPr lang="ko-KR" alt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계획</a:t>
            </a:r>
            <a:endParaRPr lang="ko-KR" sz="1200" dirty="0"/>
          </a:p>
        </p:txBody>
      </p:sp>
      <p:sp>
        <p:nvSpPr>
          <p:cNvPr id="12" name="Shape 9"/>
          <p:cNvSpPr/>
          <p:nvPr/>
        </p:nvSpPr>
        <p:spPr>
          <a:xfrm>
            <a:off x="914400" y="2057400"/>
            <a:ext cx="0" cy="146304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2203704"/>
            <a:ext cx="2514600" cy="475488"/>
          </a:xfrm>
          <a:prstGeom prst="roundRect">
            <a:avLst>
              <a:gd name="adj" fmla="val 50000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9808" y="220370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C81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 </a:t>
            </a:r>
            <a:pPr indent="0" marL="0">
              <a:buNone/>
            </a:pPr>
            <a:r>
              <a:rPr lang="ko-KR" alt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research</a:t>
            </a:r>
            <a:pPr indent="0" marL="0">
              <a:buNone/>
            </a:pPr>
            <a:r>
              <a:rPr lang="ko-KR" alt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MCP 도구 조회</a:t>
            </a:r>
            <a:endParaRPr lang="ko-KR" sz="1200" dirty="0"/>
          </a:p>
        </p:txBody>
      </p:sp>
      <p:sp>
        <p:nvSpPr>
          <p:cNvPr id="15" name="Shape 12"/>
          <p:cNvSpPr/>
          <p:nvPr/>
        </p:nvSpPr>
        <p:spPr>
          <a:xfrm>
            <a:off x="914400" y="2679192"/>
            <a:ext cx="0" cy="146304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2825496"/>
            <a:ext cx="2514600" cy="475488"/>
          </a:xfrm>
          <a:prstGeom prst="roundRect">
            <a:avLst>
              <a:gd name="adj" fmla="val 50000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9808" y="282549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C81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 </a:t>
            </a:r>
            <a:pPr indent="0" marL="0">
              <a:buNone/>
            </a:pPr>
            <a:r>
              <a:rPr lang="ko-KR" alt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analysis</a:t>
            </a:r>
            <a:pPr indent="0" marL="0">
              <a:buNone/>
            </a:pPr>
            <a:r>
              <a:rPr lang="ko-KR" alt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분석</a:t>
            </a:r>
            <a:endParaRPr lang="ko-KR" sz="1200" dirty="0"/>
          </a:p>
        </p:txBody>
      </p:sp>
      <p:sp>
        <p:nvSpPr>
          <p:cNvPr id="18" name="Shape 15"/>
          <p:cNvSpPr/>
          <p:nvPr/>
        </p:nvSpPr>
        <p:spPr>
          <a:xfrm>
            <a:off x="914400" y="3300984"/>
            <a:ext cx="0" cy="146304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8640" y="3447288"/>
            <a:ext cx="2514600" cy="475488"/>
          </a:xfrm>
          <a:prstGeom prst="roundRect">
            <a:avLst>
              <a:gd name="adj" fmla="val 50000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9808" y="344728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C81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  </a:t>
            </a:r>
            <a:pPr indent="0" marL="0">
              <a:buNone/>
            </a:pPr>
            <a:r>
              <a:rPr lang="ko-KR" alt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write</a:t>
            </a:r>
            <a:pPr indent="0" marL="0">
              <a:buNone/>
            </a:pPr>
            <a:r>
              <a:rPr lang="ko-KR" alt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답 작성</a:t>
            </a:r>
            <a:endParaRPr lang="ko-KR" sz="1200" dirty="0"/>
          </a:p>
        </p:txBody>
      </p:sp>
      <p:sp>
        <p:nvSpPr>
          <p:cNvPr id="21" name="Shape 18"/>
          <p:cNvSpPr/>
          <p:nvPr/>
        </p:nvSpPr>
        <p:spPr>
          <a:xfrm>
            <a:off x="914400" y="3922776"/>
            <a:ext cx="0" cy="146304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8640" y="4069080"/>
            <a:ext cx="2514600" cy="475488"/>
          </a:xfrm>
          <a:prstGeom prst="roundRect">
            <a:avLst>
              <a:gd name="adj" fmla="val 50000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9808" y="406908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C81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  </a:t>
            </a:r>
            <a:pPr indent="0" marL="0">
              <a:buNone/>
            </a:pPr>
            <a:r>
              <a:rPr lang="ko-KR" alt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validate</a:t>
            </a:r>
            <a:pPr indent="0" marL="0">
              <a:buNone/>
            </a:pPr>
            <a:r>
              <a:rPr lang="ko-KR" alt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검수</a:t>
            </a:r>
            <a:endParaRPr lang="ko-KR" sz="1200" dirty="0"/>
          </a:p>
        </p:txBody>
      </p:sp>
      <p:sp>
        <p:nvSpPr>
          <p:cNvPr id="24" name="Shape 21"/>
          <p:cNvSpPr/>
          <p:nvPr/>
        </p:nvSpPr>
        <p:spPr>
          <a:xfrm>
            <a:off x="3063240" y="1197864"/>
            <a:ext cx="457200" cy="27432"/>
          </a:xfrm>
          <a:prstGeom prst="line">
            <a:avLst/>
          </a:prstGeom>
          <a:noFill/>
          <a:ln w="12700">
            <a:solidFill>
              <a:srgbClr val="F3B5B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520440" y="914400"/>
            <a:ext cx="5074920" cy="621792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703320" y="1097280"/>
            <a:ext cx="457200" cy="256032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922776" y="1120140"/>
            <a:ext cx="210312" cy="2103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343400" y="96926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비동기 · 도구 고장 허용</a:t>
            </a:r>
            <a:endParaRPr lang="ko-KR" sz="1300" dirty="0"/>
          </a:p>
        </p:txBody>
      </p:sp>
      <p:sp>
        <p:nvSpPr>
          <p:cNvPr id="29" name="Text 26"/>
          <p:cNvSpPr/>
          <p:nvPr/>
        </p:nvSpPr>
        <p:spPr>
          <a:xfrm>
            <a:off x="4343400" y="12527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줄 안 세우고 동시에</a:t>
            </a:r>
            <a:endParaRPr lang="ko-KR" sz="1000" dirty="0"/>
          </a:p>
        </p:txBody>
      </p:sp>
      <p:sp>
        <p:nvSpPr>
          <p:cNvPr id="30" name="Shape 27"/>
          <p:cNvSpPr/>
          <p:nvPr/>
        </p:nvSpPr>
        <p:spPr>
          <a:xfrm>
            <a:off x="7498080" y="109728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498080" y="1097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00" b="1" dirty="0">
                <a:solidFill>
                  <a:srgbClr val="C81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1~3단계</a:t>
            </a:r>
            <a:endParaRPr lang="ko-KR" sz="900" dirty="0"/>
          </a:p>
        </p:txBody>
      </p:sp>
      <p:sp>
        <p:nvSpPr>
          <p:cNvPr id="32" name="Shape 29"/>
          <p:cNvSpPr/>
          <p:nvPr/>
        </p:nvSpPr>
        <p:spPr>
          <a:xfrm>
            <a:off x="3063240" y="2441448"/>
            <a:ext cx="457200" cy="-466344"/>
          </a:xfrm>
          <a:prstGeom prst="line">
            <a:avLst/>
          </a:prstGeom>
          <a:noFill/>
          <a:ln w="12700">
            <a:solidFill>
              <a:srgbClr val="F3B5B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520440" y="1664208"/>
            <a:ext cx="5074920" cy="621792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703320" y="1847088"/>
            <a:ext cx="457200" cy="256032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922776" y="1869948"/>
            <a:ext cx="210312" cy="2103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343400" y="17190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RAG 매뉴얼 검색</a:t>
            </a:r>
            <a:endParaRPr lang="ko-KR" sz="1300" dirty="0"/>
          </a:p>
        </p:txBody>
      </p:sp>
      <p:sp>
        <p:nvSpPr>
          <p:cNvPr id="37" name="Text 34"/>
          <p:cNvSpPr/>
          <p:nvPr/>
        </p:nvSpPr>
        <p:spPr>
          <a:xfrm>
            <a:off x="4343400" y="200253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맞는 매뉴얼 페이지 펴 주기</a:t>
            </a:r>
            <a:endParaRPr lang="ko-KR" sz="1000" dirty="0"/>
          </a:p>
        </p:txBody>
      </p:sp>
      <p:sp>
        <p:nvSpPr>
          <p:cNvPr id="38" name="Shape 35"/>
          <p:cNvSpPr/>
          <p:nvPr/>
        </p:nvSpPr>
        <p:spPr>
          <a:xfrm>
            <a:off x="7498080" y="184708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498080" y="1847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00" b="1" dirty="0">
                <a:solidFill>
                  <a:srgbClr val="C81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3단계</a:t>
            </a:r>
            <a:endParaRPr lang="ko-KR" sz="900" dirty="0"/>
          </a:p>
        </p:txBody>
      </p:sp>
      <p:sp>
        <p:nvSpPr>
          <p:cNvPr id="40" name="Shape 37"/>
          <p:cNvSpPr/>
          <p:nvPr/>
        </p:nvSpPr>
        <p:spPr>
          <a:xfrm>
            <a:off x="3063240" y="2441448"/>
            <a:ext cx="457200" cy="283464"/>
          </a:xfrm>
          <a:prstGeom prst="line">
            <a:avLst/>
          </a:prstGeom>
          <a:noFill/>
          <a:ln w="12700">
            <a:solidFill>
              <a:srgbClr val="F3B5B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520440" y="2414016"/>
            <a:ext cx="5074920" cy="621792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703320" y="2596896"/>
            <a:ext cx="457200" cy="256032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922776" y="2619756"/>
            <a:ext cx="210312" cy="2103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343400" y="2468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v2 보완</a:t>
            </a:r>
            <a:endParaRPr lang="ko-KR" sz="1300" dirty="0"/>
          </a:p>
        </p:txBody>
      </p:sp>
      <p:sp>
        <p:nvSpPr>
          <p:cNvPr id="45" name="Text 42"/>
          <p:cNvSpPr/>
          <p:nvPr/>
        </p:nvSpPr>
        <p:spPr>
          <a:xfrm>
            <a:off x="4343400" y="275234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억지로 고르지 않기</a:t>
            </a:r>
            <a:endParaRPr lang="ko-KR" sz="1000" dirty="0"/>
          </a:p>
        </p:txBody>
      </p:sp>
      <p:sp>
        <p:nvSpPr>
          <p:cNvPr id="46" name="Shape 43"/>
          <p:cNvSpPr/>
          <p:nvPr/>
        </p:nvSpPr>
        <p:spPr>
          <a:xfrm>
            <a:off x="7498080" y="2596896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498080" y="25968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00" b="1" dirty="0">
                <a:solidFill>
                  <a:srgbClr val="C81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3·6단계</a:t>
            </a:r>
            <a:endParaRPr lang="ko-KR" sz="900" dirty="0"/>
          </a:p>
        </p:txBody>
      </p:sp>
      <p:sp>
        <p:nvSpPr>
          <p:cNvPr id="48" name="Shape 45"/>
          <p:cNvSpPr/>
          <p:nvPr/>
        </p:nvSpPr>
        <p:spPr>
          <a:xfrm>
            <a:off x="3063240" y="3685032"/>
            <a:ext cx="457200" cy="-210312"/>
          </a:xfrm>
          <a:prstGeom prst="line">
            <a:avLst/>
          </a:prstGeom>
          <a:noFill/>
          <a:ln w="12700">
            <a:solidFill>
              <a:srgbClr val="F3B5BF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3520440" y="3163824"/>
            <a:ext cx="5074920" cy="621792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3703320" y="3346704"/>
            <a:ext cx="457200" cy="256032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3922776" y="3369564"/>
            <a:ext cx="210312" cy="2103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343400" y="32186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캐스케이드</a:t>
            </a:r>
            <a:endParaRPr lang="ko-KR" sz="1300" dirty="0"/>
          </a:p>
        </p:txBody>
      </p:sp>
      <p:sp>
        <p:nvSpPr>
          <p:cNvPr id="53" name="Text 50"/>
          <p:cNvSpPr/>
          <p:nvPr/>
        </p:nvSpPr>
        <p:spPr>
          <a:xfrm>
            <a:off x="4343400" y="35021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신입 먼저, 막히면 선배</a:t>
            </a:r>
            <a:endParaRPr lang="ko-KR" sz="1000" dirty="0"/>
          </a:p>
        </p:txBody>
      </p:sp>
      <p:sp>
        <p:nvSpPr>
          <p:cNvPr id="54" name="Shape 51"/>
          <p:cNvSpPr/>
          <p:nvPr/>
        </p:nvSpPr>
        <p:spPr>
          <a:xfrm>
            <a:off x="7498080" y="3346704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498080" y="33467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00" b="1" dirty="0">
                <a:solidFill>
                  <a:srgbClr val="C81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5단계</a:t>
            </a:r>
            <a:endParaRPr lang="ko-KR" sz="900" dirty="0"/>
          </a:p>
        </p:txBody>
      </p:sp>
      <p:sp>
        <p:nvSpPr>
          <p:cNvPr id="56" name="Shape 53"/>
          <p:cNvSpPr/>
          <p:nvPr/>
        </p:nvSpPr>
        <p:spPr>
          <a:xfrm>
            <a:off x="3063240" y="4306824"/>
            <a:ext cx="457200" cy="-82296"/>
          </a:xfrm>
          <a:prstGeom prst="line">
            <a:avLst/>
          </a:prstGeom>
          <a:noFill/>
          <a:ln w="12700">
            <a:solidFill>
              <a:srgbClr val="F3B5BF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520440" y="3913632"/>
            <a:ext cx="5074920" cy="621792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3703320" y="4096512"/>
            <a:ext cx="457200" cy="256032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3922776" y="4119372"/>
            <a:ext cx="210312" cy="2103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4343400" y="396849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Judge 검수</a:t>
            </a:r>
            <a:endParaRPr lang="ko-KR" sz="1300" dirty="0"/>
          </a:p>
        </p:txBody>
      </p:sp>
      <p:sp>
        <p:nvSpPr>
          <p:cNvPr id="61" name="Text 58"/>
          <p:cNvSpPr/>
          <p:nvPr/>
        </p:nvSpPr>
        <p:spPr>
          <a:xfrm>
            <a:off x="4343400" y="42519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답을 다시 보는 AI 채점관</a:t>
            </a:r>
            <a:endParaRPr lang="ko-KR" sz="1000" dirty="0"/>
          </a:p>
        </p:txBody>
      </p:sp>
      <p:sp>
        <p:nvSpPr>
          <p:cNvPr id="62" name="Shape 59"/>
          <p:cNvSpPr/>
          <p:nvPr/>
        </p:nvSpPr>
        <p:spPr>
          <a:xfrm>
            <a:off x="7498080" y="4096512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7498080" y="4096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00" b="1" dirty="0">
                <a:solidFill>
                  <a:srgbClr val="C81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6단계</a:t>
            </a:r>
            <a:endParaRPr lang="ko-KR" sz="900" dirty="0"/>
          </a:p>
        </p:txBody>
      </p:sp>
      <p:sp>
        <p:nvSpPr>
          <p:cNvPr id="64" name="Text 61"/>
          <p:cNvSpPr/>
          <p:nvPr/>
        </p:nvSpPr>
        <p:spPr>
          <a:xfrm>
            <a:off x="3520440" y="457200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원본은 그대로, 스위치로 켜고 끄기</a:t>
            </a:r>
            <a:endParaRPr lang="ko-KR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46304" cy="146304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어떻게 증명했나요</a:t>
            </a:r>
            <a:endParaRPr lang="ko-KR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8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SKALA 4기 · 광주 2반 · G062 장병헌</a:t>
            </a:r>
            <a:endParaRPr lang="ko-KR" sz="800" dirty="0"/>
          </a:p>
        </p:txBody>
      </p:sp>
      <p:sp>
        <p:nvSpPr>
          <p:cNvPr id="5" name="Text 3"/>
          <p:cNvSpPr/>
          <p:nvPr/>
        </p:nvSpPr>
        <p:spPr>
          <a:xfrm>
            <a:off x="813816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8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ko-KR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1005840"/>
            <a:ext cx="1783080" cy="1737360"/>
          </a:xfrm>
          <a:prstGeom prst="roundRect">
            <a:avLst>
              <a:gd name="adj" fmla="val 11579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14300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5400" b="1" dirty="0">
                <a:solidFill>
                  <a:srgbClr val="C81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endParaRPr lang="ko-KR" sz="5400" dirty="0"/>
          </a:p>
        </p:txBody>
      </p:sp>
      <p:sp>
        <p:nvSpPr>
          <p:cNvPr id="9" name="Text 6"/>
          <p:cNvSpPr/>
          <p:nvPr/>
        </p:nvSpPr>
        <p:spPr>
          <a:xfrm>
            <a:off x="548640" y="21488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가지 버전</a:t>
            </a:r>
            <a:endParaRPr lang="ko-KR" sz="1300" dirty="0"/>
          </a:p>
        </p:txBody>
      </p:sp>
      <p:sp>
        <p:nvSpPr>
          <p:cNvPr id="10" name="Text 7"/>
          <p:cNvSpPr/>
          <p:nvPr/>
        </p:nvSpPr>
        <p:spPr>
          <a:xfrm>
            <a:off x="2331720" y="1600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</a:t>
            </a:r>
            <a:endParaRPr lang="ko-KR" sz="2200" dirty="0"/>
          </a:p>
        </p:txBody>
      </p:sp>
      <p:sp>
        <p:nvSpPr>
          <p:cNvPr id="11" name="Shape 8"/>
          <p:cNvSpPr/>
          <p:nvPr/>
        </p:nvSpPr>
        <p:spPr>
          <a:xfrm>
            <a:off x="2606040" y="1005840"/>
            <a:ext cx="1783080" cy="1737360"/>
          </a:xfrm>
          <a:prstGeom prst="roundRect">
            <a:avLst>
              <a:gd name="adj" fmla="val 11579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606040" y="114300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5400" b="1" dirty="0">
                <a:solidFill>
                  <a:srgbClr val="C81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36</a:t>
            </a:r>
            <a:endParaRPr lang="ko-KR" sz="5400" dirty="0"/>
          </a:p>
        </p:txBody>
      </p:sp>
      <p:sp>
        <p:nvSpPr>
          <p:cNvPr id="13" name="Text 10"/>
          <p:cNvSpPr/>
          <p:nvPr/>
        </p:nvSpPr>
        <p:spPr>
          <a:xfrm>
            <a:off x="2606040" y="21488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 본 문제</a:t>
            </a:r>
            <a:endParaRPr lang="ko-KR" sz="1300" dirty="0"/>
          </a:p>
        </p:txBody>
      </p:sp>
      <p:sp>
        <p:nvSpPr>
          <p:cNvPr id="14" name="Text 11"/>
          <p:cNvSpPr/>
          <p:nvPr/>
        </p:nvSpPr>
        <p:spPr>
          <a:xfrm>
            <a:off x="4389120" y="1600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</a:t>
            </a:r>
            <a:endParaRPr lang="ko-KR" sz="2200" dirty="0"/>
          </a:p>
        </p:txBody>
      </p:sp>
      <p:sp>
        <p:nvSpPr>
          <p:cNvPr id="15" name="Shape 12"/>
          <p:cNvSpPr/>
          <p:nvPr/>
        </p:nvSpPr>
        <p:spPr>
          <a:xfrm>
            <a:off x="4663440" y="1005840"/>
            <a:ext cx="1783080" cy="1737360"/>
          </a:xfrm>
          <a:prstGeom prst="roundRect">
            <a:avLst>
              <a:gd name="adj" fmla="val 11579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63440" y="114300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5400" b="1" dirty="0">
                <a:solidFill>
                  <a:srgbClr val="C81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ko-KR" sz="5400" dirty="0"/>
          </a:p>
        </p:txBody>
      </p:sp>
      <p:sp>
        <p:nvSpPr>
          <p:cNvPr id="17" name="Text 14"/>
          <p:cNvSpPr/>
          <p:nvPr/>
        </p:nvSpPr>
        <p:spPr>
          <a:xfrm>
            <a:off x="4663440" y="21488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번씩 반복</a:t>
            </a:r>
            <a:endParaRPr lang="ko-KR" sz="1300" dirty="0"/>
          </a:p>
        </p:txBody>
      </p:sp>
      <p:sp>
        <p:nvSpPr>
          <p:cNvPr id="18" name="Text 15"/>
          <p:cNvSpPr/>
          <p:nvPr/>
        </p:nvSpPr>
        <p:spPr>
          <a:xfrm>
            <a:off x="548640" y="281635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holdout: 개발 중 한 번도 안 본 시험 문제</a:t>
            </a:r>
            <a:endParaRPr lang="ko-KR" sz="1000" dirty="0"/>
          </a:p>
        </p:txBody>
      </p:sp>
      <p:sp>
        <p:nvSpPr>
          <p:cNvPr id="19" name="Shape 16"/>
          <p:cNvSpPr/>
          <p:nvPr/>
        </p:nvSpPr>
        <p:spPr>
          <a:xfrm>
            <a:off x="548640" y="3246120"/>
            <a:ext cx="2788920" cy="566928"/>
          </a:xfrm>
          <a:prstGeom prst="roundRect">
            <a:avLst>
              <a:gd name="adj" fmla="val 3225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85800" y="3364992"/>
            <a:ext cx="329184" cy="329184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5800" y="3364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⇄</a:t>
            </a:r>
            <a:endParaRPr lang="ko-KR" sz="1200" dirty="0"/>
          </a:p>
        </p:txBody>
      </p:sp>
      <p:sp>
        <p:nvSpPr>
          <p:cNvPr id="22" name="Text 19"/>
          <p:cNvSpPr/>
          <p:nvPr/>
        </p:nvSpPr>
        <p:spPr>
          <a:xfrm>
            <a:off x="1115568" y="324612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문제끼리 짝지어 비교</a:t>
            </a:r>
            <a:endParaRPr lang="ko-KR" sz="1150" dirty="0"/>
          </a:p>
        </p:txBody>
      </p:sp>
      <p:sp>
        <p:nvSpPr>
          <p:cNvPr id="23" name="Shape 20"/>
          <p:cNvSpPr/>
          <p:nvPr/>
        </p:nvSpPr>
        <p:spPr>
          <a:xfrm>
            <a:off x="3520440" y="3246120"/>
            <a:ext cx="2788920" cy="566928"/>
          </a:xfrm>
          <a:prstGeom prst="roundRect">
            <a:avLst>
              <a:gd name="adj" fmla="val 3225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657600" y="3364992"/>
            <a:ext cx="329184" cy="329184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57600" y="3364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▤</a:t>
            </a:r>
            <a:endParaRPr lang="ko-KR" sz="1200" dirty="0"/>
          </a:p>
        </p:txBody>
      </p:sp>
      <p:sp>
        <p:nvSpPr>
          <p:cNvPr id="26" name="Text 23"/>
          <p:cNvSpPr/>
          <p:nvPr/>
        </p:nvSpPr>
        <p:spPr>
          <a:xfrm>
            <a:off x="4087368" y="324612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숫자는 결과 파일에서 자동</a:t>
            </a:r>
            <a:endParaRPr lang="ko-KR" sz="1150" dirty="0"/>
          </a:p>
        </p:txBody>
      </p:sp>
      <p:sp>
        <p:nvSpPr>
          <p:cNvPr id="27" name="Shape 24"/>
          <p:cNvSpPr/>
          <p:nvPr/>
        </p:nvSpPr>
        <p:spPr>
          <a:xfrm rot="-60000">
            <a:off x="685800" y="4041648"/>
            <a:ext cx="3931920" cy="640080"/>
          </a:xfrm>
          <a:prstGeom prst="rect">
            <a:avLst/>
          </a:prstGeom>
          <a:solidFill>
            <a:srgbClr val="FFF1D6"/>
          </a:solidFill>
          <a:ln w="6350">
            <a:solidFill>
              <a:srgbClr val="E8D3A8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 rot="-60000">
            <a:off x="822960" y="4114800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ko-KR" alt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Ablation = 스위치 하나씩 켜고 끄기</a:t>
            </a:r>
            <a:endParaRPr lang="ko-KR" sz="1400" dirty="0"/>
          </a:p>
          <a:p>
            <a:pPr indent="0" marL="0">
              <a:spcAft>
                <a:spcPts val="200"/>
              </a:spcAft>
              <a:buNone/>
            </a:pPr>
            <a:r>
              <a:rPr lang="ko-KR" alt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무엇이 효과였는지 가려내는 방법</a:t>
            </a:r>
            <a:endParaRPr lang="ko-KR" sz="1400" dirty="0"/>
          </a:p>
        </p:txBody>
      </p:sp>
      <p:pic>
        <p:nvPicPr>
          <p:cNvPr id="29" name="Image 0" descr="/Users/jangbyeongheon/projects/incident-agent-ablation/docs/figures/gpt_infographi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29400" y="868680"/>
            <a:ext cx="214884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46304" cy="146304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무엇이 진짜 효과였나</a:t>
            </a:r>
            <a:endParaRPr lang="ko-KR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8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SKALA 4기 · 광주 2반 · G062 장병헌</a:t>
            </a:r>
            <a:endParaRPr lang="ko-KR" sz="800" dirty="0"/>
          </a:p>
        </p:txBody>
      </p:sp>
      <p:sp>
        <p:nvSpPr>
          <p:cNvPr id="5" name="Text 3"/>
          <p:cNvSpPr/>
          <p:nvPr/>
        </p:nvSpPr>
        <p:spPr>
          <a:xfrm>
            <a:off x="813816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8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ko-KR" sz="800" dirty="0"/>
          </a:p>
        </p:txBody>
      </p:sp>
      <p:sp>
        <p:nvSpPr>
          <p:cNvPr id="7" name="Shape 4"/>
          <p:cNvSpPr/>
          <p:nvPr/>
        </p:nvSpPr>
        <p:spPr>
          <a:xfrm>
            <a:off x="411480" y="868680"/>
            <a:ext cx="617220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Users/jangbyeongheon/projects/incident-agent-ablation/docs/figures/fig6_contri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941832"/>
            <a:ext cx="5989320" cy="287121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 rot="-120000">
            <a:off x="6812280" y="868680"/>
            <a:ext cx="1920240" cy="868680"/>
          </a:xfrm>
          <a:prstGeom prst="rect">
            <a:avLst/>
          </a:prstGeom>
          <a:solidFill>
            <a:srgbClr val="FFF1D6"/>
          </a:solidFill>
          <a:ln w="6350">
            <a:solidFill>
              <a:srgbClr val="E8D3A8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 rot="-120000">
            <a:off x="6949440" y="941832"/>
            <a:ext cx="16459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ko-KR" alt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RAG: -46%p</a:t>
            </a:r>
            <a:endParaRPr lang="ko-KR" sz="1400" dirty="0"/>
          </a:p>
          <a:p>
            <a:pPr indent="0" marL="0">
              <a:spcAft>
                <a:spcPts val="200"/>
              </a:spcAft>
              <a:buNone/>
            </a:pPr>
            <a:r>
              <a:rPr lang="ko-KR" alt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맞는 매뉴얼 누락</a:t>
            </a:r>
            <a:endParaRPr lang="ko-KR" sz="1400" dirty="0"/>
          </a:p>
          <a:p>
            <a:pPr indent="0" marL="0">
              <a:spcAft>
                <a:spcPts val="200"/>
              </a:spcAft>
              <a:buNone/>
            </a:pPr>
            <a:r>
              <a:rPr lang="ko-KR" alt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효과 확인 ✓</a:t>
            </a:r>
            <a:endParaRPr lang="ko-KR" sz="1400" dirty="0"/>
          </a:p>
        </p:txBody>
      </p:sp>
      <p:sp>
        <p:nvSpPr>
          <p:cNvPr id="11" name="Shape 7"/>
          <p:cNvSpPr/>
          <p:nvPr/>
        </p:nvSpPr>
        <p:spPr>
          <a:xfrm rot="90000">
            <a:off x="6812280" y="1874520"/>
            <a:ext cx="1920240" cy="868680"/>
          </a:xfrm>
          <a:prstGeom prst="rect">
            <a:avLst/>
          </a:prstGeom>
          <a:solidFill>
            <a:srgbClr val="FFF1D6"/>
          </a:solidFill>
          <a:ln w="6350">
            <a:solidFill>
              <a:srgbClr val="E8D3A8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 rot="90000">
            <a:off x="6949440" y="1947672"/>
            <a:ext cx="16459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ko-KR" alt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v2 보완: -24%p</a:t>
            </a:r>
            <a:endParaRPr lang="ko-KR" sz="1400" dirty="0"/>
          </a:p>
          <a:p>
            <a:pPr indent="0" marL="0">
              <a:spcAft>
                <a:spcPts val="200"/>
              </a:spcAft>
              <a:buNone/>
            </a:pPr>
            <a:r>
              <a:rPr lang="ko-KR" alt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엉뚱한 매뉴얼 혼입</a:t>
            </a:r>
            <a:endParaRPr lang="ko-KR" sz="1400" dirty="0"/>
          </a:p>
          <a:p>
            <a:pPr indent="0" marL="0">
              <a:spcAft>
                <a:spcPts val="200"/>
              </a:spcAft>
              <a:buNone/>
            </a:pPr>
            <a:r>
              <a:rPr lang="ko-KR" alt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효과 확인 ✓</a:t>
            </a:r>
            <a:endParaRPr lang="ko-KR" sz="1400" dirty="0"/>
          </a:p>
        </p:txBody>
      </p:sp>
      <p:sp>
        <p:nvSpPr>
          <p:cNvPr id="13" name="Shape 9"/>
          <p:cNvSpPr/>
          <p:nvPr/>
        </p:nvSpPr>
        <p:spPr>
          <a:xfrm rot="-90000">
            <a:off x="6812280" y="2880360"/>
            <a:ext cx="1920240" cy="868680"/>
          </a:xfrm>
          <a:prstGeom prst="rect">
            <a:avLst/>
          </a:prstGeom>
          <a:solidFill>
            <a:srgbClr val="FDECEE"/>
          </a:solidFill>
          <a:ln w="6350">
            <a:solidFill>
              <a:srgbClr val="E8D3A8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 rot="-90000">
            <a:off x="6949440" y="2953512"/>
            <a:ext cx="16459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ko-KR" alt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Judge 단독</a:t>
            </a:r>
            <a:endParaRPr lang="ko-KR" sz="1400" dirty="0"/>
          </a:p>
          <a:p>
            <a:pPr indent="0" marL="0">
              <a:spcAft>
                <a:spcPts val="200"/>
              </a:spcAft>
              <a:buNone/>
            </a:pPr>
            <a:r>
              <a:rPr lang="ko-KR" alt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효과 확인 안 됨</a:t>
            </a:r>
            <a:endParaRPr lang="ko-KR" sz="1400" dirty="0"/>
          </a:p>
          <a:p>
            <a:pPr indent="0" marL="0">
              <a:spcAft>
                <a:spcPts val="200"/>
              </a:spcAft>
              <a:buNone/>
            </a:pPr>
            <a:r>
              <a:rPr lang="ko-KR" alt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지연만 +2.7초</a:t>
            </a:r>
            <a:endParaRPr lang="ko-KR" sz="1400" dirty="0"/>
          </a:p>
        </p:txBody>
      </p:sp>
      <p:sp>
        <p:nvSpPr>
          <p:cNvPr id="15" name="Shape 11"/>
          <p:cNvSpPr/>
          <p:nvPr/>
        </p:nvSpPr>
        <p:spPr>
          <a:xfrm>
            <a:off x="411480" y="4096512"/>
            <a:ext cx="8321040" cy="54864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94360" y="409651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검수를 넣는다고 좋아지진 않았다: 측정이 먼저</a:t>
            </a:r>
            <a:endParaRPr lang="ko-KR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46304" cy="146304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운영에서는요</a:t>
            </a:r>
            <a:endParaRPr lang="ko-KR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8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SKALA 4기 · 광주 2반 · G062 장병헌</a:t>
            </a:r>
            <a:endParaRPr lang="ko-KR" sz="800" dirty="0"/>
          </a:p>
        </p:txBody>
      </p:sp>
      <p:sp>
        <p:nvSpPr>
          <p:cNvPr id="5" name="Text 3"/>
          <p:cNvSpPr/>
          <p:nvPr/>
        </p:nvSpPr>
        <p:spPr>
          <a:xfrm>
            <a:off x="813816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8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ko-KR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960120"/>
            <a:ext cx="2560320" cy="2057400"/>
          </a:xfrm>
          <a:prstGeom prst="roundRect">
            <a:avLst>
              <a:gd name="adj" fmla="val 9778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1155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장애 1건 비용</a:t>
            </a:r>
            <a:endParaRPr lang="ko-KR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14630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4600" b="1" dirty="0">
                <a:solidFill>
                  <a:srgbClr val="C81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-84%</a:t>
            </a:r>
            <a:endParaRPr lang="ko-KR" sz="4600" dirty="0"/>
          </a:p>
        </p:txBody>
      </p:sp>
      <p:sp>
        <p:nvSpPr>
          <p:cNvPr id="10" name="Text 7"/>
          <p:cNvSpPr/>
          <p:nvPr/>
        </p:nvSpPr>
        <p:spPr>
          <a:xfrm>
            <a:off x="777240" y="2514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$0.00343 → $0.00057</a:t>
            </a:r>
            <a:endParaRPr lang="ko-KR" sz="1150" dirty="0"/>
          </a:p>
        </p:txBody>
      </p:sp>
      <p:sp>
        <p:nvSpPr>
          <p:cNvPr id="11" name="Shape 8"/>
          <p:cNvSpPr/>
          <p:nvPr/>
        </p:nvSpPr>
        <p:spPr>
          <a:xfrm>
            <a:off x="3273552" y="960120"/>
            <a:ext cx="2560320" cy="2057400"/>
          </a:xfrm>
          <a:prstGeom prst="roundRect">
            <a:avLst>
              <a:gd name="adj" fmla="val 9778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02152" y="11155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동시 질문 10개</a:t>
            </a:r>
            <a:endParaRPr lang="ko-KR" sz="1200" dirty="0"/>
          </a:p>
        </p:txBody>
      </p:sp>
      <p:sp>
        <p:nvSpPr>
          <p:cNvPr id="13" name="Text 10"/>
          <p:cNvSpPr/>
          <p:nvPr/>
        </p:nvSpPr>
        <p:spPr>
          <a:xfrm>
            <a:off x="3502152" y="14630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4600" b="1" dirty="0">
                <a:solidFill>
                  <a:srgbClr val="C81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9.2초</a:t>
            </a:r>
            <a:endParaRPr lang="ko-KR" sz="4600" dirty="0"/>
          </a:p>
        </p:txBody>
      </p:sp>
      <p:sp>
        <p:nvSpPr>
          <p:cNvPr id="14" name="Text 11"/>
          <p:cNvSpPr/>
          <p:nvPr/>
        </p:nvSpPr>
        <p:spPr>
          <a:xfrm>
            <a:off x="3502152" y="2514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62.8초에서</a:t>
            </a:r>
            <a:endParaRPr lang="ko-KR" sz="1150" dirty="0"/>
          </a:p>
        </p:txBody>
      </p:sp>
      <p:sp>
        <p:nvSpPr>
          <p:cNvPr id="15" name="Shape 12"/>
          <p:cNvSpPr/>
          <p:nvPr/>
        </p:nvSpPr>
        <p:spPr>
          <a:xfrm>
            <a:off x="5998464" y="960120"/>
            <a:ext cx="2560320" cy="2057400"/>
          </a:xfrm>
          <a:prstGeom prst="roundRect">
            <a:avLst>
              <a:gd name="adj" fmla="val 9778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27064" y="11155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고장 나도 완주</a:t>
            </a:r>
            <a:endParaRPr lang="ko-KR" sz="1200" dirty="0"/>
          </a:p>
        </p:txBody>
      </p:sp>
      <p:sp>
        <p:nvSpPr>
          <p:cNvPr id="17" name="Text 14"/>
          <p:cNvSpPr/>
          <p:nvPr/>
        </p:nvSpPr>
        <p:spPr>
          <a:xfrm>
            <a:off x="6227064" y="14630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4600" b="1" dirty="0">
                <a:solidFill>
                  <a:srgbClr val="C81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18/18</a:t>
            </a:r>
            <a:endParaRPr lang="ko-KR" sz="4600" dirty="0"/>
          </a:p>
        </p:txBody>
      </p:sp>
      <p:sp>
        <p:nvSpPr>
          <p:cNvPr id="18" name="Text 15"/>
          <p:cNvSpPr/>
          <p:nvPr/>
        </p:nvSpPr>
        <p:spPr>
          <a:xfrm>
            <a:off x="6227064" y="2514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0/19에서</a:t>
            </a:r>
            <a:endParaRPr lang="ko-KR" sz="1150" dirty="0"/>
          </a:p>
        </p:txBody>
      </p:sp>
      <p:sp>
        <p:nvSpPr>
          <p:cNvPr id="19" name="Shape 16"/>
          <p:cNvSpPr/>
          <p:nvPr/>
        </p:nvSpPr>
        <p:spPr>
          <a:xfrm>
            <a:off x="548640" y="3246120"/>
            <a:ext cx="8001000" cy="566928"/>
          </a:xfrm>
          <a:prstGeom prst="roundRect">
            <a:avLst>
              <a:gd name="adj" fmla="val 48387"/>
            </a:avLst>
          </a:prstGeom>
          <a:solidFill>
            <a:srgbClr val="FFFFFF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85800" y="3355848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5800" y="33558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5회 반복 확인</a:t>
            </a:r>
            <a:endParaRPr lang="ko-KR" sz="1050" dirty="0"/>
          </a:p>
        </p:txBody>
      </p:sp>
      <p:sp>
        <p:nvSpPr>
          <p:cNvPr id="22" name="Text 19"/>
          <p:cNvSpPr/>
          <p:nvPr/>
        </p:nvSpPr>
        <p:spPr>
          <a:xfrm>
            <a:off x="2240280" y="3246120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속도 배수 </a:t>
            </a:r>
            <a:pPr indent="0" marL="0">
              <a:buNone/>
            </a:pPr>
            <a:r>
              <a:rPr lang="ko-KR" alt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6.5~9.4배</a:t>
            </a:r>
            <a:pPr indent="0" marL="0">
              <a:buNone/>
            </a:pPr>
            <a:r>
              <a:rPr lang="ko-KR" alt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·   고장 위치 5가지 </a:t>
            </a:r>
            <a:pPr indent="0" marL="0">
              <a:buNone/>
            </a:pPr>
            <a:r>
              <a:rPr lang="ko-KR" alt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0/71 → 71/71</a:t>
            </a:r>
            <a:endParaRPr lang="ko-KR" sz="1300" dirty="0"/>
          </a:p>
        </p:txBody>
      </p:sp>
      <p:sp>
        <p:nvSpPr>
          <p:cNvPr id="23" name="Shape 20"/>
          <p:cNvSpPr/>
          <p:nvPr/>
        </p:nvSpPr>
        <p:spPr>
          <a:xfrm rot="-60000">
            <a:off x="685800" y="4041648"/>
            <a:ext cx="3566160" cy="603504"/>
          </a:xfrm>
          <a:prstGeom prst="rect">
            <a:avLst/>
          </a:prstGeom>
          <a:solidFill>
            <a:srgbClr val="FDECEE"/>
          </a:solidFill>
          <a:ln w="6350">
            <a:solidFill>
              <a:srgbClr val="E8D3A8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 rot="-60000">
            <a:off x="822960" y="4114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ko-KR" alt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대신 질의당 +2.5초</a:t>
            </a:r>
            <a:endParaRPr lang="ko-KR" sz="1400" dirty="0"/>
          </a:p>
          <a:p>
            <a:pPr indent="0" marL="0">
              <a:spcAft>
                <a:spcPts val="200"/>
              </a:spcAft>
              <a:buNone/>
            </a:pPr>
            <a:r>
              <a:rPr lang="ko-KR" alt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부하 재측정</a:t>
            </a:r>
            <a:endParaRPr lang="ko-KR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46304" cy="146304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질문, 다른 답</a:t>
            </a:r>
            <a:endParaRPr lang="ko-KR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8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SKALA 4기 · 광주 2반 · G062 장병헌</a:t>
            </a:r>
            <a:endParaRPr lang="ko-KR" sz="800" dirty="0"/>
          </a:p>
        </p:txBody>
      </p:sp>
      <p:sp>
        <p:nvSpPr>
          <p:cNvPr id="5" name="Text 3"/>
          <p:cNvSpPr/>
          <p:nvPr/>
        </p:nvSpPr>
        <p:spPr>
          <a:xfrm>
            <a:off x="813816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8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endParaRPr lang="ko-KR" sz="800" dirty="0"/>
          </a:p>
        </p:txBody>
      </p:sp>
      <p:sp>
        <p:nvSpPr>
          <p:cNvPr id="7" name="Text 4"/>
          <p:cNvSpPr/>
          <p:nvPr/>
        </p:nvSpPr>
        <p:spPr>
          <a:xfrm>
            <a:off x="804672" y="731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실행 기록</a:t>
            </a:r>
            <a:endParaRPr lang="ko-KR" sz="1000" dirty="0"/>
          </a:p>
        </p:txBody>
      </p:sp>
      <p:sp>
        <p:nvSpPr>
          <p:cNvPr id="8" name="Shape 5"/>
          <p:cNvSpPr/>
          <p:nvPr/>
        </p:nvSpPr>
        <p:spPr>
          <a:xfrm rot="-120000">
            <a:off x="548640" y="1371600"/>
            <a:ext cx="2514600" cy="868680"/>
          </a:xfrm>
          <a:prstGeom prst="rect">
            <a:avLst/>
          </a:prstGeom>
          <a:solidFill>
            <a:srgbClr val="FFF1D6"/>
          </a:solidFill>
          <a:ln w="6350">
            <a:solidFill>
              <a:srgbClr val="E8D3A8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 rot="-120000">
            <a:off x="685800" y="1444752"/>
            <a:ext cx="22402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ko-KR" alt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약 6분의 1</a:t>
            </a:r>
            <a:endParaRPr lang="ko-KR" sz="1400" dirty="0"/>
          </a:p>
          <a:p>
            <a:pPr indent="0" marL="0">
              <a:spcAft>
                <a:spcPts val="200"/>
              </a:spcAft>
              <a:buNone/>
            </a:pPr>
            <a:r>
              <a:rPr lang="ko-KR" alt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장애 1건 -84%</a:t>
            </a:r>
            <a:endParaRPr lang="ko-KR" sz="1400" dirty="0"/>
          </a:p>
        </p:txBody>
      </p:sp>
      <p:sp>
        <p:nvSpPr>
          <p:cNvPr id="10" name="Shape 7"/>
          <p:cNvSpPr/>
          <p:nvPr/>
        </p:nvSpPr>
        <p:spPr>
          <a:xfrm rot="90000">
            <a:off x="548640" y="2560320"/>
            <a:ext cx="2514600" cy="868680"/>
          </a:xfrm>
          <a:prstGeom prst="rect">
            <a:avLst/>
          </a:prstGeom>
          <a:solidFill>
            <a:srgbClr val="FDECEE"/>
          </a:solidFill>
          <a:ln w="6350">
            <a:solidFill>
              <a:srgbClr val="E8D3A8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 rot="90000">
            <a:off x="685800" y="2633472"/>
            <a:ext cx="22402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ko-KR" alt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혼입은 남았어요</a:t>
            </a:r>
            <a:endParaRPr lang="ko-KR" sz="1400" dirty="0"/>
          </a:p>
          <a:p>
            <a:pPr indent="0" marL="0">
              <a:spcAft>
                <a:spcPts val="200"/>
              </a:spcAft>
              <a:buNone/>
            </a:pPr>
            <a:r>
              <a:rPr lang="ko-KR" alt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디스크 부족 매뉴얼이 섞임</a:t>
            </a:r>
            <a:endParaRPr lang="ko-KR" sz="1400" dirty="0"/>
          </a:p>
        </p:txBody>
      </p:sp>
      <p:sp>
        <p:nvSpPr>
          <p:cNvPr id="12" name="Shape 9"/>
          <p:cNvSpPr/>
          <p:nvPr/>
        </p:nvSpPr>
        <p:spPr>
          <a:xfrm>
            <a:off x="3429000" y="868680"/>
            <a:ext cx="5349240" cy="38862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3" name="Image 0" descr="/Users/jangbyeongheon/projects/incident-agent-ablation/docs/figures/fig10_dem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502152" y="914400"/>
            <a:ext cx="5202936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146304" cy="146304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274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한계와 배운 점</a:t>
            </a:r>
            <a:endParaRPr lang="ko-KR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8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SKALA 4기 · 광주 2반 · G062 장병헌</a:t>
            </a:r>
            <a:endParaRPr lang="ko-KR" sz="800" dirty="0"/>
          </a:p>
        </p:txBody>
      </p:sp>
      <p:sp>
        <p:nvSpPr>
          <p:cNvPr id="5" name="Text 3"/>
          <p:cNvSpPr/>
          <p:nvPr/>
        </p:nvSpPr>
        <p:spPr>
          <a:xfrm>
            <a:off x="813816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8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ko-KR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914400"/>
            <a:ext cx="2560320" cy="1463040"/>
          </a:xfrm>
          <a:prstGeom prst="roundRect">
            <a:avLst>
              <a:gd name="adj" fmla="val 13750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02412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3600" b="1" dirty="0">
                <a:solidFill>
                  <a:srgbClr val="F26B2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33%</a:t>
            </a:r>
            <a:endParaRPr lang="ko-KR" sz="3600" dirty="0"/>
          </a:p>
        </p:txBody>
      </p:sp>
      <p:sp>
        <p:nvSpPr>
          <p:cNvPr id="9" name="Text 6"/>
          <p:cNvSpPr/>
          <p:nvPr/>
        </p:nvSpPr>
        <p:spPr>
          <a:xfrm>
            <a:off x="777240" y="17373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 말로 묻는 질문</a:t>
            </a:r>
            <a:endParaRPr lang="ko-KR" sz="1150" dirty="0"/>
          </a:p>
          <a:p>
            <a:pPr indent="0" marL="0">
              <a:buNone/>
            </a:pPr>
            <a:r>
              <a:rPr lang="ko-KR" altLang="en-US" sz="11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Recall@1</a:t>
            </a:r>
            <a:endParaRPr lang="ko-KR" sz="1150" dirty="0"/>
          </a:p>
        </p:txBody>
      </p:sp>
      <p:sp>
        <p:nvSpPr>
          <p:cNvPr id="10" name="Shape 7"/>
          <p:cNvSpPr/>
          <p:nvPr/>
        </p:nvSpPr>
        <p:spPr>
          <a:xfrm>
            <a:off x="3273552" y="914400"/>
            <a:ext cx="2560320" cy="1463040"/>
          </a:xfrm>
          <a:prstGeom prst="roundRect">
            <a:avLst>
              <a:gd name="adj" fmla="val 13750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02152" y="102412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3600" b="1" dirty="0">
                <a:solidFill>
                  <a:srgbClr val="F26B2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35%</a:t>
            </a:r>
            <a:endParaRPr lang="ko-KR" sz="3600" dirty="0"/>
          </a:p>
        </p:txBody>
      </p:sp>
      <p:sp>
        <p:nvSpPr>
          <p:cNvPr id="12" name="Text 9"/>
          <p:cNvSpPr/>
          <p:nvPr/>
        </p:nvSpPr>
        <p:spPr>
          <a:xfrm>
            <a:off x="3502152" y="17373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엉뚱한 매뉴얼 혼입</a:t>
            </a:r>
            <a:endParaRPr lang="ko-KR" sz="1150" dirty="0"/>
          </a:p>
          <a:p>
            <a:pPr indent="0" marL="0">
              <a:buNone/>
            </a:pPr>
            <a:r>
              <a:rPr lang="ko-KR" altLang="en-US" sz="11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아직 남음</a:t>
            </a:r>
            <a:endParaRPr lang="ko-KR" sz="1150" dirty="0"/>
          </a:p>
        </p:txBody>
      </p:sp>
      <p:sp>
        <p:nvSpPr>
          <p:cNvPr id="13" name="Shape 10"/>
          <p:cNvSpPr/>
          <p:nvPr/>
        </p:nvSpPr>
        <p:spPr>
          <a:xfrm>
            <a:off x="5998464" y="914400"/>
            <a:ext cx="2560320" cy="1463040"/>
          </a:xfrm>
          <a:prstGeom prst="roundRect">
            <a:avLst>
              <a:gd name="adj" fmla="val 13750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27064" y="102412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3600" b="1" dirty="0">
                <a:solidFill>
                  <a:srgbClr val="F26B2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합성</a:t>
            </a:r>
            <a:endParaRPr lang="ko-KR" sz="3600" dirty="0"/>
          </a:p>
        </p:txBody>
      </p:sp>
      <p:sp>
        <p:nvSpPr>
          <p:cNvPr id="15" name="Text 12"/>
          <p:cNvSpPr/>
          <p:nvPr/>
        </p:nvSpPr>
        <p:spPr>
          <a:xfrm>
            <a:off x="6227064" y="17373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평가셋</a:t>
            </a:r>
            <a:endParaRPr lang="ko-KR" sz="1150" dirty="0"/>
          </a:p>
          <a:p>
            <a:pPr indent="0" marL="0">
              <a:buNone/>
            </a:pPr>
            <a:r>
              <a:rPr lang="ko-KR" altLang="en-US" sz="11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 채점 없음</a:t>
            </a:r>
            <a:endParaRPr lang="ko-KR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2651760"/>
            <a:ext cx="5120640" cy="86868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rot="10800000">
            <a:off x="868680" y="3502152"/>
            <a:ext cx="228600" cy="182880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50392" y="3465576"/>
            <a:ext cx="265176" cy="73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2724912"/>
            <a:ext cx="46634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ko-KR" alt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배운 점</a:t>
            </a:r>
            <a:endParaRPr lang="ko-KR" sz="1000" dirty="0"/>
          </a:p>
          <a:p>
            <a:pPr indent="0" marL="0">
              <a:spcAft>
                <a:spcPts val="300"/>
              </a:spcAft>
              <a:buNone/>
            </a:pPr>
            <a:r>
              <a:rPr lang="ko-KR" alt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기능을 더하기 전에, 재는 법부터</a:t>
            </a:r>
            <a:endParaRPr lang="ko-KR" sz="1000" dirty="0"/>
          </a:p>
        </p:txBody>
      </p:sp>
      <p:sp>
        <p:nvSpPr>
          <p:cNvPr id="20" name="Text 17"/>
          <p:cNvSpPr/>
          <p:nvPr/>
        </p:nvSpPr>
        <p:spPr>
          <a:xfrm>
            <a:off x="5943600" y="26060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3200" b="1" dirty="0">
                <a:solidFill>
                  <a:srgbClr val="C810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감사합니다</a:t>
            </a:r>
            <a:endParaRPr lang="ko-KR" sz="3200" dirty="0"/>
          </a:p>
        </p:txBody>
      </p:sp>
      <p:sp>
        <p:nvSpPr>
          <p:cNvPr id="21" name="Text 18">
            <a:hlinkClick r:id="rId1" tooltip=""/>
          </p:cNvPr>
          <p:cNvSpPr/>
          <p:nvPr/>
        </p:nvSpPr>
        <p:spPr>
          <a:xfrm>
            <a:off x="548640" y="4160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00" u="sng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github.com/jang961111-hash/incident-agent-ablation</a:t>
            </a:r>
            <a:endParaRPr lang="ko-KR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장애 대응 AI 비서, 무엇이 진짜 효과였나</dc:title>
  <dc:subject>PptxGenJS Presentation</dc:subject>
  <dc:creator>장병헌 (G062)</dc:creator>
  <cp:lastModifiedBy>장병헌 (G062)</cp:lastModifiedBy>
  <cp:revision>1</cp:revision>
  <dcterms:created xsi:type="dcterms:W3CDTF">2026-10-22T03:35:45Z</dcterms:created>
  <dcterms:modified xsi:type="dcterms:W3CDTF">2026-10-22T03:35:45Z</dcterms:modified>
</cp:coreProperties>
</file>