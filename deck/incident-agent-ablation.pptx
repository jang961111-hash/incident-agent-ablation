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표지" id="{95a0ec16-01d5-9162-239a-efbeb7c1deca}">
          <p14:sldIdLst>
            <p14:sldId id="256"/>
          </p14:sldIdLst>
        </p14:section>
        <p14:section name="요약" id="{f3436df3-ba22-92e4-8bd0-aeaf34e648a2}">
          <p14:sldIdLst>
            <p14:sldId id="257"/>
          </p14:sldIdLst>
        </p14:section>
        <p14:section name="문제" id="{e7351f29-6351-1c3d-d9c4-c6adcdbc7a1b}">
          <p14:sldIdLst>
            <p14:sldId id="258"/>
            <p14:sldId id="259"/>
          </p14:sldIdLst>
        </p14:section>
        <p14:section name="개선" id="{6af69a31-4d26-6900-9b84-288202b0a4d2}">
          <p14:sldIdLst>
            <p14:sldId id="260"/>
          </p14:sldIdLst>
        </p14:section>
        <p14:section name="평가 설계" id="{620f5cfd-2082-622e-c593-6b0fd8f054aa}">
          <p14:sldIdLst>
            <p14:sldId id="261"/>
          </p14:sldIdLst>
        </p14:section>
        <p14:section name="Before/After" id="{d8641767-a4b4-ead4-2ed1-0b5fd09350ec}">
          <p14:sldIdLst>
            <p14:sldId id="262"/>
            <p14:sldId id="263"/>
            <p14:sldId id="264"/>
            <p14:sldId id="265"/>
            <p14:sldId id="266"/>
          </p14:sldIdLst>
        </p14:section>
        <p14:section name="한계" id="{31a74a13-7a81-1f5e-1a3a-0790394dbd19}">
          <p14:sldIdLst>
            <p14:sldId id="267"/>
          </p14:sldIdLst>
        </p14:section>
        <p14:section name="마무리" id="{2c3b9e14-7a84-6808-41b4-da4fce9b3b2f}">
          <p14:sldIdLst>
            <p14:sldId id="268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_rels/chart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6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0" i="0" u="none" strike="noStrike">
                <a:solidFill>
                  <a:srgbClr val="16202C"/>
                </a:solidFill>
                <a:latin typeface="Apple SD Gothic Neo"/>
              </a:defRPr>
            </a:pPr>
            <a:r>
              <a:rPr sz="1400" b="0" i="0" u="none" strike="noStrike">
                <a:solidFill>
                  <a:srgbClr val="16202C"/>
                </a:solidFill>
                <a:latin typeface="Apple SD Gothic Neo"/>
              </a:rPr>
              <a:t>Recall@1 (gold 18건)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Recall@1 (gold 18건)</c:v>
                </c:pt>
              </c:strCache>
            </c:strRef>
          </c:tx>
          <c:spPr>
            <a:solidFill>
              <a:srgbClr val="8A94A3"/>
            </a:solidFill>
            <a:effectLst/>
          </c:spPr>
          <c:invertIfNegative val="0"/>
          <c:dLbls>
            <c:numFmt formatCode="0%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1A2230"/>
                    </a:solidFill>
                    <a:latin typeface="Apple SD Gothic Neo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8A94A3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F8A70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C9A227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155E4B"/>
              </a:solidFill>
              <a:effectLst/>
            </c:spPr>
          </c:dPt>
          <c:cat>
            <c:multiLvlStrRef>
              <c:f>Sheet1!$A$2:$A$5</c:f>
              <c:multiLvlStrCache>
                <c:ptCount val="4"/>
                <c:lvl>
                  <c:pt idx="0">
                    <c:v>base</c:v>
                  </c:pt>
                  <c:pt idx="1">
                    <c:v>+RAG</c:v>
                  </c:pt>
                  <c:pt idx="2">
                    <c:v>+Judge</c:v>
                  </c:pt>
                  <c:pt idx="3">
                    <c:v>+비용최적화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0.3611111111111111</c:v>
                </c:pt>
                <c:pt idx="1">
                  <c:v>0.7222222222222222</c:v>
                </c:pt>
                <c:pt idx="2">
                  <c:v>0.7222222222222222</c:v>
                </c:pt>
                <c:pt idx="3">
                  <c:v>0.7222222222222222</c:v>
                </c:pt>
              </c:numCache>
            </c:numRef>
          </c:val>
        </c:ser>
        <c:dLbls>
          <c:numFmt formatCode="0%" sourceLinked="0"/>
          <c:txPr>
            <a:bodyPr/>
            <a:lstStyle/>
            <a:p>
              <a:pPr>
                <a:defRPr b="0" i="0" strike="noStrike" sz="1200" u="none">
                  <a:solidFill>
                    <a:srgbClr val="1A2230"/>
                  </a:solidFill>
                  <a:latin typeface="Apple SD Gothic Neo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1A2230"/>
                </a:solidFill>
                <a:latin typeface="Apple SD Gothic Neo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pple SD Gothic Neo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0" i="0" u="none" strike="noStrike">
                <a:solidFill>
                  <a:srgbClr val="16202C"/>
                </a:solidFill>
                <a:latin typeface="Apple SD Gothic Neo"/>
              </a:defRPr>
            </a:pPr>
            <a:r>
              <a:rPr sz="1400" b="0" i="0" u="none" strike="noStrike">
                <a:solidFill>
                  <a:srgbClr val="16202C"/>
                </a:solidFill>
                <a:latin typeface="Apple SD Gothic Neo"/>
              </a:rPr>
              <a:t>write에 넣은 런북의 정밀도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write에 넣은 런북의 정밀도</c:v>
                </c:pt>
              </c:strCache>
            </c:strRef>
          </c:tx>
          <c:spPr>
            <a:solidFill>
              <a:srgbClr val="8A94A3"/>
            </a:solidFill>
            <a:effectLst/>
          </c:spPr>
          <c:invertIfNegative val="0"/>
          <c:dLbls>
            <c:numFmt formatCode="0%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1A2230"/>
                    </a:solidFill>
                    <a:latin typeface="Apple SD Gothic Neo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8A94A3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F8A70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C9A227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155E4B"/>
              </a:solidFill>
              <a:effectLst/>
            </c:spPr>
          </c:dPt>
          <c:cat>
            <c:multiLvlStrRef>
              <c:f>Sheet1!$A$2:$A$5</c:f>
              <c:multiLvlStrCache>
                <c:ptCount val="4"/>
                <c:lvl>
                  <c:pt idx="0">
                    <c:v>base</c:v>
                  </c:pt>
                  <c:pt idx="1">
                    <c:v>+RAG</c:v>
                  </c:pt>
                  <c:pt idx="2">
                    <c:v>+Judge</c:v>
                  </c:pt>
                  <c:pt idx="3">
                    <c:v>+비용최적화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0.5333333333333333</c:v>
                </c:pt>
                <c:pt idx="1">
                  <c:v>0.7777777777777778</c:v>
                </c:pt>
                <c:pt idx="2">
                  <c:v>0.7777777777777778</c:v>
                </c:pt>
                <c:pt idx="3">
                  <c:v>0.7777777777777778</c:v>
                </c:pt>
              </c:numCache>
            </c:numRef>
          </c:val>
        </c:ser>
        <c:dLbls>
          <c:numFmt formatCode="0%" sourceLinked="0"/>
          <c:txPr>
            <a:bodyPr/>
            <a:lstStyle/>
            <a:p>
              <a:pPr>
                <a:defRPr b="0" i="0" strike="noStrike" sz="1200" u="none">
                  <a:solidFill>
                    <a:srgbClr val="1A2230"/>
                  </a:solidFill>
                  <a:latin typeface="Apple SD Gothic Neo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1A2230"/>
                </a:solidFill>
                <a:latin typeface="Apple SD Gothic Neo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pple SD Gothic Neo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0" i="0" u="none" strike="noStrike">
                <a:solidFill>
                  <a:srgbClr val="16202C"/>
                </a:solidFill>
                <a:latin typeface="Apple SD Gothic Neo"/>
              </a:defRPr>
            </a:pPr>
            <a:r>
              <a:rPr sz="1400" b="0" i="0" u="none" strike="noStrike">
                <a:solidFill>
                  <a:srgbClr val="16202C"/>
                </a:solidFill>
                <a:latin typeface="Apple SD Gothic Neo"/>
              </a:rPr>
              <a:t>런북 핵심 어구 포함률 (Judge 무관, 13건)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런북 핵심 어구 포함률 (Judge 무관, 13건)</c:v>
                </c:pt>
              </c:strCache>
            </c:strRef>
          </c:tx>
          <c:spPr>
            <a:solidFill>
              <a:srgbClr val="8A94A3"/>
            </a:solidFill>
            <a:effectLst/>
          </c:spPr>
          <c:invertIfNegative val="0"/>
          <c:dLbls>
            <c:numFmt formatCode="0%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1A2230"/>
                    </a:solidFill>
                    <a:latin typeface="Apple SD Gothic Neo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8A94A3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F8A70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C9A227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155E4B"/>
              </a:solidFill>
              <a:effectLst/>
            </c:spPr>
          </c:dPt>
          <c:cat>
            <c:multiLvlStrRef>
              <c:f>Sheet1!$A$2:$A$5</c:f>
              <c:multiLvlStrCache>
                <c:ptCount val="4"/>
                <c:lvl>
                  <c:pt idx="0">
                    <c:v>base</c:v>
                  </c:pt>
                  <c:pt idx="1">
                    <c:v>+RAG</c:v>
                  </c:pt>
                  <c:pt idx="2">
                    <c:v>+Judge</c:v>
                  </c:pt>
                  <c:pt idx="3">
                    <c:v>+비용최적화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0.36</c:v>
                </c:pt>
                <c:pt idx="1">
                  <c:v>0.8</c:v>
                </c:pt>
                <c:pt idx="2">
                  <c:v>0.88</c:v>
                </c:pt>
                <c:pt idx="3">
                  <c:v>0.84</c:v>
                </c:pt>
              </c:numCache>
            </c:numRef>
          </c:val>
        </c:ser>
        <c:dLbls>
          <c:numFmt formatCode="0%" sourceLinked="0"/>
          <c:txPr>
            <a:bodyPr/>
            <a:lstStyle/>
            <a:p>
              <a:pPr>
                <a:defRPr b="0" i="0" strike="noStrike" sz="1200" u="none">
                  <a:solidFill>
                    <a:srgbClr val="1A2230"/>
                  </a:solidFill>
                  <a:latin typeface="Apple SD Gothic Neo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1A2230"/>
                </a:solidFill>
                <a:latin typeface="Apple SD Gothic Neo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pple SD Gothic Neo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0" i="0" u="none" strike="noStrike">
                <a:solidFill>
                  <a:srgbClr val="16202C"/>
                </a:solidFill>
                <a:latin typeface="Apple SD Gothic Neo"/>
              </a:defRPr>
            </a:pPr>
            <a:r>
              <a:rPr sz="1400" b="0" i="0" u="none" strike="noStrike">
                <a:solidFill>
                  <a:srgbClr val="16202C"/>
                </a:solidFill>
                <a:latin typeface="Apple SD Gothic Neo"/>
              </a:rPr>
              <a:t>평가 Judge(gpt-4o) 통과율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평가 Judge(gpt-4o) 통과율</c:v>
                </c:pt>
              </c:strCache>
            </c:strRef>
          </c:tx>
          <c:spPr>
            <a:solidFill>
              <a:srgbClr val="8A94A3"/>
            </a:solidFill>
            <a:effectLst/>
          </c:spPr>
          <c:invertIfNegative val="0"/>
          <c:dLbls>
            <c:numFmt formatCode="0%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1A2230"/>
                    </a:solidFill>
                    <a:latin typeface="Apple SD Gothic Neo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8A94A3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F8A70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C9A227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155E4B"/>
              </a:solidFill>
              <a:effectLst/>
            </c:spPr>
          </c:dPt>
          <c:cat>
            <c:multiLvlStrRef>
              <c:f>Sheet1!$A$2:$A$5</c:f>
              <c:multiLvlStrCache>
                <c:ptCount val="4"/>
                <c:lvl>
                  <c:pt idx="0">
                    <c:v>base</c:v>
                  </c:pt>
                  <c:pt idx="1">
                    <c:v>+RAG</c:v>
                  </c:pt>
                  <c:pt idx="2">
                    <c:v>+Judge</c:v>
                  </c:pt>
                  <c:pt idx="3">
                    <c:v>+비용최적화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0.8333333333333334</c:v>
                </c:pt>
                <c:pt idx="1">
                  <c:v>1</c:v>
                </c:pt>
                <c:pt idx="2">
                  <c:v>0.9583333333333334</c:v>
                </c:pt>
                <c:pt idx="3">
                  <c:v>0.9583333333333334</c:v>
                </c:pt>
              </c:numCache>
            </c:numRef>
          </c:val>
        </c:ser>
        <c:dLbls>
          <c:numFmt formatCode="0%" sourceLinked="0"/>
          <c:txPr>
            <a:bodyPr/>
            <a:lstStyle/>
            <a:p>
              <a:pPr>
                <a:defRPr b="0" i="0" strike="noStrike" sz="1200" u="none">
                  <a:solidFill>
                    <a:srgbClr val="1A2230"/>
                  </a:solidFill>
                  <a:latin typeface="Apple SD Gothic Neo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1A2230"/>
                </a:solidFill>
                <a:latin typeface="Apple SD Gothic Neo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pple SD Gothic Neo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0" i="0" u="none" strike="noStrike">
                <a:solidFill>
                  <a:srgbClr val="16202C"/>
                </a:solidFill>
                <a:latin typeface="Apple SD Gothic Neo"/>
              </a:defRPr>
            </a:pPr>
            <a:r>
              <a:rPr sz="1400" b="0" i="0" u="none" strike="noStrike">
                <a:solidFill>
                  <a:srgbClr val="16202C"/>
                </a:solidFill>
                <a:latin typeface="Apple SD Gothic Neo"/>
              </a:rPr>
              <a:t>24건 추정 비용 (USD)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24건 추정 비용 (USD)</c:v>
                </c:pt>
              </c:strCache>
            </c:strRef>
          </c:tx>
          <c:spPr>
            <a:solidFill>
              <a:srgbClr val="8A94A3"/>
            </a:solidFill>
            <a:effectLst/>
          </c:spPr>
          <c:invertIfNegative val="0"/>
          <c:dLbls>
            <c:numFmt formatCode="$0.00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1A2230"/>
                    </a:solidFill>
                    <a:latin typeface="Apple SD Gothic Neo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8A94A3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F8A70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C9A227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155E4B"/>
              </a:solidFill>
              <a:effectLst/>
            </c:spPr>
          </c:dPt>
          <c:cat>
            <c:multiLvlStrRef>
              <c:f>Sheet1!$A$2:$A$5</c:f>
              <c:multiLvlStrCache>
                <c:ptCount val="4"/>
                <c:lvl>
                  <c:pt idx="0">
                    <c:v>base</c:v>
                  </c:pt>
                  <c:pt idx="1">
                    <c:v>+RAG</c:v>
                  </c:pt>
                  <c:pt idx="2">
                    <c:v>+Judge</c:v>
                  </c:pt>
                  <c:pt idx="3">
                    <c:v>+비용최적화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0.06466835</c:v>
                </c:pt>
                <c:pt idx="1">
                  <c:v>0.07314637</c:v>
                </c:pt>
                <c:pt idx="2">
                  <c:v>0.11182292</c:v>
                </c:pt>
                <c:pt idx="3">
                  <c:v>0.026433919999999996</c:v>
                </c:pt>
              </c:numCache>
            </c:numRef>
          </c:val>
        </c:ser>
        <c:dLbls>
          <c:numFmt formatCode="$0.000" sourceLinked="0"/>
          <c:txPr>
            <a:bodyPr/>
            <a:lstStyle/>
            <a:p>
              <a:pPr>
                <a:defRPr b="0" i="0" strike="noStrike" sz="1200" u="none">
                  <a:solidFill>
                    <a:srgbClr val="1A2230"/>
                  </a:solidFill>
                  <a:latin typeface="Apple SD Gothic Neo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1A2230"/>
                </a:solidFill>
                <a:latin typeface="Apple SD Gothic Neo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pple SD Gothic Neo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0" i="0" u="none" strike="noStrike">
                <a:solidFill>
                  <a:srgbClr val="16202C"/>
                </a:solidFill>
                <a:latin typeface="Apple SD Gothic Neo"/>
              </a:defRPr>
            </a:pPr>
            <a:r>
              <a:rPr sz="1400" b="0" i="0" u="none" strike="noStrike">
                <a:solidFill>
                  <a:srgbClr val="16202C"/>
                </a:solidFill>
                <a:latin typeface="Apple SD Gothic Neo"/>
              </a:rPr>
              <a:t>지연 p95 (초)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지연 p95 (초)</c:v>
                </c:pt>
              </c:strCache>
            </c:strRef>
          </c:tx>
          <c:spPr>
            <a:solidFill>
              <a:srgbClr val="8A94A3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1A2230"/>
                    </a:solidFill>
                    <a:latin typeface="Apple SD Gothic Neo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8A94A3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F8A70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C9A227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155E4B"/>
              </a:solidFill>
              <a:effectLst/>
            </c:spPr>
          </c:dPt>
          <c:cat>
            <c:multiLvlStrRef>
              <c:f>Sheet1!$A$2:$A$5</c:f>
              <c:multiLvlStrCache>
                <c:ptCount val="4"/>
                <c:lvl>
                  <c:pt idx="0">
                    <c:v>base</c:v>
                  </c:pt>
                  <c:pt idx="1">
                    <c:v>+RAG</c:v>
                  </c:pt>
                  <c:pt idx="2">
                    <c:v>+Judge</c:v>
                  </c:pt>
                  <c:pt idx="3">
                    <c:v>+비용최적화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6.833091159846662</c:v>
                </c:pt>
                <c:pt idx="1">
                  <c:v>7.339415000004372</c:v>
                </c:pt>
                <c:pt idx="2">
                  <c:v>18.120862866901728</c:v>
                </c:pt>
                <c:pt idx="3">
                  <c:v>11.738585025000065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b="0" i="0" strike="noStrike" sz="1200" u="none">
                  <a:solidFill>
                    <a:srgbClr val="1A2230"/>
                  </a:solidFill>
                  <a:latin typeface="Apple SD Gothic Neo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1A2230"/>
                </a:solidFill>
                <a:latin typeface="Apple SD Gothic Neo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pple SD Gothic Neo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교수님 베이스 에이전트에 RAG, LLM Judge, 비용 최적화를 붙였고, 각각을 따로 켜서 어떤 개선이 실제로 효과가 있었는지 수치로 분리했습니다.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세 숫자가 결론입니다. 검색 정확도는 두 배, 최종 구성 비용은 base보다 싸고, Judge는 품질 이득 없이 비용만 늘렸습니다.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DB가 다운됐다고 해도 auth-service로 폴백되고, 그 서비스의 latency 알림 때문에 응답 지연 런북이 붙습니다.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코드를 직접 읽고 나서 계획을 수정한 부분입니다. 모델 분리는 이미 있었기 때문에 캐스케이드로 바꿨습니다.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세 개선은 모두 config 플래그로 켜고 끕니다. base를 돌리면 교수님 원본 그래프가 그대로 실행됩니다.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검색 품질과 답변 품질을 분리해서 재야 검색이 좋아져서 답이 좋아졌다는 인과를 말할 수 있습니다.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base는 런북을 1개만 고르므로 Recall@3은 공정하지 않아서, 실제로 write에 넣은 런북 기준 정밀도를 같이 봤습니다.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왼쪽이 Judge와 무관하게 런북 문구가 답에 들어갔는지 센 지표입니다. 오른쪽 Judge 통과율은 RAG에서 이미 100%라 차이를 못 보여줍니다.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비용은 공개 단가에 실측 토큰을 곱한 추정치입니다. 평가용 Judge 비용은 뺐습니다.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Judge 기준에 '근거에 없으면 없다고 말하는 게 정답'이라는 조건이 빠져서 정직한 답을 오히려 반려했습니다.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당직자 여러 명이 같은 알림을 반복해서 묻는 상황을 가정한 측정입니다.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개선이 새로 만든 약점과 측정의 한계를 같이 짚었습니다.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solidFill>
          <a:schemeClr val="tx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011680"/>
            <a:ext cx="10698480" cy="1463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657600"/>
            <a:ext cx="10698480" cy="1463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800" dirty="0">
                <a:solidFill>
                  <a:schemeClr val="bg2"/>
                </a:solidFill>
              </a:defRPr>
            </a:lvl1pPr>
          </a:lstStyle>
          <a:p>
            <a:pPr algn="l" indent="0" marL="0">
              <a:buNone/>
            </a:pPr>
            <a:endParaRPr lang="en-US" sz="18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chemeClr val="tx2"/>
                </a:solidFill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3" name="Text 0"/>
          <p:cNvSpPr/>
          <p:nvPr/>
        </p:nvSpPr>
        <p:spPr>
          <a:xfrm>
            <a:off x="548640" y="640080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3"/>
                </a:solidFill>
              </a:rPr>
              <a:t>SKALA 4기 AI Mini-Project · 과제1 · 장병헌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chart" Target="/ppt/charts/chart2.xml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chart" Target="/ppt/charts/chart4.xml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5.xml"/><Relationship Id="rId2" Type="http://schemas.openxmlformats.org/officeDocument/2006/relationships/chart" Target="/ppt/charts/chart6.xml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011680"/>
            <a:ext cx="10698480" cy="146304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인시던트 에이전트 개선, 무엇이 효과였나</a:t>
            </a: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657600"/>
            <a:ext cx="1069848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chemeClr val="bg2"/>
                </a:solidFill>
              </a:rPr>
              <a:t>개선 3가지를 하나씩 켜 보는 4구성 Ablation으로 기여도를 분해했다</a:t>
            </a:r>
            <a:endParaRPr lang="en-US" sz="1800" dirty="0"/>
          </a:p>
          <a:p>
            <a:pPr algn="l" indent="0" marL="0">
              <a:buNone/>
            </a:pPr>
            <a:r>
              <a:rPr lang="en-US" sz="1400" dirty="0">
                <a:solidFill>
                  <a:schemeClr val="accent3"/>
                </a:solidFill>
              </a:rPr>
              <a:t>SKALA 4기 AI Mini-Project 과제1 · 광주 2반 장병헌 (G062)</a:t>
            </a:r>
            <a:endParaRPr lang="en-US" sz="1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결론: 효과는 RAG에서, 비용은 캐스케이드에서 나왔다</a:t>
            </a:r>
            <a:endParaRPr lang="en-US" sz="3000" dirty="0"/>
          </a:p>
        </p:txBody>
      </p:sp>
      <p:sp>
        <p:nvSpPr>
          <p:cNvPr id="3" name="stat-recall"/>
          <p:cNvSpPr/>
          <p:nvPr/>
        </p:nvSpPr>
        <p:spPr>
          <a:xfrm>
            <a:off x="548640" y="1463040"/>
            <a:ext cx="3520440" cy="1828800"/>
          </a:xfrm>
          <a:prstGeom prst="roundRect">
            <a:avLst>
              <a:gd name="adj" fmla="val 6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822960" y="1691640"/>
            <a:ext cx="2971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2"/>
                </a:solidFill>
              </a:rPr>
              <a:t>36% → 72%</a:t>
            </a:r>
            <a:endParaRPr lang="en-US" sz="40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2606040"/>
            <a:ext cx="29718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런북 검색 Recall@1 (gold 18건)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base → RAG</a:t>
            </a:r>
            <a:endParaRPr lang="en-US" sz="1400" dirty="0"/>
          </a:p>
        </p:txBody>
      </p:sp>
      <p:sp>
        <p:nvSpPr>
          <p:cNvPr id="6" name="stat-cost"/>
          <p:cNvSpPr/>
          <p:nvPr/>
        </p:nvSpPr>
        <p:spPr>
          <a:xfrm>
            <a:off x="4334256" y="1463040"/>
            <a:ext cx="3520440" cy="1828800"/>
          </a:xfrm>
          <a:prstGeom prst="roundRect">
            <a:avLst>
              <a:gd name="adj" fmla="val 6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608576" y="1691640"/>
            <a:ext cx="2971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6"/>
                </a:solidFill>
              </a:rPr>
              <a:t>-59%</a:t>
            </a:r>
            <a:endParaRPr lang="en-US" sz="4000" dirty="0"/>
          </a:p>
        </p:txBody>
      </p:sp>
      <p:sp>
        <p:nvSpPr>
          <p:cNvPr id="8" name="Text 6"/>
          <p:cNvSpPr txBox="1"/>
          <p:nvPr/>
        </p:nvSpPr>
        <p:spPr>
          <a:xfrm>
            <a:off x="4608576" y="2606040"/>
            <a:ext cx="29718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추정 비용 base → 최종 (24건)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$0.0647 → $0.0264, 품질은 더 높음</a:t>
            </a:r>
            <a:endParaRPr lang="en-US" sz="1400" dirty="0"/>
          </a:p>
        </p:txBody>
      </p:sp>
      <p:sp>
        <p:nvSpPr>
          <p:cNvPr id="9" name="stat-judge"/>
          <p:cNvSpPr/>
          <p:nvPr/>
        </p:nvSpPr>
        <p:spPr>
          <a:xfrm>
            <a:off x="8119872" y="1463040"/>
            <a:ext cx="3520440" cy="1828800"/>
          </a:xfrm>
          <a:prstGeom prst="roundRect">
            <a:avLst>
              <a:gd name="adj" fmla="val 6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394192" y="1691640"/>
            <a:ext cx="2971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1"/>
                </a:solidFill>
              </a:rPr>
              <a:t>+53%</a:t>
            </a:r>
            <a:endParaRPr lang="en-US" sz="4000" dirty="0"/>
          </a:p>
        </p:txBody>
      </p:sp>
      <p:sp>
        <p:nvSpPr>
          <p:cNvPr id="11" name="Text 9"/>
          <p:cNvSpPr txBox="1"/>
          <p:nvPr/>
        </p:nvSpPr>
        <p:spPr>
          <a:xfrm>
            <a:off x="8394192" y="2606040"/>
            <a:ext cx="29718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LLM Judge를 붙였을 때 비용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측정 가능한 품질 이득은 없음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548640" y="3657600"/>
            <a:ext cx="11064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결정적 지표(런북 핵심 어구 포함률): </a:t>
            </a:r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base 36% → RAG 80% → 최종 84%</a:t>
            </a:r>
            <a:endParaRPr lang="en-US" sz="1600" dirty="0"/>
          </a:p>
          <a:p>
            <a:pPr indent="0" marL="0">
              <a:buNone/>
            </a:pPr>
            <a:r>
              <a:rPr lang="en-US" sz="1100" dirty="0">
                <a:solidFill>
                  <a:schemeClr val="accent3"/>
                </a:solidFill>
              </a:rPr>
              <a:t>출처: results/*_latest.json (2026-10-21 실행, 4구성 x 24건, 실행 오류 0)</a:t>
            </a:r>
            <a:endParaRPr lang="en-US" sz="1600" dirty="0"/>
          </a:p>
        </p:txBody>
      </p:sp>
      <p:sp>
        <p:nvSpPr>
          <p:cNvPr id="13" name="takeaway"/>
          <p:cNvSpPr/>
          <p:nvPr/>
        </p:nvSpPr>
        <p:spPr>
          <a:xfrm>
            <a:off x="548640" y="4754880"/>
            <a:ext cx="11064240" cy="1325880"/>
          </a:xfrm>
          <a:prstGeom prst="roundRect">
            <a:avLst>
              <a:gd name="adj" fmla="val 827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822960" y="4892040"/>
            <a:ext cx="105156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개선을 하나씩 켜서 쟀기 때문에 "RAG를 넣었더니 좋아졌다"가 아니라 "좋아진 건 RAG 덕분이고, Judge는 비용만 늘렸다"까지 말할 수 있다.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문제 1: base는 질문을 읽지 않고 런북을 고른다</a:t>
            </a:r>
            <a:endParaRPr lang="en-US" sz="3000" dirty="0"/>
          </a:p>
        </p:txBody>
      </p:sp>
      <p:sp>
        <p:nvSpPr>
          <p:cNvPr id="3" name="flow-0"/>
          <p:cNvSpPr/>
          <p:nvPr/>
        </p:nvSpPr>
        <p:spPr>
          <a:xfrm>
            <a:off x="548640" y="1463040"/>
            <a:ext cx="2468880" cy="1920240"/>
          </a:xfrm>
          <a:prstGeom prst="roundRect">
            <a:avLst>
              <a:gd name="adj" fmla="val 571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31520" y="1600200"/>
            <a:ext cx="2103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사용자 질의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2057400"/>
            <a:ext cx="2103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"DB 프라이머리가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다운됐습니다"</a:t>
            </a:r>
            <a:endParaRPr lang="en-US" sz="1500" dirty="0"/>
          </a:p>
        </p:txBody>
      </p:sp>
      <p:sp>
        <p:nvSpPr>
          <p:cNvPr id="6" name="arrow-0"/>
          <p:cNvSpPr/>
          <p:nvPr/>
        </p:nvSpPr>
        <p:spPr>
          <a:xfrm>
            <a:off x="3063240" y="2240280"/>
            <a:ext cx="274320" cy="365760"/>
          </a:xfrm>
          <a:prstGeom prst="rightArrow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7" name="flow-1"/>
          <p:cNvSpPr/>
          <p:nvPr/>
        </p:nvSpPr>
        <p:spPr>
          <a:xfrm>
            <a:off x="3383280" y="1463040"/>
            <a:ext cx="2468880" cy="1920240"/>
          </a:xfrm>
          <a:prstGeom prst="roundRect">
            <a:avLst>
              <a:gd name="adj" fmla="val 571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3566160" y="1600200"/>
            <a:ext cx="2103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planner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3566160" y="2057400"/>
            <a:ext cx="2103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시스템명 없음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→ auth-service 폴백</a:t>
            </a:r>
            <a:endParaRPr lang="en-US" sz="1500" dirty="0"/>
          </a:p>
        </p:txBody>
      </p:sp>
      <p:sp>
        <p:nvSpPr>
          <p:cNvPr id="10" name="arrow-1"/>
          <p:cNvSpPr/>
          <p:nvPr/>
        </p:nvSpPr>
        <p:spPr>
          <a:xfrm>
            <a:off x="5897880" y="2240280"/>
            <a:ext cx="274320" cy="365760"/>
          </a:xfrm>
          <a:prstGeom prst="rightArrow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11" name="flow-2"/>
          <p:cNvSpPr/>
          <p:nvPr/>
        </p:nvSpPr>
        <p:spPr>
          <a:xfrm>
            <a:off x="6217920" y="1463040"/>
            <a:ext cx="2468880" cy="1920240"/>
          </a:xfrm>
          <a:prstGeom prst="roundRect">
            <a:avLst>
              <a:gd name="adj" fmla="val 571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400800" y="1600200"/>
            <a:ext cx="2103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모니터링 알림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6400800" y="2057400"/>
            <a:ext cx="2103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"p95 latency 2.4s"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키워드 'latency' 일치</a:t>
            </a:r>
            <a:endParaRPr lang="en-US" sz="1500" dirty="0"/>
          </a:p>
        </p:txBody>
      </p:sp>
      <p:sp>
        <p:nvSpPr>
          <p:cNvPr id="14" name="arrow-2"/>
          <p:cNvSpPr/>
          <p:nvPr/>
        </p:nvSpPr>
        <p:spPr>
          <a:xfrm>
            <a:off x="8732520" y="2240280"/>
            <a:ext cx="274320" cy="365760"/>
          </a:xfrm>
          <a:prstGeom prst="rightArrow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15" name="flow-3"/>
          <p:cNvSpPr/>
          <p:nvPr/>
        </p:nvSpPr>
        <p:spPr>
          <a:xfrm>
            <a:off x="9052560" y="1463040"/>
            <a:ext cx="2468880" cy="1920240"/>
          </a:xfrm>
          <a:prstGeom prst="roundRect">
            <a:avLst>
              <a:gd name="adj" fmla="val 5714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9235440" y="1600200"/>
            <a:ext cx="2103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선택된 런북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9235440" y="2057400"/>
            <a:ext cx="2103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high-latency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(응답 지연 절차)</a:t>
            </a:r>
            <a:endParaRPr lang="en-US" sz="1500" dirty="0"/>
          </a:p>
        </p:txBody>
      </p:sp>
      <p:sp>
        <p:nvSpPr>
          <p:cNvPr id="18" name="stat-hl"/>
          <p:cNvSpPr/>
          <p:nvPr/>
        </p:nvSpPr>
        <p:spPr>
          <a:xfrm>
            <a:off x="548640" y="3840480"/>
            <a:ext cx="3657600" cy="1828800"/>
          </a:xfrm>
          <a:prstGeom prst="roundRect">
            <a:avLst>
              <a:gd name="adj" fmla="val 6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822960" y="4069080"/>
            <a:ext cx="31089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1"/>
                </a:solidFill>
              </a:rPr>
              <a:t>15 / 20</a:t>
            </a:r>
            <a:endParaRPr lang="en-US" sz="4000" dirty="0"/>
          </a:p>
        </p:txBody>
      </p:sp>
      <p:sp>
        <p:nvSpPr>
          <p:cNvPr id="20" name="Text 18"/>
          <p:cNvSpPr txBox="1"/>
          <p:nvPr/>
        </p:nvSpPr>
        <p:spPr>
          <a:xfrm>
            <a:off x="822960" y="4983480"/>
            <a:ext cx="31089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base가 장애로 처리한 질의 중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high-latency 런북을 받은 건수</a:t>
            </a: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4572000" y="3840480"/>
            <a:ext cx="704088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500" b="1" dirty="0">
                <a:solidFill>
                  <a:schemeClr val="tx1"/>
                </a:solidFill>
              </a:rPr>
              <a:t>원인 (src/agent/graph.py:192-213)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조사한 시스템의 알림 문구에서 키워드를 순서대로 찾아 첫 일치로 런북 1개를 고른다.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질의 문장은 판단에 쓰이지 않는다. 복합 장애도 런북 1개뿐이다.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base Recall@1 36%, 투입 런북 정밀도 53%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문제 2: 검증은 형식만 보고, 모델 분리는 이미 돼 있었다</a:t>
            </a:r>
            <a:endParaRPr lang="en-US" sz="3000" dirty="0"/>
          </a:p>
        </p:txBody>
      </p:sp>
      <p:sp>
        <p:nvSpPr>
          <p:cNvPr id="3" name="validator-card"/>
          <p:cNvSpPr/>
          <p:nvPr/>
        </p:nvSpPr>
        <p:spPr>
          <a:xfrm>
            <a:off x="548640" y="1463040"/>
            <a:ext cx="5394960" cy="3383280"/>
          </a:xfrm>
          <a:prstGeom prst="roundRect">
            <a:avLst>
              <a:gd name="adj" fmla="val 324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822960" y="1645920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2"/>
                </a:solidFill>
              </a:rPr>
              <a:t>규칙 Validator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2194560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len(draft) &gt;= 30 and "1)" in draft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2834640"/>
            <a:ext cx="484632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내용이 질문과 맞는지, 근거에 있는지는 보지 않는다.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실측: base 24건 재작성 0회. gpt-4o 답은 항상 30자 이상, "1)" 포함.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응답 지연 절차로 DB 다운에 답해도 통과한다.</a:t>
            </a:r>
            <a:endParaRPr lang="en-US" sz="1500" dirty="0"/>
          </a:p>
        </p:txBody>
      </p:sp>
      <p:sp>
        <p:nvSpPr>
          <p:cNvPr id="7" name="tiering-card"/>
          <p:cNvSpPr/>
          <p:nvPr/>
        </p:nvSpPr>
        <p:spPr>
          <a:xfrm>
            <a:off x="6245352" y="1463040"/>
            <a:ext cx="5394960" cy="3383280"/>
          </a:xfrm>
          <a:prstGeom prst="roundRect">
            <a:avLst>
              <a:gd name="adj" fmla="val 324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519672" y="1645920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2"/>
                </a:solidFill>
              </a:rPr>
              <a:t>계획했던 비용 개선</a:t>
            </a:r>
            <a:endParaRPr lang="en-US" sz="2000" dirty="0"/>
          </a:p>
        </p:txBody>
      </p:sp>
      <p:sp>
        <p:nvSpPr>
          <p:cNvPr id="9" name="Text 7"/>
          <p:cNvSpPr txBox="1"/>
          <p:nvPr/>
        </p:nvSpPr>
        <p:spPr>
          <a:xfrm>
            <a:off x="6519672" y="2194560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accent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fast = gpt-4o-mini / quality = gpt-4o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6519672" y="2834640"/>
            <a:ext cx="484632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'역할별 모델 분리'는 base에 이미 들어 있었다 (src/server.py:50-56).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그래서 비용 축을 다시 정했다: 1차 초안은 저가 모델, Judge가 반려할 때만 gpt-4o로 재작성 (캐스케이드) + 질의 캐시.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548640" y="516636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6"/>
                </a:solidFill>
              </a:rPr>
              <a:t>→ 개선 대상: 런북 선택(RAG) · 검증 기준(LLM Judge) · 비용(캐스케이드 + 캐시)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개선: 원본 노드는 그대로, 3개 노드만 플래그로 교체</a:t>
            </a:r>
            <a:endParaRPr lang="en-US" sz="3000" dirty="0"/>
          </a:p>
        </p:txBody>
      </p:sp>
      <p:sp>
        <p:nvSpPr>
          <p:cNvPr id="3" name="axis-0"/>
          <p:cNvSpPr/>
          <p:nvPr/>
        </p:nvSpPr>
        <p:spPr>
          <a:xfrm>
            <a:off x="548640" y="1417320"/>
            <a:ext cx="3520440" cy="2514600"/>
          </a:xfrm>
          <a:prstGeom prst="roundRect">
            <a:avLst>
              <a:gd name="adj" fmla="val 436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axis-dot-0"/>
          <p:cNvSpPr/>
          <p:nvPr/>
        </p:nvSpPr>
        <p:spPr>
          <a:xfrm>
            <a:off x="822960" y="1645920"/>
            <a:ext cx="502920" cy="50292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16459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1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1463040" y="1645920"/>
            <a:ext cx="2468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RAG 런북 선택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2286000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accent3"/>
                </a:solidFill>
              </a:rPr>
              <a:t>교체 노드: replan_check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822960" y="2697480"/>
            <a:ext cx="30175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질의 임베딩(text-embedding-3-small)으로 런북 6개 순위. 1위 점수 -0.05 이내만 write에 투입</a:t>
            </a:r>
            <a:endParaRPr lang="en-US" sz="1400" dirty="0"/>
          </a:p>
        </p:txBody>
      </p:sp>
      <p:sp>
        <p:nvSpPr>
          <p:cNvPr id="9" name="axis-1"/>
          <p:cNvSpPr/>
          <p:nvPr/>
        </p:nvSpPr>
        <p:spPr>
          <a:xfrm>
            <a:off x="4334256" y="1417320"/>
            <a:ext cx="3520440" cy="2514600"/>
          </a:xfrm>
          <a:prstGeom prst="roundRect">
            <a:avLst>
              <a:gd name="adj" fmla="val 436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axis-dot-1"/>
          <p:cNvSpPr/>
          <p:nvPr/>
        </p:nvSpPr>
        <p:spPr>
          <a:xfrm>
            <a:off x="4608576" y="1645920"/>
            <a:ext cx="502920" cy="502920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608576" y="16459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2</a:t>
            </a:r>
            <a:endParaRPr lang="en-US" sz="1800" dirty="0"/>
          </a:p>
        </p:txBody>
      </p:sp>
      <p:sp>
        <p:nvSpPr>
          <p:cNvPr id="12" name="Text 10"/>
          <p:cNvSpPr txBox="1"/>
          <p:nvPr/>
        </p:nvSpPr>
        <p:spPr>
          <a:xfrm>
            <a:off x="5248656" y="1645920"/>
            <a:ext cx="2468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LLM-as-a-Judge</a:t>
            </a:r>
            <a:endParaRPr lang="en-US" sz="1800" dirty="0"/>
          </a:p>
        </p:txBody>
      </p:sp>
      <p:sp>
        <p:nvSpPr>
          <p:cNvPr id="13" name="Text 11"/>
          <p:cNvSpPr txBox="1"/>
          <p:nvPr/>
        </p:nvSpPr>
        <p:spPr>
          <a:xfrm>
            <a:off x="4608576" y="2286000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accent3"/>
                </a:solidFill>
              </a:rPr>
              <a:t>교체 노드: validate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4608576" y="2697480"/>
            <a:ext cx="30175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4지표(관련성·완전성·도메인·명확성) 3/4 이상 통과. 재시도 2회 또는 120초 중 먼저 닿으면 종료</a:t>
            </a:r>
            <a:endParaRPr lang="en-US" sz="1400" dirty="0"/>
          </a:p>
        </p:txBody>
      </p:sp>
      <p:sp>
        <p:nvSpPr>
          <p:cNvPr id="15" name="axis-2"/>
          <p:cNvSpPr/>
          <p:nvPr/>
        </p:nvSpPr>
        <p:spPr>
          <a:xfrm>
            <a:off x="8119872" y="1417320"/>
            <a:ext cx="3520440" cy="2514600"/>
          </a:xfrm>
          <a:prstGeom prst="roundRect">
            <a:avLst>
              <a:gd name="adj" fmla="val 436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6" name="axis-dot-2"/>
          <p:cNvSpPr/>
          <p:nvPr/>
        </p:nvSpPr>
        <p:spPr>
          <a:xfrm>
            <a:off x="8394192" y="1645920"/>
            <a:ext cx="502920" cy="502920"/>
          </a:xfrm>
          <a:prstGeom prst="ellipse">
            <a:avLst/>
          </a:prstGeom>
          <a:solidFill>
            <a:schemeClr val="accent6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8394192" y="16459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3</a:t>
            </a:r>
            <a:endParaRPr lang="en-US" sz="1800" dirty="0"/>
          </a:p>
        </p:txBody>
      </p:sp>
      <p:sp>
        <p:nvSpPr>
          <p:cNvPr id="18" name="Text 16"/>
          <p:cNvSpPr txBox="1"/>
          <p:nvPr/>
        </p:nvSpPr>
        <p:spPr>
          <a:xfrm>
            <a:off x="9034272" y="1645920"/>
            <a:ext cx="2468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캐스케이드 + 캐시</a:t>
            </a:r>
            <a:endParaRPr lang="en-US" sz="1800" dirty="0"/>
          </a:p>
        </p:txBody>
      </p:sp>
      <p:sp>
        <p:nvSpPr>
          <p:cNvPr id="19" name="Text 17"/>
          <p:cNvSpPr txBox="1"/>
          <p:nvPr/>
        </p:nvSpPr>
        <p:spPr>
          <a:xfrm>
            <a:off x="8394192" y="2286000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accent3"/>
                </a:solidFill>
              </a:rPr>
              <a:t>교체 노드: write · route · plan</a:t>
            </a:r>
            <a:endParaRPr lang="en-US" sz="1300" dirty="0"/>
          </a:p>
        </p:txBody>
      </p:sp>
      <p:sp>
        <p:nvSpPr>
          <p:cNvPr id="20" name="Text 18"/>
          <p:cNvSpPr txBox="1"/>
          <p:nvPr/>
        </p:nvSpPr>
        <p:spPr>
          <a:xfrm>
            <a:off x="8394192" y="2697480"/>
            <a:ext cx="30175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1차 초안 gpt-4o-mini, 반려 시에만 gpt-4o. 정규화 질의 키로 route·plan·임베딩 캐시</a:t>
            </a: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548640" y="420624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기술 요소</a:t>
            </a:r>
            <a:endParaRPr lang="en-US" sz="1500" dirty="0"/>
          </a:p>
        </p:txBody>
      </p:sp>
      <p:sp>
        <p:nvSpPr>
          <p:cNvPr id="22" name="chip-0"/>
          <p:cNvSpPr/>
          <p:nvPr/>
        </p:nvSpPr>
        <p:spPr>
          <a:xfrm>
            <a:off x="548640" y="4663440"/>
            <a:ext cx="1101852" cy="384048"/>
          </a:xfrm>
          <a:prstGeom prst="roundRect">
            <a:avLst>
              <a:gd name="adj" fmla="val 47619"/>
            </a:avLst>
          </a:prstGeom>
          <a:solidFill>
            <a:schemeClr val="bg2"/>
          </a:solidFill>
          <a:ln w="9525">
            <a:solidFill>
              <a:schemeClr val="accent3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548640" y="4663440"/>
            <a:ext cx="11018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LangGraph</a:t>
            </a:r>
            <a:endParaRPr lang="en-US" sz="1200" dirty="0"/>
          </a:p>
        </p:txBody>
      </p:sp>
      <p:sp>
        <p:nvSpPr>
          <p:cNvPr id="24" name="chip-1"/>
          <p:cNvSpPr/>
          <p:nvPr/>
        </p:nvSpPr>
        <p:spPr>
          <a:xfrm>
            <a:off x="1787652" y="4663440"/>
            <a:ext cx="1152144" cy="384048"/>
          </a:xfrm>
          <a:prstGeom prst="roundRect">
            <a:avLst>
              <a:gd name="adj" fmla="val 47619"/>
            </a:avLst>
          </a:prstGeom>
          <a:solidFill>
            <a:schemeClr val="bg2"/>
          </a:solidFill>
          <a:ln w="9525">
            <a:solidFill>
              <a:schemeClr val="accent3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1787652" y="4663440"/>
            <a:ext cx="115214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MCP (원본)</a:t>
            </a:r>
            <a:endParaRPr lang="en-US" sz="1200" dirty="0"/>
          </a:p>
        </p:txBody>
      </p:sp>
      <p:sp>
        <p:nvSpPr>
          <p:cNvPr id="26" name="chip-2"/>
          <p:cNvSpPr/>
          <p:nvPr/>
        </p:nvSpPr>
        <p:spPr>
          <a:xfrm>
            <a:off x="3076956" y="4663440"/>
            <a:ext cx="580644" cy="384048"/>
          </a:xfrm>
          <a:prstGeom prst="roundRect">
            <a:avLst>
              <a:gd name="adj" fmla="val 47619"/>
            </a:avLst>
          </a:prstGeom>
          <a:solidFill>
            <a:schemeClr val="bg2"/>
          </a:solidFill>
          <a:ln w="9525">
            <a:solidFill>
              <a:schemeClr val="accent3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3076956" y="4663440"/>
            <a:ext cx="58064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RAG</a:t>
            </a:r>
            <a:endParaRPr lang="en-US" sz="1200" dirty="0"/>
          </a:p>
        </p:txBody>
      </p:sp>
      <p:sp>
        <p:nvSpPr>
          <p:cNvPr id="28" name="chip-3"/>
          <p:cNvSpPr/>
          <p:nvPr/>
        </p:nvSpPr>
        <p:spPr>
          <a:xfrm>
            <a:off x="3794760" y="4663440"/>
            <a:ext cx="1536192" cy="384048"/>
          </a:xfrm>
          <a:prstGeom prst="roundRect">
            <a:avLst>
              <a:gd name="adj" fmla="val 47619"/>
            </a:avLst>
          </a:prstGeom>
          <a:solidFill>
            <a:schemeClr val="bg2"/>
          </a:solidFill>
          <a:ln w="9525">
            <a:solidFill>
              <a:schemeClr val="accent3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3794760" y="4663440"/>
            <a:ext cx="15361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LLM-as-a-Judge</a:t>
            </a:r>
            <a:endParaRPr lang="en-US" sz="1200" dirty="0"/>
          </a:p>
        </p:txBody>
      </p:sp>
      <p:sp>
        <p:nvSpPr>
          <p:cNvPr id="30" name="chip-4"/>
          <p:cNvSpPr/>
          <p:nvPr/>
        </p:nvSpPr>
        <p:spPr>
          <a:xfrm>
            <a:off x="5468112" y="4663440"/>
            <a:ext cx="2052828" cy="384048"/>
          </a:xfrm>
          <a:prstGeom prst="roundRect">
            <a:avLst>
              <a:gd name="adj" fmla="val 47619"/>
            </a:avLst>
          </a:prstGeom>
          <a:solidFill>
            <a:schemeClr val="bg2"/>
          </a:solidFill>
          <a:ln w="9525">
            <a:solidFill>
              <a:schemeClr val="accent3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5468112" y="4663440"/>
            <a:ext cx="20528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의존성 주입 (ExtDeps)</a:t>
            </a:r>
            <a:endParaRPr lang="en-US" sz="1200" dirty="0"/>
          </a:p>
        </p:txBody>
      </p:sp>
      <p:sp>
        <p:nvSpPr>
          <p:cNvPr id="32" name="chip-5"/>
          <p:cNvSpPr/>
          <p:nvPr/>
        </p:nvSpPr>
        <p:spPr>
          <a:xfrm>
            <a:off x="7658100" y="4663440"/>
            <a:ext cx="1655064" cy="384048"/>
          </a:xfrm>
          <a:prstGeom prst="roundRect">
            <a:avLst>
              <a:gd name="adj" fmla="val 47619"/>
            </a:avLst>
          </a:prstGeom>
          <a:solidFill>
            <a:schemeClr val="bg2"/>
          </a:solidFill>
          <a:ln w="9525">
            <a:solidFill>
              <a:schemeClr val="accent3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7658100" y="4663440"/>
            <a:ext cx="16550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모듈화 (src/ext)</a:t>
            </a:r>
            <a:endParaRPr lang="en-US" sz="1200" dirty="0"/>
          </a:p>
        </p:txBody>
      </p:sp>
      <p:sp>
        <p:nvSpPr>
          <p:cNvPr id="34" name="chip-6"/>
          <p:cNvSpPr/>
          <p:nvPr/>
        </p:nvSpPr>
        <p:spPr>
          <a:xfrm>
            <a:off x="548640" y="5166360"/>
            <a:ext cx="2226564" cy="384048"/>
          </a:xfrm>
          <a:prstGeom prst="roundRect">
            <a:avLst>
              <a:gd name="adj" fmla="val 47619"/>
            </a:avLst>
          </a:prstGeom>
          <a:solidFill>
            <a:schemeClr val="bg2"/>
          </a:solidFill>
          <a:ln w="9525">
            <a:solidFill>
              <a:schemeClr val="accent3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548640" y="5166360"/>
            <a:ext cx="22265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LangSmith 트레이스 96건</a:t>
            </a:r>
            <a:endParaRPr lang="en-US" sz="1200" dirty="0"/>
          </a:p>
        </p:txBody>
      </p:sp>
      <p:sp>
        <p:nvSpPr>
          <p:cNvPr id="36" name="chip-7"/>
          <p:cNvSpPr/>
          <p:nvPr/>
        </p:nvSpPr>
        <p:spPr>
          <a:xfrm>
            <a:off x="2912364" y="5166360"/>
            <a:ext cx="1257300" cy="384048"/>
          </a:xfrm>
          <a:prstGeom prst="roundRect">
            <a:avLst>
              <a:gd name="adj" fmla="val 47619"/>
            </a:avLst>
          </a:prstGeom>
          <a:solidFill>
            <a:schemeClr val="bg2"/>
          </a:solidFill>
          <a:ln w="9525">
            <a:solidFill>
              <a:schemeClr val="accent3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2912364" y="5166360"/>
            <a:ext cx="12573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pytest 12개</a:t>
            </a:r>
            <a:endParaRPr lang="en-US" sz="1200" dirty="0"/>
          </a:p>
        </p:txBody>
      </p:sp>
      <p:sp>
        <p:nvSpPr>
          <p:cNvPr id="38" name="Text 36"/>
          <p:cNvSpPr txBox="1"/>
          <p:nvPr/>
        </p:nvSpPr>
        <p:spPr>
          <a:xfrm>
            <a:off x="548640" y="5806440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accent3"/>
                </a:solidFill>
              </a:rPr>
              <a:t>base 구성은 원본 build_graph를 그대로 호출한다. 원본 파일은 이식 커밋 이후 한 줄도 바뀌지 않았다.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평가: 하나씩 켜는 4구성, 같은 24개 질의</a:t>
            </a:r>
            <a:endParaRPr lang="en-US" sz="3000" dirty="0"/>
          </a:p>
        </p:txBody>
      </p:sp>
      <p:graphicFrame>
        <p:nvGraphicFramePr>
          <p:cNvPr id="7" name="config-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658368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731520"/>
                <a:gridCol w="731520"/>
                <a:gridCol w="1097280"/>
                <a:gridCol w="2651760"/>
              </a:tblGrid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구성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02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RAG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02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Judge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02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비용최적화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02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이 구성으로 알 수 있는 것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02C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230"/>
                          </a:solidFill>
                        </a:rPr>
                        <a:t>base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230"/>
                          </a:solidFill>
                        </a:rPr>
                        <a:t>Before 기준선 (교수님 원본)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230"/>
                          </a:solidFill>
                        </a:rPr>
                        <a:t>+RAG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230"/>
                          </a:solidFill>
                        </a:rPr>
                        <a:t>O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230"/>
                          </a:solidFill>
                        </a:rPr>
                        <a:t>RAG 단독 효과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230"/>
                          </a:solidFill>
                        </a:rPr>
                        <a:t>+Judge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230"/>
                          </a:solidFill>
                        </a:rPr>
                        <a:t>O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230"/>
                          </a:solidFill>
                        </a:rPr>
                        <a:t>O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230"/>
                          </a:solidFill>
                        </a:rPr>
                        <a:t>Judge가 추가로 바꾼 것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230"/>
                          </a:solidFill>
                        </a:rPr>
                        <a:t>+비용최적화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230"/>
                          </a:solidFill>
                        </a:rPr>
                        <a:t>O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230"/>
                          </a:solidFill>
                        </a:rPr>
                        <a:t>O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230"/>
                          </a:solidFill>
                        </a:rPr>
                        <a:t>O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230"/>
                          </a:solidFill>
                        </a:rPr>
                        <a:t>비용을 줄일 때 품질 손실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7498080" y="1371600"/>
            <a:ext cx="411480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b="1" dirty="0">
                <a:solidFill>
                  <a:schemeClr val="tx1"/>
                </a:solidFill>
              </a:rPr>
              <a:t>평가셋 24건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정상 12 (런북 6종 x 2) · 형식 제약 3 · 복합 3 · 미등록 3 · 모호 3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600" dirty="0">
                <a:solidFill>
                  <a:schemeClr val="tx1"/>
                </a:solidFill>
              </a:rPr>
              <a:t> 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b="1" dirty="0">
                <a:solidFill>
                  <a:schemeClr val="tx1"/>
                </a:solidFill>
              </a:rPr>
              <a:t>측정 축을 분리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검색: Recall@k, MRR, 투입 런북 정밀도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답변: 평가 Judge 4지표 + 런북 핵심 어구 포함률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운영: 지연, 토큰, 추정 비용, 재작성</a:t>
            </a:r>
            <a:endParaRPr lang="en-US" sz="1400" dirty="0"/>
          </a:p>
        </p:txBody>
      </p:sp>
      <p:sp>
        <p:nvSpPr>
          <p:cNvPr id="5" name="judge-sep"/>
          <p:cNvSpPr/>
          <p:nvPr/>
        </p:nvSpPr>
        <p:spPr>
          <a:xfrm>
            <a:off x="548640" y="4206240"/>
            <a:ext cx="11064240" cy="1874520"/>
          </a:xfrm>
          <a:prstGeom prst="roundRect">
            <a:avLst>
              <a:gd name="adj" fmla="val 585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822960" y="4343400"/>
            <a:ext cx="105156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b="1" dirty="0">
                <a:solidFill>
                  <a:srgbClr val="16202C"/>
                </a:solidFill>
              </a:rPr>
              <a:t>평가자를 따로 둔다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평가 Judge는 gpt-4o로 고정했다. 파이프라인 안 Judge(gpt-4o-mini)와 같은 모델로 채점하면, 그 기준에 맞춰 고친 답이 자동으로 높게 나온다.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Judge 자체도 틀릴 수 있어서 Judge와 무관한 결정적 지표(측정 전에 정해 둔 런북 핵심 어구 포함률)와 사람 라벨로 검증한다.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Before/After 1: 검색 정확도가 두 배가 됐다</a:t>
            </a:r>
            <a:endParaRPr lang="en-US" sz="3000" dirty="0"/>
          </a:p>
        </p:txBody>
      </p:sp>
      <p:graphicFrame>
        <p:nvGraphicFramePr>
          <p:cNvPr id="3" name="chart-recall" descr=""/>
          <p:cNvGraphicFramePr/>
          <p:nvPr/>
        </p:nvGraphicFramePr>
        <p:xfrm>
          <a:off x="548640" y="1371600"/>
          <a:ext cx="5486400" cy="42062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4" name="chart-precision" descr=""/>
          <p:cNvGraphicFramePr/>
          <p:nvPr/>
        </p:nvGraphicFramePr>
        <p:xfrm>
          <a:off x="6153912" y="1371600"/>
          <a:ext cx="5486400" cy="42062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5" name="Text 1"/>
          <p:cNvSpPr txBox="1"/>
          <p:nvPr/>
        </p:nvSpPr>
        <p:spPr>
          <a:xfrm>
            <a:off x="548640" y="571500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accent3"/>
                </a:solidFill>
              </a:rPr>
              <a:t>MRR 0.444 → 0.806 · 장애 경로 15건만 보면 Recall@1 43% → 87% · RAG 순위는 세 RAG 구성에서 동일 (임베딩 결정적)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Before/After 2: 답변 품질 — 평가 Judge는 포화됐다</a:t>
            </a:r>
            <a:endParaRPr lang="en-US" sz="3000" dirty="0"/>
          </a:p>
        </p:txBody>
      </p:sp>
      <p:graphicFrame>
        <p:nvGraphicFramePr>
          <p:cNvPr id="3" name="chart-must" descr=""/>
          <p:cNvGraphicFramePr/>
          <p:nvPr/>
        </p:nvGraphicFramePr>
        <p:xfrm>
          <a:off x="548640" y="1371600"/>
          <a:ext cx="5486400" cy="39319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4" name="chart-judge" descr=""/>
          <p:cNvGraphicFramePr/>
          <p:nvPr/>
        </p:nvGraphicFramePr>
        <p:xfrm>
          <a:off x="6153912" y="1371600"/>
          <a:ext cx="5486400" cy="39319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5" name="Text 1"/>
          <p:cNvSpPr txBox="1"/>
          <p:nvPr/>
        </p:nvSpPr>
        <p:spPr>
          <a:xfrm>
            <a:off x="548640" y="544068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평가 Judge는 근거가 빈 답과 Kafka 질문에 auth-service 얘기만 한 답도 통과시켰다. 그래서 결정적 지표를 함께 본다. </a:t>
            </a:r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사람 라벨 일치율: 라벨 입력 후 산출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Before/After 3: Judge는 비용을, 캐스케이드는 절감을 만들었다</a:t>
            </a:r>
            <a:endParaRPr lang="en-US" sz="3000" dirty="0"/>
          </a:p>
        </p:txBody>
      </p:sp>
      <p:graphicFrame>
        <p:nvGraphicFramePr>
          <p:cNvPr id="3" name="chart-cost" descr=""/>
          <p:cNvGraphicFramePr/>
          <p:nvPr/>
        </p:nvGraphicFramePr>
        <p:xfrm>
          <a:off x="548640" y="1371600"/>
          <a:ext cx="5486400" cy="39319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4" name="chart-p95" descr=""/>
          <p:cNvGraphicFramePr/>
          <p:nvPr/>
        </p:nvGraphicFramePr>
        <p:xfrm>
          <a:off x="6153912" y="1371600"/>
          <a:ext cx="5486400" cy="39319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5" name="Text 1"/>
          <p:cNvSpPr txBox="1"/>
          <p:nvPr/>
        </p:nvSpPr>
        <p:spPr>
          <a:xfrm>
            <a:off x="548640" y="544068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+Judge: gpt-4o write 20회 → 26회 (재작성 6회). 비용 증가는 Judge 호출이 아니라 재작성에서 나온다.  +비용최적화: write 23회 중 20회를 gpt-4o-mini로 처리, 비용 76% 감소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Judge가 반려한 답은 전부 런북이 없는 질문이었다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71600"/>
            <a:ext cx="5852160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500" b="1" dirty="0">
                <a:solidFill>
                  <a:schemeClr val="tx1"/>
                </a:solidFill>
              </a:rPr>
              <a:t>재작성이 일어난 질의: Q20(미등록), Q21(미등록), Q22(모호)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정상 질의 12건에서는 한 번도 반려하지 않았다.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Kafka·SSL처럼 런북에 없는 문제에 "런북 절차를 반영하라"며 반려했다. 재작성으로는 채울 수 없는 요구다.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Q21은 재시도 상한 2회에서 가드가 멈췄다. 무한 루프 가드가 실제로 작동했다.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+RAG → +Judge의 어구 포함률 차이는 재작성 0회인 건에서 났다. Judge 효과가 아니라 실행 간 변동이다.</a:t>
            </a:r>
            <a:endParaRPr lang="en-US" sz="1500" dirty="0"/>
          </a:p>
        </p:txBody>
      </p:sp>
      <p:sp>
        <p:nvSpPr>
          <p:cNvPr id="4" name="q20-card"/>
          <p:cNvSpPr/>
          <p:nvPr/>
        </p:nvSpPr>
        <p:spPr>
          <a:xfrm>
            <a:off x="6675120" y="1371600"/>
            <a:ext cx="4965192" cy="3931920"/>
          </a:xfrm>
          <a:prstGeom prst="roundRect">
            <a:avLst>
              <a:gd name="adj" fmla="val 279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949440" y="1600200"/>
            <a:ext cx="443484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6202C"/>
                </a:solidFill>
              </a:rPr>
              <a:t>Q20 "Kafka 컨슈머 랙이 쌓입니다"</a:t>
            </a:r>
            <a:endParaRPr lang="en-US" sz="1600" dirty="0"/>
          </a:p>
          <a:p>
            <a:pPr indent="0" marL="0">
              <a:buNone/>
            </a:pPr>
            <a:r>
              <a:rPr lang="en-US" sz="600" dirty="0">
                <a:solidFill>
                  <a:schemeClr val="tx1"/>
                </a:solidFill>
              </a:rPr>
              <a:t> 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+RAG (재작성 없음): 평가 Pass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Kafka 언급 없이 auth-service 응답 지연 절차만 답함</a:t>
            </a:r>
            <a:endParaRPr lang="en-US" sz="1600" dirty="0"/>
          </a:p>
          <a:p>
            <a:pPr indent="0" marL="0">
              <a:buNone/>
            </a:pPr>
            <a:r>
              <a:rPr lang="en-US" sz="600" dirty="0">
                <a:solidFill>
                  <a:schemeClr val="tx1"/>
                </a:solidFill>
              </a:rPr>
              <a:t> 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+Judge (재작성 2회): 평가 Fail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"Kafka 문제를 해결하기 위해 auth-service를 점검합니다"처럼 질문과 근거를 억지로 이어 붙임</a:t>
            </a:r>
            <a:endParaRPr lang="en-US" sz="1600" dirty="0"/>
          </a:p>
          <a:p>
            <a:pPr indent="0" marL="0">
              <a:buNone/>
            </a:pPr>
            <a:r>
              <a:rPr lang="en-US" sz="600" dirty="0">
                <a:solidFill>
                  <a:schemeClr val="tx1"/>
                </a:solidFill>
              </a:rPr>
              <a:t> 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E8833A"/>
                </a:solidFill>
              </a:rPr>
              <a:t>둘 다 정답은 "등록된 런북에 없다"를 밝히는 것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캐시: 같은 질문이 반복될 때만 효과가 있다</a:t>
            </a:r>
            <a:endParaRPr lang="en-US" sz="3000" dirty="0"/>
          </a:p>
        </p:txBody>
      </p:sp>
      <p:sp>
        <p:nvSpPr>
          <p:cNvPr id="3" name="stat-hit"/>
          <p:cNvSpPr/>
          <p:nvPr/>
        </p:nvSpPr>
        <p:spPr>
          <a:xfrm>
            <a:off x="548640" y="1463040"/>
            <a:ext cx="3520440" cy="1828800"/>
          </a:xfrm>
          <a:prstGeom prst="roundRect">
            <a:avLst>
              <a:gd name="adj" fmla="val 6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822960" y="1691640"/>
            <a:ext cx="2971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2"/>
                </a:solidFill>
              </a:rPr>
              <a:t>64 / 64</a:t>
            </a:r>
            <a:endParaRPr lang="en-US" sz="40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2606040"/>
            <a:ext cx="29718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2회차 캐시 적중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(route·plan·질의 임베딩)</a:t>
            </a:r>
            <a:endParaRPr lang="en-US" sz="1400" dirty="0"/>
          </a:p>
        </p:txBody>
      </p:sp>
      <p:sp>
        <p:nvSpPr>
          <p:cNvPr id="6" name="stat-cache-cost"/>
          <p:cNvSpPr/>
          <p:nvPr/>
        </p:nvSpPr>
        <p:spPr>
          <a:xfrm>
            <a:off x="4334256" y="1463040"/>
            <a:ext cx="3520440" cy="1828800"/>
          </a:xfrm>
          <a:prstGeom prst="roundRect">
            <a:avLst>
              <a:gd name="adj" fmla="val 6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608576" y="1691640"/>
            <a:ext cx="2971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6"/>
                </a:solidFill>
              </a:rPr>
              <a:t>-31%</a:t>
            </a:r>
            <a:endParaRPr lang="en-US" sz="4000" dirty="0"/>
          </a:p>
        </p:txBody>
      </p:sp>
      <p:sp>
        <p:nvSpPr>
          <p:cNvPr id="8" name="Text 6"/>
          <p:cNvSpPr txBox="1"/>
          <p:nvPr/>
        </p:nvSpPr>
        <p:spPr>
          <a:xfrm>
            <a:off x="4608576" y="2606040"/>
            <a:ext cx="29718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24건 비용, 1회차 → 2회차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$0.0204 → $0.0141</a:t>
            </a:r>
            <a:endParaRPr lang="en-US" sz="1400" dirty="0"/>
          </a:p>
        </p:txBody>
      </p:sp>
      <p:sp>
        <p:nvSpPr>
          <p:cNvPr id="9" name="stat-cache-lat"/>
          <p:cNvSpPr/>
          <p:nvPr/>
        </p:nvSpPr>
        <p:spPr>
          <a:xfrm>
            <a:off x="8119872" y="1463040"/>
            <a:ext cx="3520440" cy="1828800"/>
          </a:xfrm>
          <a:prstGeom prst="roundRect">
            <a:avLst>
              <a:gd name="adj" fmla="val 6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394192" y="1691640"/>
            <a:ext cx="2971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6"/>
                </a:solidFill>
              </a:rPr>
              <a:t>-28%</a:t>
            </a:r>
            <a:endParaRPr lang="en-US" sz="4000" dirty="0"/>
          </a:p>
        </p:txBody>
      </p:sp>
      <p:sp>
        <p:nvSpPr>
          <p:cNvPr id="11" name="Text 9"/>
          <p:cNvSpPr txBox="1"/>
          <p:nvPr/>
        </p:nvSpPr>
        <p:spPr>
          <a:xfrm>
            <a:off x="8394192" y="2606040"/>
            <a:ext cx="29718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지연 p50, 1회차 → 2회차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7.2초 → 5.2초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548640" y="3657600"/>
            <a:ext cx="1106424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Ablation 본 실행(각 질의 1회)에서는 24개 질의가 정규화 후에도 모두 달라 캐시가 한 번도 맞지 않았다. 그래서 같은 24건을 같은 프로세스에서 두 번 연속 돌려 따로 쟀다.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모니터링 값과 최종 답은 캐시하지 않는다. 장애 상황은 호출마다 바뀌기 때문이다.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대가: TTL 10분 동안은 런북이 바뀌어도 옛 결과를 쓴다. 문장이 조금만 달라도 적중하지 않는다.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한계와 다음 개선</a:t>
            </a:r>
            <a:endParaRPr lang="en-US" sz="3000" dirty="0"/>
          </a:p>
        </p:txBody>
      </p:sp>
      <p:sp>
        <p:nvSpPr>
          <p:cNvPr id="3" name="lim-0"/>
          <p:cNvSpPr/>
          <p:nvPr/>
        </p:nvSpPr>
        <p:spPr>
          <a:xfrm>
            <a:off x="548640" y="1325880"/>
            <a:ext cx="11064240" cy="1078992"/>
          </a:xfrm>
          <a:prstGeom prst="roundRect">
            <a:avLst>
              <a:gd name="adj" fmla="val 1016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lim-dot-0"/>
          <p:cNvSpPr/>
          <p:nvPr/>
        </p:nvSpPr>
        <p:spPr>
          <a:xfrm>
            <a:off x="777240" y="1655064"/>
            <a:ext cx="411480" cy="41148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77240" y="1655064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!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417320" y="1463040"/>
            <a:ext cx="4754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RAG에 최소 유사도 기준이 없다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1417320" y="187452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미등록 질의에도 런북을 넣는다 (평균 투입 0.83 → 1.33개)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6400800" y="1463040"/>
            <a:ext cx="5029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다음: 유사도 임계값 + '등록된 런북 없음' 안내 경로</a:t>
            </a:r>
            <a:endParaRPr lang="en-US" sz="1400" dirty="0"/>
          </a:p>
        </p:txBody>
      </p:sp>
      <p:sp>
        <p:nvSpPr>
          <p:cNvPr id="9" name="lim-1"/>
          <p:cNvSpPr/>
          <p:nvPr/>
        </p:nvSpPr>
        <p:spPr>
          <a:xfrm>
            <a:off x="548640" y="2542032"/>
            <a:ext cx="11064240" cy="1078992"/>
          </a:xfrm>
          <a:prstGeom prst="roundRect">
            <a:avLst>
              <a:gd name="adj" fmla="val 1016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lim-dot-1"/>
          <p:cNvSpPr/>
          <p:nvPr/>
        </p:nvSpPr>
        <p:spPr>
          <a:xfrm>
            <a:off x="777240" y="2871216"/>
            <a:ext cx="411480" cy="41148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777240" y="2871216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!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1417320" y="2679192"/>
            <a:ext cx="4754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Judge가 근거 밖 요구로 반려한다</a:t>
            </a:r>
            <a:endParaRPr lang="en-US" sz="1600" dirty="0"/>
          </a:p>
        </p:txBody>
      </p:sp>
      <p:sp>
        <p:nvSpPr>
          <p:cNvPr id="13" name="Text 11"/>
          <p:cNvSpPr txBox="1"/>
          <p:nvPr/>
        </p:nvSpPr>
        <p:spPr>
          <a:xfrm>
            <a:off x="1417320" y="3090672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고칠 수 없는 반려로 재작성·비용만 늘었다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6400800" y="2679192"/>
            <a:ext cx="5029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다음: 반려 사유를 근거 안/밖으로 나누고, 밖이면 재작성 대신 안내</a:t>
            </a:r>
            <a:endParaRPr lang="en-US" sz="1400" dirty="0"/>
          </a:p>
        </p:txBody>
      </p:sp>
      <p:sp>
        <p:nvSpPr>
          <p:cNvPr id="15" name="lim-2"/>
          <p:cNvSpPr/>
          <p:nvPr/>
        </p:nvSpPr>
        <p:spPr>
          <a:xfrm>
            <a:off x="548640" y="3758184"/>
            <a:ext cx="11064240" cy="1078992"/>
          </a:xfrm>
          <a:prstGeom prst="roundRect">
            <a:avLst>
              <a:gd name="adj" fmla="val 1016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6" name="lim-dot-2"/>
          <p:cNvSpPr/>
          <p:nvPr/>
        </p:nvSpPr>
        <p:spPr>
          <a:xfrm>
            <a:off x="777240" y="4087368"/>
            <a:ext cx="411480" cy="41148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777240" y="4087368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!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1417320" y="3895344"/>
            <a:ext cx="4754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라우터가 형식 제약 질의를 놓친다</a:t>
            </a:r>
            <a:endParaRPr lang="en-US" sz="1600" dirty="0"/>
          </a:p>
        </p:txBody>
      </p:sp>
      <p:sp>
        <p:nvSpPr>
          <p:cNvPr id="19" name="Text 17"/>
          <p:cNvSpPr txBox="1"/>
          <p:nvPr/>
        </p:nvSpPr>
        <p:spPr>
          <a:xfrm>
            <a:off x="1417320" y="4306824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'50자 이내', '표로' 질의 3건이 4구성 모두 chat으로 빠졌다</a:t>
            </a:r>
            <a:endParaRPr lang="en-US" sz="1300" dirty="0"/>
          </a:p>
        </p:txBody>
      </p:sp>
      <p:sp>
        <p:nvSpPr>
          <p:cNvPr id="20" name="Text 18"/>
          <p:cNvSpPr txBox="1"/>
          <p:nvPr/>
        </p:nvSpPr>
        <p:spPr>
          <a:xfrm>
            <a:off x="6400800" y="3895344"/>
            <a:ext cx="5029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다음: 라우팅 프롬프트 개선 후 같은 평가셋으로 재측정</a:t>
            </a:r>
            <a:endParaRPr lang="en-US" sz="1400" dirty="0"/>
          </a:p>
        </p:txBody>
      </p:sp>
      <p:sp>
        <p:nvSpPr>
          <p:cNvPr id="21" name="lim-3"/>
          <p:cNvSpPr/>
          <p:nvPr/>
        </p:nvSpPr>
        <p:spPr>
          <a:xfrm>
            <a:off x="548640" y="4974336"/>
            <a:ext cx="11064240" cy="1078992"/>
          </a:xfrm>
          <a:prstGeom prst="roundRect">
            <a:avLst>
              <a:gd name="adj" fmla="val 1016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2" name="lim-dot-3"/>
          <p:cNvSpPr/>
          <p:nvPr/>
        </p:nvSpPr>
        <p:spPr>
          <a:xfrm>
            <a:off x="777240" y="5303520"/>
            <a:ext cx="411480" cy="41148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777240" y="530352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!</a:t>
            </a:r>
            <a:endParaRPr lang="en-US" sz="1600" dirty="0"/>
          </a:p>
        </p:txBody>
      </p:sp>
      <p:sp>
        <p:nvSpPr>
          <p:cNvPr id="24" name="Text 22"/>
          <p:cNvSpPr txBox="1"/>
          <p:nvPr/>
        </p:nvSpPr>
        <p:spPr>
          <a:xfrm>
            <a:off x="1417320" y="5111496"/>
            <a:ext cx="4754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n=24, 1회 실행</a:t>
            </a:r>
            <a:endParaRPr lang="en-US" sz="1600" dirty="0"/>
          </a:p>
        </p:txBody>
      </p:sp>
      <p:sp>
        <p:nvSpPr>
          <p:cNvPr id="25" name="Text 23"/>
          <p:cNvSpPr txBox="1"/>
          <p:nvPr/>
        </p:nvSpPr>
        <p:spPr>
          <a:xfrm>
            <a:off x="1417320" y="5522976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질의 1건 = 4.2%p. 실행 간 변동이 어구 기준 약 8%p</a:t>
            </a:r>
            <a:endParaRPr lang="en-US" sz="1300" dirty="0"/>
          </a:p>
        </p:txBody>
      </p:sp>
      <p:sp>
        <p:nvSpPr>
          <p:cNvPr id="26" name="Text 24"/>
          <p:cNvSpPr txBox="1"/>
          <p:nvPr/>
        </p:nvSpPr>
        <p:spPr>
          <a:xfrm>
            <a:off x="6400800" y="5111496"/>
            <a:ext cx="5029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다음: 반복 실행으로 분산 측정, 평가셋 확장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011680"/>
            <a:ext cx="10698480" cy="146304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개선을 하나씩 켜 봐야 무엇이 효과인지 안다</a:t>
            </a: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657600"/>
            <a:ext cx="1069848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chemeClr val="bg2"/>
                </a:solidFill>
              </a:rPr>
              <a:t>RAG가 품질을 올렸고, Judge는 기준을 잘못 세우면 비용만 늘리며, 캐스케이드로 base보다 싸게 만들었다.</a:t>
            </a:r>
            <a:endParaRPr lang="en-US" sz="1800" dirty="0"/>
          </a:p>
          <a:p>
            <a:pPr algn="l" indent="0" marL="0">
              <a:buNone/>
            </a:pPr>
            <a:r>
              <a:rPr lang="en-US" sz="1400" dirty="0">
                <a:solidFill>
                  <a:schemeClr val="accent3"/>
                </a:solidFill>
              </a:rPr>
              <a:t>github.com/jang961111-hash/incident-agent-ablation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Incident Ablation">
  <a:themeElements>
    <a:clrScheme name="Incident Ablation">
      <a:dk1>
        <a:srgbClr val="1A2230"/>
      </a:dk1>
      <a:lt1>
        <a:srgbClr val="FFFFFF"/>
      </a:lt1>
      <a:dk2>
        <a:srgbClr val="16202C"/>
      </a:dk2>
      <a:lt2>
        <a:srgbClr val="EEF2F6"/>
      </a:lt2>
      <a:accent1>
        <a:srgbClr val="E8833A"/>
      </a:accent1>
      <a:accent2>
        <a:srgbClr val="1F8A70"/>
      </a:accent2>
      <a:accent3>
        <a:srgbClr val="8A94A3"/>
      </a:accent3>
      <a:accent4>
        <a:srgbClr val="C9A227"/>
      </a:accent4>
      <a:accent5>
        <a:srgbClr val="D1495B"/>
      </a:accent5>
      <a:accent6>
        <a:srgbClr val="155E4B"/>
      </a:accent6>
      <a:hlink>
        <a:srgbClr val="1F8A70"/>
      </a:hlink>
      <a:folHlink>
        <a:srgbClr val="155E4B"/>
      </a:folHlink>
    </a:clrScheme>
    <a:fontScheme name="Incident Ablation">
      <a:majorFont>
        <a:latin typeface="Apple SD Gothic Neo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ple SD Gothic Neo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인시던트 에이전트 개선 Ablation</dc:title>
  <dc:subject>PptxGenJS Presentation</dc:subject>
  <dc:creator>장병헌 (G062)</dc:creator>
  <cp:lastModifiedBy>장병헌 (G062)</cp:lastModifiedBy>
  <cp:revision>1</cp:revision>
  <dcterms:created xsi:type="dcterms:W3CDTF">2026-10-21T01:55:29Z</dcterms:created>
  <dcterms:modified xsi:type="dcterms:W3CDTF">2026-10-21T01:55:29Z</dcterms:modified>
</cp:coreProperties>
</file>