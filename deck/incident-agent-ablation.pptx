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b6cd8255-b705-2025-f3d4-9430ab96d4bf}">
          <p14:sldIdLst>
            <p14:sldId id="256"/>
          </p14:sldIdLst>
        </p14:section>
        <p14:section name="요약" id="{b74a74bc-acaa-c8b1-b39a-1fd407481576}">
          <p14:sldIdLst>
            <p14:sldId id="257"/>
          </p14:sldIdLst>
        </p14:section>
        <p14:section name="문제" id="{b7075e04-b1a4-306c-7607-41031d73d257}">
          <p14:sldIdLst>
            <p14:sldId id="258"/>
            <p14:sldId id="259"/>
          </p14:sldIdLst>
        </p14:section>
        <p14:section name="개선" id="{09f02686-12c0-2def-8d1a-1af39d22e9d7}">
          <p14:sldIdLst>
            <p14:sldId id="260"/>
          </p14:sldIdLst>
        </p14:section>
        <p14:section name="평가 설계" id="{025c52fa-ab33-1ffe-c896-9145c26be7c8}">
          <p14:sldIdLst>
            <p14:sldId id="261"/>
          </p14:sldIdLst>
        </p14:section>
        <p14:section name="Before/After" id="{649b8a05-ca88-e315-d63b-8417bdde0898}">
          <p14:sldIdLst>
            <p14:sldId id="262"/>
            <p14:sldId id="263"/>
            <p14:sldId id="264"/>
            <p14:sldId id="265"/>
            <p14:sldId id="266"/>
          </p14:sldIdLst>
        </p14:section>
        <p14:section name="한계" id="{ff7fbd6d-68f3-1ac9-8f99-7b81cd3f731b}">
          <p14:sldIdLst>
            <p14:sldId id="267"/>
          </p14:sldIdLst>
        </p14:section>
        <p14:section name="마무리" id="{500f9063-ebdc-3d86-1b84-569c965d51c3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202C"/>
                </a:solidFill>
                <a:latin typeface="Apple SD Gothic Neo"/>
              </a:defRPr>
            </a:pPr>
            <a:r>
              <a:rPr sz="1400" b="0" i="0" u="none" strike="noStrike">
                <a:solidFill>
                  <a:srgbClr val="16202C"/>
                </a:solidFill>
                <a:latin typeface="Apple SD Gothic Neo"/>
              </a:rPr>
              <a:t>Recall@1 (gold 18건)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Recall@1 (gold 18건)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230"/>
                    </a:solidFill>
                    <a:latin typeface="Apple SD Gothic Ne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</c:v>
                  </c:pt>
                  <c:pt idx="3">
                    <c:v>+비용최적화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0.3611111111111111</c:v>
                </c:pt>
                <c:pt idx="1">
                  <c:v>0.7222222222222222</c:v>
                </c:pt>
                <c:pt idx="2">
                  <c:v>0.7222222222222222</c:v>
                </c:pt>
                <c:pt idx="3">
                  <c:v>0.7222222222222222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2230"/>
                  </a:solidFill>
                  <a:latin typeface="Apple SD Gothic Ne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230"/>
                </a:solidFill>
                <a:latin typeface="Apple SD Gothic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pple SD Gothic Ne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202C"/>
                </a:solidFill>
                <a:latin typeface="Apple SD Gothic Neo"/>
              </a:defRPr>
            </a:pPr>
            <a:r>
              <a:rPr sz="1400" b="0" i="0" u="none" strike="noStrike">
                <a:solidFill>
                  <a:srgbClr val="16202C"/>
                </a:solidFill>
                <a:latin typeface="Apple SD Gothic Neo"/>
              </a:rPr>
              <a:t>write에 넣은 런북의 정밀도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write에 넣은 런북의 정밀도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230"/>
                    </a:solidFill>
                    <a:latin typeface="Apple SD Gothic Ne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</c:v>
                  </c:pt>
                  <c:pt idx="3">
                    <c:v>+비용최적화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0.5333333333333333</c:v>
                </c:pt>
                <c:pt idx="1">
                  <c:v>0.7777777777777778</c:v>
                </c:pt>
                <c:pt idx="2">
                  <c:v>0.7777777777777778</c:v>
                </c:pt>
                <c:pt idx="3">
                  <c:v>0.7777777777777778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2230"/>
                  </a:solidFill>
                  <a:latin typeface="Apple SD Gothic Ne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230"/>
                </a:solidFill>
                <a:latin typeface="Apple SD Gothic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pple SD Gothic Ne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202C"/>
                </a:solidFill>
                <a:latin typeface="Apple SD Gothic Neo"/>
              </a:defRPr>
            </a:pPr>
            <a:r>
              <a:rPr sz="1400" b="0" i="0" u="none" strike="noStrike">
                <a:solidFill>
                  <a:srgbClr val="16202C"/>
                </a:solidFill>
                <a:latin typeface="Apple SD Gothic Neo"/>
              </a:rPr>
              <a:t>런북 핵심 어구 포함률 (Judge 무관, 13건)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런북 핵심 어구 포함률 (Judge 무관, 13건)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230"/>
                    </a:solidFill>
                    <a:latin typeface="Apple SD Gothic Ne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</c:v>
                  </c:pt>
                  <c:pt idx="3">
                    <c:v>+비용최적화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0.36</c:v>
                </c:pt>
                <c:pt idx="1">
                  <c:v>0.8</c:v>
                </c:pt>
                <c:pt idx="2">
                  <c:v>0.88</c:v>
                </c:pt>
                <c:pt idx="3">
                  <c:v>0.84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2230"/>
                  </a:solidFill>
                  <a:latin typeface="Apple SD Gothic Ne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230"/>
                </a:solidFill>
                <a:latin typeface="Apple SD Gothic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pple SD Gothic Ne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202C"/>
                </a:solidFill>
                <a:latin typeface="Apple SD Gothic Neo"/>
              </a:defRPr>
            </a:pPr>
            <a:r>
              <a:rPr sz="1400" b="0" i="0" u="none" strike="noStrike">
                <a:solidFill>
                  <a:srgbClr val="16202C"/>
                </a:solidFill>
                <a:latin typeface="Apple SD Gothic Neo"/>
              </a:rPr>
              <a:t>평가 Judge(gpt-4o) 통과율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평가 Judge(gpt-4o) 통과율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230"/>
                    </a:solidFill>
                    <a:latin typeface="Apple SD Gothic Ne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</c:v>
                  </c:pt>
                  <c:pt idx="3">
                    <c:v>+비용최적화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0.8333333333333334</c:v>
                </c:pt>
                <c:pt idx="1">
                  <c:v>1</c:v>
                </c:pt>
                <c:pt idx="2">
                  <c:v>0.9583333333333334</c:v>
                </c:pt>
                <c:pt idx="3">
                  <c:v>0.9583333333333334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2230"/>
                  </a:solidFill>
                  <a:latin typeface="Apple SD Gothic Ne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230"/>
                </a:solidFill>
                <a:latin typeface="Apple SD Gothic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pple SD Gothic Ne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202C"/>
                </a:solidFill>
                <a:latin typeface="Apple SD Gothic Neo"/>
              </a:defRPr>
            </a:pPr>
            <a:r>
              <a:rPr sz="1400" b="0" i="0" u="none" strike="noStrike">
                <a:solidFill>
                  <a:srgbClr val="16202C"/>
                </a:solidFill>
                <a:latin typeface="Apple SD Gothic Neo"/>
              </a:rPr>
              <a:t>24건 추정 비용 (USD)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24건 추정 비용 (USD)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$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230"/>
                    </a:solidFill>
                    <a:latin typeface="Apple SD Gothic Ne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</c:v>
                  </c:pt>
                  <c:pt idx="3">
                    <c:v>+비용최적화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0.06466835</c:v>
                </c:pt>
                <c:pt idx="1">
                  <c:v>0.07314637</c:v>
                </c:pt>
                <c:pt idx="2">
                  <c:v>0.11182292</c:v>
                </c:pt>
                <c:pt idx="3">
                  <c:v>0.026433919999999996</c:v>
                </c:pt>
              </c:numCache>
            </c:numRef>
          </c:val>
        </c:ser>
        <c:dLbls>
          <c:numFmt formatCode="$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A2230"/>
                  </a:solidFill>
                  <a:latin typeface="Apple SD Gothic Ne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230"/>
                </a:solidFill>
                <a:latin typeface="Apple SD Gothic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pple SD Gothic Ne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202C"/>
                </a:solidFill>
                <a:latin typeface="Apple SD Gothic Neo"/>
              </a:defRPr>
            </a:pPr>
            <a:r>
              <a:rPr sz="1400" b="0" i="0" u="none" strike="noStrike">
                <a:solidFill>
                  <a:srgbClr val="16202C"/>
                </a:solidFill>
                <a:latin typeface="Apple SD Gothic Neo"/>
              </a:rPr>
              <a:t>지연 p95 (초)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지연 p95 (초)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230"/>
                    </a:solidFill>
                    <a:latin typeface="Apple SD Gothic Ne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</c:v>
                  </c:pt>
                  <c:pt idx="3">
                    <c:v>+비용최적화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6.833091159846662</c:v>
                </c:pt>
                <c:pt idx="1">
                  <c:v>7.339415000004372</c:v>
                </c:pt>
                <c:pt idx="2">
                  <c:v>18.120862866901728</c:v>
                </c:pt>
                <c:pt idx="3">
                  <c:v>11.738585025000065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A2230"/>
                  </a:solidFill>
                  <a:latin typeface="Apple SD Gothic Ne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230"/>
                </a:solidFill>
                <a:latin typeface="Apple SD Gothic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pple SD Gothic Ne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교수님 베이스 에이전트에 RAG, LLM Judge, 비용 최적화를 붙였고, 각각을 따로 켜서 어떤 개선이 실제로 효과가 있었는지 수치로 분리했습니다.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숫자가 결론입니다. 검색 정확도는 두 배, 최종 구성 비용은 base보다 싸고, Judge는 품질 이득 없이 비용만 늘렸습니다.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DB가 다운됐다고 해도 auth-service로 폴백되고, 그 서비스의 latency 알림 때문에 응답 지연 런북이 붙습니다.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코드를 직접 읽고 나서 계획을 수정한 부분입니다. 모델 분리는 이미 있었기 때문에 캐스케이드로 바꿨습니다.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개선은 모두 config 플래그로 켜고 끕니다. base를 돌리면 교수님 원본 그래프가 그대로 실행됩니다.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검색 품질과 답변 품질을 분리해서 재면, 검색이 좋아진 구성에서 답도 좋아졌는지를 따로 볼 수 있습니다. 다만 24건 1회 실행이라 인과를 단정하지는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base는 런북을 1개만 고르므로 Recall@3은 공정하지 않아서, 실제로 write에 넣은 런북 기준 정밀도를 같이 봤습니다.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왼쪽이 Judge와 무관하게 런북 문구가 답에 들어갔는지 센 지표입니다. 오른쪽 Judge 통과율은 RAG에서 이미 100%라 차이를 못 보여줍니다.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비용은 공개 단가에 실측 토큰을 곱한 추정치입니다. 평가용 Judge 비용은 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Judge 기준의 완전성·도메인 지표가 '런북 절차를 반영하라'고 요구해서, 맞는 런북이 없는 질문에서는 무관한 절차를 섞도록 압력을 줬습니다.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당직자 여러 명이 같은 알림을 반복해서 묻는 상황을 가정한 측정입니다.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개선이 새로 만든 약점과 측정의 한계를 같이 짚었습니다.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SKALA 4기 AI Mini-Project · 과제1 · 장병헌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인시던트 에이전트 개선, 무엇이 효과였나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개선 3가지를 하나씩 켜 보는 4구성 Ablation으로 기여도를 분해했다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SKALA 4기 AI Mini-Project 과제1 · 광주 2반 장병헌 (G062)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결론: 효과는 RAG에서, 비용은 캐스케이드에서 나왔다</a:t>
            </a:r>
            <a:endParaRPr lang="en-US" sz="3000" dirty="0"/>
          </a:p>
        </p:txBody>
      </p:sp>
      <p:sp>
        <p:nvSpPr>
          <p:cNvPr id="3" name="stat-recall"/>
          <p:cNvSpPr/>
          <p:nvPr/>
        </p:nvSpPr>
        <p:spPr>
          <a:xfrm>
            <a:off x="548640" y="146304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36% → 72%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0604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런북 검색 Recall@1 (gold 18건)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base → RAG</a:t>
            </a:r>
            <a:endParaRPr lang="en-US" sz="1400" dirty="0"/>
          </a:p>
        </p:txBody>
      </p:sp>
      <p:sp>
        <p:nvSpPr>
          <p:cNvPr id="6" name="stat-cost"/>
          <p:cNvSpPr/>
          <p:nvPr/>
        </p:nvSpPr>
        <p:spPr>
          <a:xfrm>
            <a:off x="4334256" y="146304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-59%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60604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추정 비용 base → 최종 (24건)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$0.0647 → $0.0264, 품질 상승은 RAG 몫</a:t>
            </a:r>
            <a:endParaRPr lang="en-US" sz="1400" dirty="0"/>
          </a:p>
        </p:txBody>
      </p:sp>
      <p:sp>
        <p:nvSpPr>
          <p:cNvPr id="9" name="stat-judge"/>
          <p:cNvSpPr/>
          <p:nvPr/>
        </p:nvSpPr>
        <p:spPr>
          <a:xfrm>
            <a:off x="8119872" y="146304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+53%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60604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LLM Judge를 붙였을 때 비용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측정 가능한 품질 이득은 없음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6576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결정적 지표(런북 핵심 어구 포함률):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base 36% → RAG 80% → 최종 84%</a:t>
            </a:r>
            <a:endParaRPr lang="en-US" sz="16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출처: results/*_latest.json (2026-10-21 실행, 4구성 x 24건, 실행 오류 0)</a:t>
            </a:r>
            <a:endParaRPr lang="en-US" sz="1600" dirty="0"/>
          </a:p>
        </p:txBody>
      </p:sp>
      <p:sp>
        <p:nvSpPr>
          <p:cNvPr id="13" name="takeaway"/>
          <p:cNvSpPr/>
          <p:nvPr/>
        </p:nvSpPr>
        <p:spPr>
          <a:xfrm>
            <a:off x="548640" y="4754880"/>
            <a:ext cx="110642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89204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개선을 하나씩 켜서 쟀기 때문에 "RAG를 넣었더니 좋아졌다"가 아니라 "좋아진 건 RAG 덕분이고, Judge는 비용만 늘렸다"까지 말할 수 있다.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문제 1: base는 질문을 읽지 않고 런북을 고른다</a:t>
            </a:r>
            <a:endParaRPr lang="en-US" sz="3000" dirty="0"/>
          </a:p>
        </p:txBody>
      </p:sp>
      <p:sp>
        <p:nvSpPr>
          <p:cNvPr id="3" name="flow-0"/>
          <p:cNvSpPr/>
          <p:nvPr/>
        </p:nvSpPr>
        <p:spPr>
          <a:xfrm>
            <a:off x="54864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00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사용자 질의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057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"DB 프라이머리가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다운됐습니다"</a:t>
            </a:r>
            <a:endParaRPr lang="en-US" sz="1500" dirty="0"/>
          </a:p>
        </p:txBody>
      </p:sp>
      <p:sp>
        <p:nvSpPr>
          <p:cNvPr id="6" name="arrow-0"/>
          <p:cNvSpPr/>
          <p:nvPr/>
        </p:nvSpPr>
        <p:spPr>
          <a:xfrm>
            <a:off x="3063240" y="224028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flow-1"/>
          <p:cNvSpPr/>
          <p:nvPr/>
        </p:nvSpPr>
        <p:spPr>
          <a:xfrm>
            <a:off x="338328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600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planner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057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시스템명 없음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→ auth-service 폴백</a:t>
            </a:r>
            <a:endParaRPr lang="en-US" sz="1500" dirty="0"/>
          </a:p>
        </p:txBody>
      </p:sp>
      <p:sp>
        <p:nvSpPr>
          <p:cNvPr id="10" name="arrow-1"/>
          <p:cNvSpPr/>
          <p:nvPr/>
        </p:nvSpPr>
        <p:spPr>
          <a:xfrm>
            <a:off x="5897880" y="224028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flow-2"/>
          <p:cNvSpPr/>
          <p:nvPr/>
        </p:nvSpPr>
        <p:spPr>
          <a:xfrm>
            <a:off x="62179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1600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모니터링 알림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2057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"p95 latency 2.4s"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키워드 'latency' 일치</a:t>
            </a:r>
            <a:endParaRPr lang="en-US" sz="1500" dirty="0"/>
          </a:p>
        </p:txBody>
      </p:sp>
      <p:sp>
        <p:nvSpPr>
          <p:cNvPr id="14" name="arrow-2"/>
          <p:cNvSpPr/>
          <p:nvPr/>
        </p:nvSpPr>
        <p:spPr>
          <a:xfrm>
            <a:off x="8732520" y="224028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flow-3"/>
          <p:cNvSpPr/>
          <p:nvPr/>
        </p:nvSpPr>
        <p:spPr>
          <a:xfrm>
            <a:off x="905256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0" y="1600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선택된 런북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0" y="2057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high-latency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(응답 지연 절차)</a:t>
            </a:r>
            <a:endParaRPr lang="en-US" sz="1500" dirty="0"/>
          </a:p>
        </p:txBody>
      </p:sp>
      <p:sp>
        <p:nvSpPr>
          <p:cNvPr id="18" name="stat-hl"/>
          <p:cNvSpPr/>
          <p:nvPr/>
        </p:nvSpPr>
        <p:spPr>
          <a:xfrm>
            <a:off x="548640" y="3840480"/>
            <a:ext cx="365760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0690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15 / 20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9834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base가 장애로 처리한 질의 중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high-latency 런북을 받은 건수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3840480"/>
            <a:ext cx="7040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원인 (src/agent/graph.py:192-213)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조사한 시스템의 알림 문구에서 키워드를 순서대로 찾아 첫 일치로 런북 1개를 고른다.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질의 문장은 판단에 쓰이지 않는다. 복합 장애도 런북 1개뿐이다.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base Recall@1 36%, 투입 런북 정밀도 53%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문제 2: 검증은 형식만 보고, 모델 분리는 이미 돼 있었다</a:t>
            </a:r>
            <a:endParaRPr lang="en-US" sz="3000" dirty="0"/>
          </a:p>
        </p:txBody>
      </p:sp>
      <p:sp>
        <p:nvSpPr>
          <p:cNvPr id="3" name="validator-card"/>
          <p:cNvSpPr/>
          <p:nvPr/>
        </p:nvSpPr>
        <p:spPr>
          <a:xfrm>
            <a:off x="548640" y="1463040"/>
            <a:ext cx="5394960" cy="338328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규칙 Validator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len(draft) &gt;= 30 and "1)" in draft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34640"/>
            <a:ext cx="4846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내용이 질문과 맞는지, 근거에 있는지는 보지 않는다.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실측: base 24건 재작성 0회. gpt-4o 답은 항상 30자 이상, "1)" 포함.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응답 지연 절차로 DB 다운에 답해도 통과한다.</a:t>
            </a:r>
            <a:endParaRPr lang="en-US" sz="1500" dirty="0"/>
          </a:p>
        </p:txBody>
      </p:sp>
      <p:sp>
        <p:nvSpPr>
          <p:cNvPr id="7" name="tiering-card"/>
          <p:cNvSpPr/>
          <p:nvPr/>
        </p:nvSpPr>
        <p:spPr>
          <a:xfrm>
            <a:off x="6245352" y="1463040"/>
            <a:ext cx="5394960" cy="338328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19672" y="1645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계획했던 비용 개선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19672" y="2194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 = gpt-4o-mini / quality = gpt-4o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19672" y="2834640"/>
            <a:ext cx="4846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'역할별 모델 분리'는 base에 이미 들어 있었다 (src/server.py:50-56).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그래서 비용 축을 다시 정했다: 1차 초안은 저가 모델, Judge가 반려할 때만 gpt-4o로 재작성 (캐스케이드) + 질의 캐시.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→ 개선 대상: 런북 선택(RAG) · 검증 기준(LLM Judge) · 비용(캐스케이드 + 캐시)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개선: 원본 노드는 그대로, 3개 노드만 플래그로 교체</a:t>
            </a:r>
            <a:endParaRPr lang="en-US" sz="3000" dirty="0"/>
          </a:p>
        </p:txBody>
      </p:sp>
      <p:sp>
        <p:nvSpPr>
          <p:cNvPr id="3" name="axis-0"/>
          <p:cNvSpPr/>
          <p:nvPr/>
        </p:nvSpPr>
        <p:spPr>
          <a:xfrm>
            <a:off x="548640" y="1417320"/>
            <a:ext cx="352044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xis-dot-0"/>
          <p:cNvSpPr/>
          <p:nvPr/>
        </p:nvSpPr>
        <p:spPr>
          <a:xfrm>
            <a:off x="822960" y="16459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45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RAG 런북 선택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교체 노드: replan_check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9748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질의 임베딩(text-embedding-3-small)으로 런북 6개 순위. 1위 점수 -0.05 이내만 write에 투입</a:t>
            </a:r>
            <a:endParaRPr lang="en-US" sz="1400" dirty="0"/>
          </a:p>
        </p:txBody>
      </p:sp>
      <p:sp>
        <p:nvSpPr>
          <p:cNvPr id="9" name="axis-1"/>
          <p:cNvSpPr/>
          <p:nvPr/>
        </p:nvSpPr>
        <p:spPr>
          <a:xfrm>
            <a:off x="4334256" y="1417320"/>
            <a:ext cx="352044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axis-dot-1"/>
          <p:cNvSpPr/>
          <p:nvPr/>
        </p:nvSpPr>
        <p:spPr>
          <a:xfrm>
            <a:off x="4608576" y="164592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08576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248656" y="1645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LLM-as-a-Judge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08576" y="2286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교체 노드: validate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08576" y="269748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4지표(관련성·완전성·도메인·명확성) 3/4 이상 통과. 재시도 2회 또는 120초 중 먼저 닿으면 종료</a:t>
            </a:r>
            <a:endParaRPr lang="en-US" sz="1400" dirty="0"/>
          </a:p>
        </p:txBody>
      </p:sp>
      <p:sp>
        <p:nvSpPr>
          <p:cNvPr id="15" name="axis-2"/>
          <p:cNvSpPr/>
          <p:nvPr/>
        </p:nvSpPr>
        <p:spPr>
          <a:xfrm>
            <a:off x="8119872" y="1417320"/>
            <a:ext cx="352044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axis-dot-2"/>
          <p:cNvSpPr/>
          <p:nvPr/>
        </p:nvSpPr>
        <p:spPr>
          <a:xfrm>
            <a:off x="8394192" y="1645920"/>
            <a:ext cx="502920" cy="5029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94192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034272" y="1645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캐스케이드 + 캐시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394192" y="2286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교체 노드: write · route · plan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269748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1차 초안 gpt-4o-mini, 반려 시에만 gpt-4o. 정규화 질의 키로 route·plan·임베딩 캐시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206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기술 요소</a:t>
            </a:r>
            <a:endParaRPr lang="en-US" sz="1500" dirty="0"/>
          </a:p>
        </p:txBody>
      </p:sp>
      <p:sp>
        <p:nvSpPr>
          <p:cNvPr id="22" name="chip-0"/>
          <p:cNvSpPr/>
          <p:nvPr/>
        </p:nvSpPr>
        <p:spPr>
          <a:xfrm>
            <a:off x="548640" y="4663440"/>
            <a:ext cx="1101852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4663440"/>
            <a:ext cx="11018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LangGraph</a:t>
            </a:r>
            <a:endParaRPr lang="en-US" sz="1200" dirty="0"/>
          </a:p>
        </p:txBody>
      </p:sp>
      <p:sp>
        <p:nvSpPr>
          <p:cNvPr id="24" name="chip-1"/>
          <p:cNvSpPr/>
          <p:nvPr/>
        </p:nvSpPr>
        <p:spPr>
          <a:xfrm>
            <a:off x="1787652" y="4663440"/>
            <a:ext cx="1152144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787652" y="4663440"/>
            <a:ext cx="1152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MCP (원본)</a:t>
            </a:r>
            <a:endParaRPr lang="en-US" sz="1200" dirty="0"/>
          </a:p>
        </p:txBody>
      </p:sp>
      <p:sp>
        <p:nvSpPr>
          <p:cNvPr id="26" name="chip-2"/>
          <p:cNvSpPr/>
          <p:nvPr/>
        </p:nvSpPr>
        <p:spPr>
          <a:xfrm>
            <a:off x="3076956" y="4663440"/>
            <a:ext cx="580644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076956" y="4663440"/>
            <a:ext cx="58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RAG</a:t>
            </a:r>
            <a:endParaRPr lang="en-US" sz="1200" dirty="0"/>
          </a:p>
        </p:txBody>
      </p:sp>
      <p:sp>
        <p:nvSpPr>
          <p:cNvPr id="28" name="chip-3"/>
          <p:cNvSpPr/>
          <p:nvPr/>
        </p:nvSpPr>
        <p:spPr>
          <a:xfrm>
            <a:off x="3794760" y="4663440"/>
            <a:ext cx="1536192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794760" y="466344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LLM-as-a-Judge</a:t>
            </a:r>
            <a:endParaRPr lang="en-US" sz="1200" dirty="0"/>
          </a:p>
        </p:txBody>
      </p:sp>
      <p:sp>
        <p:nvSpPr>
          <p:cNvPr id="30" name="chip-4"/>
          <p:cNvSpPr/>
          <p:nvPr/>
        </p:nvSpPr>
        <p:spPr>
          <a:xfrm>
            <a:off x="5468112" y="4663440"/>
            <a:ext cx="2052828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68112" y="4663440"/>
            <a:ext cx="20528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의존성 주입 (ExtDeps)</a:t>
            </a:r>
            <a:endParaRPr lang="en-US" sz="1200" dirty="0"/>
          </a:p>
        </p:txBody>
      </p:sp>
      <p:sp>
        <p:nvSpPr>
          <p:cNvPr id="32" name="chip-5"/>
          <p:cNvSpPr/>
          <p:nvPr/>
        </p:nvSpPr>
        <p:spPr>
          <a:xfrm>
            <a:off x="7658100" y="4663440"/>
            <a:ext cx="1655064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658100" y="4663440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모듈화 (src/ext)</a:t>
            </a:r>
            <a:endParaRPr lang="en-US" sz="1200" dirty="0"/>
          </a:p>
        </p:txBody>
      </p:sp>
      <p:sp>
        <p:nvSpPr>
          <p:cNvPr id="34" name="chip-6"/>
          <p:cNvSpPr/>
          <p:nvPr/>
        </p:nvSpPr>
        <p:spPr>
          <a:xfrm>
            <a:off x="548640" y="5166360"/>
            <a:ext cx="2226564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8640" y="5166360"/>
            <a:ext cx="22265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LangSmith 트레이스 96건</a:t>
            </a:r>
            <a:endParaRPr lang="en-US" sz="1200" dirty="0"/>
          </a:p>
        </p:txBody>
      </p:sp>
      <p:sp>
        <p:nvSpPr>
          <p:cNvPr id="36" name="chip-7"/>
          <p:cNvSpPr/>
          <p:nvPr/>
        </p:nvSpPr>
        <p:spPr>
          <a:xfrm>
            <a:off x="2912364" y="5166360"/>
            <a:ext cx="1257300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912364" y="5166360"/>
            <a:ext cx="12573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pytest 12개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base 구성은 원본 build_graph를 그대로 호출한다. 원본 파일은 이식 커밋 이후 한 줄도 바뀌지 않았다.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평가: 하나씩 켜는 4구성, 같은 24개 질의</a:t>
            </a:r>
            <a:endParaRPr lang="en-US" sz="3000" dirty="0"/>
          </a:p>
        </p:txBody>
      </p:sp>
      <p:graphicFrame>
        <p:nvGraphicFramePr>
          <p:cNvPr id="7" name="config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"/>
                <a:gridCol w="731520"/>
                <a:gridCol w="1097280"/>
                <a:gridCol w="26517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RAG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Judge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비용최적화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이 구성으로 알 수 있는 것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base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Before 기준선 (교수님 원본)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+RAG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RAG 단독 효과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+Judge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Judge가 추가로 바꾼 것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+비용최적화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비용을 줄일 때 품질 손실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498080" y="1371600"/>
            <a:ext cx="4114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평가셋 24건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정상 12 (런북 6종 x 2) · 형식 제약 3 · 복합 3 · 미등록 3 · 모호 3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측정 축을 분리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검색: Recall@k, MRR, 투입 런북 정밀도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답변: 평가 Judge 4지표 + 런북 핵심 어구 포함률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운영: 지연, 토큰, 추정 비용, 재작성</a:t>
            </a:r>
            <a:endParaRPr lang="en-US" sz="1400" dirty="0"/>
          </a:p>
        </p:txBody>
      </p:sp>
      <p:sp>
        <p:nvSpPr>
          <p:cNvPr id="5" name="judge-sep"/>
          <p:cNvSpPr/>
          <p:nvPr/>
        </p:nvSpPr>
        <p:spPr>
          <a:xfrm>
            <a:off x="548640" y="4206240"/>
            <a:ext cx="1106424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34340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6202C"/>
                </a:solidFill>
              </a:rPr>
              <a:t>평가자를 따로 둔다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평가 Judge는 gpt-4o로 고정했다. 파이프라인 안 Judge(gpt-4o-mini)와 같은 모델로 채점하면, 그 기준에 맞춰 고친 답이 자동으로 높게 나온다.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Judge 자체도 틀릴 수 있어서 Judge와 무관한 결정적 지표(측정 전에 정해 둔 런북 핵심 어구 포함률)를 함께 보고, 사람 라벨로 Judge 일치율을 잰다.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Before/After 1: 검색 정확도가 두 배가 됐다</a:t>
            </a:r>
            <a:endParaRPr lang="en-US" sz="3000" dirty="0"/>
          </a:p>
        </p:txBody>
      </p:sp>
      <p:graphicFrame>
        <p:nvGraphicFramePr>
          <p:cNvPr id="3" name="chart-recall" descr=""/>
          <p:cNvGraphicFramePr/>
          <p:nvPr/>
        </p:nvGraphicFramePr>
        <p:xfrm>
          <a:off x="548640" y="137160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-precision" descr=""/>
          <p:cNvGraphicFramePr/>
          <p:nvPr/>
        </p:nvGraphicFramePr>
        <p:xfrm>
          <a:off x="6153912" y="137160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715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MRR 0.444 → 0.806 · 장애 경로 15건만 보면 Recall@1 43% → 87% · RAG 순위는 세 RAG 구성에서 동일 (임베딩 결정적)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Before/After 2: 답변 품질 — 평가 Judge는 포화됐다</a:t>
            </a:r>
            <a:endParaRPr lang="en-US" sz="3000" dirty="0"/>
          </a:p>
        </p:txBody>
      </p:sp>
      <p:graphicFrame>
        <p:nvGraphicFramePr>
          <p:cNvPr id="3" name="chart-must" descr=""/>
          <p:cNvGraphicFramePr/>
          <p:nvPr/>
        </p:nvGraphicFramePr>
        <p:xfrm>
          <a:off x="548640" y="1371600"/>
          <a:ext cx="54864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-judge" descr=""/>
          <p:cNvGraphicFramePr/>
          <p:nvPr/>
        </p:nvGraphicFramePr>
        <p:xfrm>
          <a:off x="6153912" y="1371600"/>
          <a:ext cx="54864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4406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평가 Judge는 근거가 빈 답과 Kafka 질문에 auth-service 얘기만 한 답도 통과시켰다. 그래서 결정적 지표를 함께 본다. </a:t>
            </a:r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사람 라벨 일치율: 라벨 입력 후 산출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Before/After 3: Judge는 비용을, 캐스케이드는 절감을 만들었다</a:t>
            </a:r>
            <a:endParaRPr lang="en-US" sz="3000" dirty="0"/>
          </a:p>
        </p:txBody>
      </p:sp>
      <p:graphicFrame>
        <p:nvGraphicFramePr>
          <p:cNvPr id="3" name="chart-cost" descr=""/>
          <p:cNvGraphicFramePr/>
          <p:nvPr/>
        </p:nvGraphicFramePr>
        <p:xfrm>
          <a:off x="548640" y="1371600"/>
          <a:ext cx="54864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-p95" descr=""/>
          <p:cNvGraphicFramePr/>
          <p:nvPr/>
        </p:nvGraphicFramePr>
        <p:xfrm>
          <a:off x="6153912" y="1371600"/>
          <a:ext cx="54864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4406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+Judge: gpt-4o write 20회 → 26회 (재작성 6회). 비용 증가는 Judge 호출이 아니라 재작성에서 나온다.  +비용최적화: write 23회 중 20회를 gpt-4o-mini로 처리, 비용 76% 감소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Judge가 반려한 답은 전부 런북이 없는 질문이었다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852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재작성이 일어난 질의: Q20(미등록), Q21(미등록), Q22(모호)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+Judge에서 정상 질의 12건은 한 번도 반려되지 않았다.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Kafka·SSL처럼 맞는 런북이 없는 문제에 "런북 절차를 반영하라"며 반려했다. 재작성된 답은 무관한 절차를 섞는 쪽으로 바뀌었다.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Q21은 재시도 상한 2회에서 가드가 멈췄다 (무한 루프 가드 작동). Q20·Q22는 3회차에 통과했다.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+RAG → +Judge의 어구 포함률 차이는 재작성 0회인 건에서 났다. Judge 효과가 아니라 실행 간 변동으로 본다.</a:t>
            </a:r>
            <a:endParaRPr lang="en-US" sz="1500" dirty="0"/>
          </a:p>
        </p:txBody>
      </p:sp>
      <p:sp>
        <p:nvSpPr>
          <p:cNvPr id="4" name="q20-card"/>
          <p:cNvSpPr/>
          <p:nvPr/>
        </p:nvSpPr>
        <p:spPr>
          <a:xfrm>
            <a:off x="6675120" y="1371600"/>
            <a:ext cx="4965192" cy="393192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49440" y="1600200"/>
            <a:ext cx="4434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2C"/>
                </a:solidFill>
              </a:rPr>
              <a:t>Q20 "Kafka 컨슈머 랙이 계속 쌓이고 있습니다"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+RAG (재작성 없음): 평가 Pass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Kafka 언급 없이 auth-service 응답 지연 절차만 답함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+Judge (재작성 2회): 평가 Fail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"Kafka 컨슈머 랙 문제를 해결하기 위해 먼저 auth-service의 상태를 점검합니다"로 시작해 무관한 절차를 섞음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8833A"/>
                </a:solidFill>
              </a:rPr>
              <a:t>둘 다 정답은 "등록된 런북에 없다"를 밝히는 것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캐시: 반복 질문의 지연을 줄인다, 비용 효과는 작다</a:t>
            </a:r>
            <a:endParaRPr lang="en-US" sz="3000" dirty="0"/>
          </a:p>
        </p:txBody>
      </p:sp>
      <p:sp>
        <p:nvSpPr>
          <p:cNvPr id="3" name="stat-hit"/>
          <p:cNvSpPr/>
          <p:nvPr/>
        </p:nvSpPr>
        <p:spPr>
          <a:xfrm>
            <a:off x="548640" y="146304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64 / 64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0604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2회차 캐시 적중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(route·plan·질의 임베딩)</a:t>
            </a:r>
            <a:endParaRPr lang="en-US" sz="1400" dirty="0"/>
          </a:p>
        </p:txBody>
      </p:sp>
      <p:sp>
        <p:nvSpPr>
          <p:cNvPr id="6" name="stat-cache-cost"/>
          <p:cNvSpPr/>
          <p:nvPr/>
        </p:nvSpPr>
        <p:spPr>
          <a:xfrm>
            <a:off x="4334256" y="146304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8%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60604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캐시 대상 단계의 비용 비중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= 캐시로 줄일 수 있는 비용의 상한</a:t>
            </a:r>
            <a:endParaRPr lang="en-US" sz="1400" dirty="0"/>
          </a:p>
        </p:txBody>
      </p:sp>
      <p:sp>
        <p:nvSpPr>
          <p:cNvPr id="9" name="stat-cache-lat"/>
          <p:cNvSpPr/>
          <p:nvPr/>
        </p:nvSpPr>
        <p:spPr>
          <a:xfrm>
            <a:off x="8119872" y="146304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-28%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60604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지연 p50, 1회차 → 2회차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7.2초 → 5.2초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65760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Ablation 본 실행(각 질의 1회)에서는 24개 질의가 정규화 후에도 모두 달라 캐시가 한 번도 맞지 않았다. 그래서 같은 24건을 같은 프로세스에서 두 번 연속 돌려 따로 쟀다.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모니터링 값과 최종 답은 캐시하지 않는다. 장애 상황은 호출마다 바뀌기 때문이다.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총비용은 $0.0204 → $0.0141로 줄었지만, 재작성 횟수 차이가 섞여 있어 캐시 효과로 쓰지 않는다. 캐시의 효과는 지연이다.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대가: TTL 10분 동안은 런북이 바뀌어도 옛 결과를 쓴다. 문장이 조금만 달라도 적중하지 않는다.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한계와 다음 개선</a:t>
            </a:r>
            <a:endParaRPr lang="en-US" sz="3000" dirty="0"/>
          </a:p>
        </p:txBody>
      </p:sp>
      <p:sp>
        <p:nvSpPr>
          <p:cNvPr id="3" name="lim-0"/>
          <p:cNvSpPr/>
          <p:nvPr/>
        </p:nvSpPr>
        <p:spPr>
          <a:xfrm>
            <a:off x="548640" y="1325880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im-dot-0"/>
          <p:cNvSpPr/>
          <p:nvPr/>
        </p:nvSpPr>
        <p:spPr>
          <a:xfrm>
            <a:off x="777240" y="165506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550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4630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RAG에 최소 유사도 기준이 없다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874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미등록 질의에도 런북을 넣는다 (평균 투입 0.83 → 1.33개)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14630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다음: 유사도 임계값 + '등록된 런북 없음' 안내 경로</a:t>
            </a:r>
            <a:endParaRPr lang="en-US" sz="1400" dirty="0"/>
          </a:p>
        </p:txBody>
      </p:sp>
      <p:sp>
        <p:nvSpPr>
          <p:cNvPr id="9" name="lim-1"/>
          <p:cNvSpPr/>
          <p:nvPr/>
        </p:nvSpPr>
        <p:spPr>
          <a:xfrm>
            <a:off x="548640" y="2542032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lim-dot-1"/>
          <p:cNvSpPr/>
          <p:nvPr/>
        </p:nvSpPr>
        <p:spPr>
          <a:xfrm>
            <a:off x="777240" y="2871216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8712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67919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Judge가 근거 밖 요구로 반려한다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09067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런북 없는 질의에서 재작성·비용만 늘고 답은 나빠졌다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2679192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다음: 반려 사유를 근거 안/밖으로 나누고, 밖이면 재작성 대신 안내</a:t>
            </a:r>
            <a:endParaRPr lang="en-US" sz="1400" dirty="0"/>
          </a:p>
        </p:txBody>
      </p:sp>
      <p:sp>
        <p:nvSpPr>
          <p:cNvPr id="15" name="lim-2"/>
          <p:cNvSpPr/>
          <p:nvPr/>
        </p:nvSpPr>
        <p:spPr>
          <a:xfrm>
            <a:off x="548640" y="3758184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lim-dot-2"/>
          <p:cNvSpPr/>
          <p:nvPr/>
        </p:nvSpPr>
        <p:spPr>
          <a:xfrm>
            <a:off x="777240" y="408736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87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89534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라우터가 형식 제약 질의를 놓친다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30682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'50자 이내', '표로' 질의 3건이 4구성 모두 chat으로 빠졌다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3895344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다음: 라우팅 프롬프트 개선 후 같은 평가셋으로 재측정</a:t>
            </a:r>
            <a:endParaRPr lang="en-US" sz="1400" dirty="0"/>
          </a:p>
        </p:txBody>
      </p:sp>
      <p:sp>
        <p:nvSpPr>
          <p:cNvPr id="21" name="lim-3"/>
          <p:cNvSpPr/>
          <p:nvPr/>
        </p:nvSpPr>
        <p:spPr>
          <a:xfrm>
            <a:off x="548640" y="4974336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lim-dot-3"/>
          <p:cNvSpPr/>
          <p:nvPr/>
        </p:nvSpPr>
        <p:spPr>
          <a:xfrm>
            <a:off x="777240" y="53035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303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5111496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n=24, 1회 실행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552297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질의 1건 = 4.2%p. 반복 실행 없음 (변동은 간접 추정 8%p)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0" y="5111496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다음: 반복 실행으로 분산 측정, 평가셋 확장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개선을 하나씩 켜 봐야 무엇이 효과인지 안다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RAG가 품질을 올렸고, Judge는 기준을 잘못 세우면 비용만 늘리며, 캐스케이드로 base보다 싸게 만들었다.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github.com/jang961111-hash/incident-agent-ablation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cident Ablation">
  <a:themeElements>
    <a:clrScheme name="Incident Ablation">
      <a:dk1>
        <a:srgbClr val="1A2230"/>
      </a:dk1>
      <a:lt1>
        <a:srgbClr val="FFFFFF"/>
      </a:lt1>
      <a:dk2>
        <a:srgbClr val="16202C"/>
      </a:dk2>
      <a:lt2>
        <a:srgbClr val="EEF2F6"/>
      </a:lt2>
      <a:accent1>
        <a:srgbClr val="E8833A"/>
      </a:accent1>
      <a:accent2>
        <a:srgbClr val="1F8A70"/>
      </a:accent2>
      <a:accent3>
        <a:srgbClr val="8A94A3"/>
      </a:accent3>
      <a:accent4>
        <a:srgbClr val="C9A227"/>
      </a:accent4>
      <a:accent5>
        <a:srgbClr val="D1495B"/>
      </a:accent5>
      <a:accent6>
        <a:srgbClr val="155E4B"/>
      </a:accent6>
      <a:hlink>
        <a:srgbClr val="1F8A70"/>
      </a:hlink>
      <a:folHlink>
        <a:srgbClr val="155E4B"/>
      </a:folHlink>
    </a:clrScheme>
    <a:fontScheme name="Incident Ablation">
      <a:majorFont>
        <a:latin typeface="Apple SD Gothic Ne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 SD Gothic Ne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인시던트 에이전트 개선 Ablation</dc:title>
  <dc:subject>PptxGenJS Presentation</dc:subject>
  <dc:creator>장병헌 (G062)</dc:creator>
  <cp:lastModifiedBy>장병헌 (G062)</cp:lastModifiedBy>
  <cp:revision>1</cp:revision>
  <dcterms:created xsi:type="dcterms:W3CDTF">2026-10-21T02:03:32Z</dcterms:created>
  <dcterms:modified xsi:type="dcterms:W3CDTF">2026-10-21T02:03:32Z</dcterms:modified>
</cp:coreProperties>
</file>