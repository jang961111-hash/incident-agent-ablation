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365c6a4-0189-2cbc-0db5-5a8a4c37d0fe}">
          <p14:sldIdLst>
            <p14:sldId id="256"/>
          </p14:sldIdLst>
        </p14:section>
        <p14:section name="요약" id="{9273d741-01f2-ad45-d1a8-2cfdbbdce48c}">
          <p14:sldIdLst>
            <p14:sldId id="257"/>
            <p14:sldId id="258"/>
            <p14:sldId id="259"/>
          </p14:sldIdLst>
        </p14:section>
        <p14:section name="문제" id="{0d8e5597-441f-35fa-c6c1-2101b09cd101}">
          <p14:sldIdLst>
            <p14:sldId id="260"/>
            <p14:sldId id="261"/>
            <p14:sldId id="262"/>
          </p14:sldIdLst>
        </p14:section>
        <p14:section name="개선" id="{b50b0e4a-091a-8b9e-9b97-d0e77bbfa91a}">
          <p14:sldIdLst>
            <p14:sldId id="263"/>
          </p14:sldIdLst>
        </p14:section>
        <p14:section name="평가 설계" id="{dc22f297-5d4f-6d23-3e36-0c32b6c93826}">
          <p14:sldIdLst>
            <p14:sldId id="264"/>
          </p14:sldIdLst>
        </p14:section>
        <p14:section name="Before/After" id="{5f10685a-74c4-aa14-0161-966c1feb7600}">
          <p14:sldIdLst>
            <p14:sldId id="265"/>
            <p14:sldId id="266"/>
            <p14:sldId id="267"/>
            <p14:sldId id="268"/>
            <p14:sldId id="269"/>
          </p14:sldIdLst>
        </p14:section>
        <p14:section name="평가자 검증" id="{d806e0a7-125b-3176-9369-ba0e8610dd91}">
          <p14:sldIdLst>
            <p14:sldId id="270"/>
          </p14:sldIdLst>
        </p14:section>
        <p14:section name="시연" id="{470a2e4f-8e7d-b8b3-27a1-59a42247a407}">
          <p14:sldIdLst>
            <p14:sldId id="271"/>
          </p14:sldIdLst>
        </p14:section>
        <p14:section name="한계" id="{748247f8-8d7d-c9ef-7b0b-16fea090203e}">
          <p14:sldIdLst>
            <p14:sldId id="272"/>
          </p14:sldIdLst>
        </p14:section>
        <p14:section name="마무리" id="{12b3e427-ea92-94a3-8c6d-6b425ae1c045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정답 런북 누락률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 런북 누락률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0.5628019323671497</c:v>
                </c:pt>
                <c:pt idx="1">
                  <c:v>0.08695652173913043</c:v>
                </c:pt>
                <c:pt idx="2">
                  <c:v>0.5362318840579711</c:v>
                </c:pt>
                <c:pt idx="3">
                  <c:v>0.08695652173913043</c:v>
                </c:pt>
                <c:pt idx="4">
                  <c:v>0.08695652173913043</c:v>
                </c:pt>
                <c:pt idx="5">
                  <c:v>0.09842995169082125</c:v>
                </c:pt>
                <c:pt idx="6">
                  <c:v>0.0857487922705314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무관 런북 혼입률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무관 런북 혼입률 (낮을수록 좋음)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0.6513409961685824</c:v>
                </c:pt>
                <c:pt idx="1">
                  <c:v>0.5862068965517241</c:v>
                </c:pt>
                <c:pt idx="2">
                  <c:v>0.632183908045977</c:v>
                </c:pt>
                <c:pt idx="3">
                  <c:v>0.5862068965517241</c:v>
                </c:pt>
                <c:pt idx="4">
                  <c:v>0.5862068965517241</c:v>
                </c:pt>
                <c:pt idx="5">
                  <c:v>0.3482758620689655</c:v>
                </c:pt>
                <c:pt idx="6">
                  <c:v>0.35249042145593873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동시 N건 처리에 걸린 시간 (초)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동기 (원본 방식)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7.3300546660029795</c:v>
                </c:pt>
                <c:pt idx="1">
                  <c:v>19.806008041996392</c:v>
                </c:pt>
                <c:pt idx="2">
                  <c:v>32.5987327920011</c:v>
                </c:pt>
                <c:pt idx="3">
                  <c:v>62.78695033300028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비동기 I/O</c:v>
                </c:pt>
              </c:strCache>
            </c:strRef>
          </c:tx>
          <c:spPr>
            <a:solidFill>
              <a:srgbClr val="155E4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동시 1건</c:v>
                  </c:pt>
                  <c:pt idx="1">
                    <c:v>동시 3건</c:v>
                  </c:pt>
                  <c:pt idx="2">
                    <c:v>동시 5건</c:v>
                  </c:pt>
                  <c:pt idx="3">
                    <c:v>동시 10건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7.124661374997231</c:v>
                </c:pt>
                <c:pt idx="1">
                  <c:v>6.839099584001815</c:v>
                </c:pt>
                <c:pt idx="2">
                  <c:v>8.139553832996171</c:v>
                </c:pt>
                <c:pt idx="3">
                  <c:v>9.153589582987479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02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02C"/>
                </a:solidFill>
                <a:latin typeface="Arial"/>
              </a:rPr>
              <a:t>평가 Judge 통과율 (holdout)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평가 Judge 통과율 (holdout)</c:v>
                </c:pt>
              </c:strCache>
            </c:strRef>
          </c:tx>
          <c:spPr>
            <a:solidFill>
              <a:srgbClr val="8A94A3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A1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E9C8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C7A9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55E4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base</c:v>
                  </c:pt>
                  <c:pt idx="1">
                    <c:v>+RAG</c:v>
                  </c:pt>
                  <c:pt idx="2">
                    <c:v>+Judge만</c:v>
                  </c:pt>
                  <c:pt idx="3">
                    <c:v>RAG+Judge</c:v>
                  </c:pt>
                  <c:pt idx="4">
                    <c:v>+비용</c:v>
                  </c:pt>
                  <c:pt idx="5">
                    <c:v>+v2 보완</c:v>
                  </c:pt>
                  <c:pt idx="6">
                    <c:v>final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0.7685185185185185</c:v>
                </c:pt>
                <c:pt idx="1">
                  <c:v>0.9722222222222222</c:v>
                </c:pt>
                <c:pt idx="2">
                  <c:v>0.7962962962962963</c:v>
                </c:pt>
                <c:pt idx="3">
                  <c:v>0.9722222222222222</c:v>
                </c:pt>
                <c:pt idx="4">
                  <c:v>0.9537037037037037</c:v>
                </c:pt>
                <c:pt idx="5">
                  <c:v>0.9907407407407408</c:v>
                </c:pt>
                <c:pt idx="6">
                  <c:v>0.9814814814814815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22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2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새벽 당직자가 DB가 죽었다고 물어도 원본은 응답 지연 매뉴얼을 꺼냈습니다. 고친 부분을 하나씩 켜고 끄며 효과를 쟀고, 채점하는 AI도 검사했습니다. 결과 숫자는 오른쪽 다섯 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시장은 AI SRE로 가고 있고, 런북 근거와 MCP 연동이 흔합니다. 그런데 공개된 수치는 대부분 업체 주장이고, 조사한 국내 기업 사례에서는 부품별 효과를 잰 공개 자료를 찾지 못했습니다. 이 과제는 합성 평가셋과 AI 평가자라는 한계 안에서 부품별 기여를 분리해 보였습니다.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 AX가 고객사에 에이전트를 넣을 때 받는 질문 세 가지입니다. 이후 모든 지표는 이 세 질문에 대한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holdout은 개선 v2를 만들기 전에 커밋해 고정했습니다. 커밋 시각으로 증명됩니다.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RAG를 켜는 순간 떨어지고, 오른쪽은 v2의 최소 유사도 기준을 켜는 순간 떨어집니다. 개선마다 고친 문제가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노드가 async여도 LLM 호출이 동기라 동시 요청이 줄을 섭니다. 도구 하나가 죽으면 질의 전체가 실패합니다. 둘 다 고쳤습니다.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 장 요약: 무엇을 고쳤고, 무엇이 효과였나</a:t>
            </a:r>
            <a:endParaRPr lang="en-US" sz="2800" dirty="0"/>
          </a:p>
        </p:txBody>
      </p:sp>
      <p:pic>
        <p:nvPicPr>
          <p:cNvPr id="3" name="summary-webtoon" descr="4컷 웹툰: 새벽 당직, 스위치 켜기, 맞는 매뉴얼, 채점관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8119" y="1234440"/>
            <a:ext cx="4434840" cy="4434840"/>
          </a:xfrm>
          <a:prstGeom prst="rect">
            <a:avLst/>
          </a:prstGeom>
        </p:spPr>
      </p:pic>
      <p:pic>
        <p:nvPicPr>
          <p:cNvPr id="4" name="summary-infographic" descr="결과 숫자 5개 인포그래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439" y="1234440"/>
            <a:ext cx="354913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그림은 ChatGPT로 생성 · 그림 속 숫자는 results/*_latest.json, 실제 API 벤치 실측값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실태 현황: 시장은 AI SRE로 가는데, 효과를 잰 곳은 드물다</a:t>
            </a:r>
            <a:endParaRPr lang="en-US" sz="2800" dirty="0"/>
          </a:p>
        </p:txBody>
      </p:sp>
      <p:sp>
        <p:nvSpPr>
          <p:cNvPr id="3" name="stat-outage"/>
          <p:cNvSpPr/>
          <p:nvPr/>
        </p:nvSpPr>
        <p:spPr>
          <a:xfrm>
            <a:off x="548640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54%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최근 중대 장애 비용이 10만 달러를 넘었다는 응답 (Uptime Institute 2025). 같은 보고서에서 절차 미준수 장애도 늘었다</a:t>
            </a:r>
            <a:endParaRPr lang="en-US" sz="1350" dirty="0"/>
          </a:p>
        </p:txBody>
      </p:sp>
      <p:sp>
        <p:nvSpPr>
          <p:cNvPr id="6" name="stat-market"/>
          <p:cNvSpPr/>
          <p:nvPr/>
        </p:nvSpPr>
        <p:spPr>
          <a:xfrm>
            <a:off x="4334256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5개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확인한 국외 정식 출시 AI SRE: PagerDuty·Datadog·Azure·AWS·Grafana. 국내도 SK AX·삼성계정·롯데ON·GS리테일 등</a:t>
            </a:r>
            <a:endParaRPr lang="en-US" sz="1350" dirty="0"/>
          </a:p>
        </p:txBody>
      </p:sp>
      <p:sp>
        <p:nvSpPr>
          <p:cNvPr id="9" name="stat-gap"/>
          <p:cNvSpPr/>
          <p:nvPr/>
        </p:nvSpPr>
        <p:spPr>
          <a:xfrm>
            <a:off x="8119872" y="1280160"/>
            <a:ext cx="35204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48132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0건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77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조사한 국내 기업·제품 공개 사례 중 고정 평가셋·Ablation 공개. 국외 수치도 대부분 '최대 몇 %' 업체 주장</a:t>
            </a:r>
            <a:endParaRPr lang="en-US" sz="1350" dirty="0"/>
          </a:p>
        </p:txBody>
      </p:sp>
      <p:sp>
        <p:nvSpPr>
          <p:cNvPr id="12" name="landscape-evidence"/>
          <p:cNvSpPr/>
          <p:nvPr/>
        </p:nvSpPr>
        <p:spPr>
          <a:xfrm>
            <a:off x="548640" y="3611880"/>
            <a:ext cx="110642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7490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런북·과거 장애 근거, MCP 도구 연동이 흔하다. 실행을 맡기는 정도는 제품마다 다르다 (우리는 제안만)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Datadog: 기능 하나가 무관한 신호를 끌어와 다른 조사를 나쁘게 만든 사례 공개 → 부품을 하나씩 켜고 끄며 재야 하는 이유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연구: SOP 기반 멀티에이전트가 ReAct 대비 RCA 정확도 35.5% → 64.0% (Flow-of-Action) · 추론 과제에서 외부 피드백 없는 자기교정은 효과 없음 (Huang 외, ICLR'24)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국내 연구: RCA 에이전트 실패 1위는 데이터 해석 환각 71.2% (오케스트로·한양대, ASPLOS'26 AIOps 워크숍, 보도 기준)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 전체: docs/research/00_요약_실태현황.md (국외 18개 제품·국내 20건·논문 37건, 2026-10-22 확인, 업체 수치는 업체 주장)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운영팀이 AI 에이전트 도입을 결정하려면 세 가지를 알아야 한다</a:t>
            </a:r>
            <a:endParaRPr lang="en-US" sz="2800" dirty="0"/>
          </a:p>
        </p:txBody>
      </p:sp>
      <p:sp>
        <p:nvSpPr>
          <p:cNvPr id="3" name="q3-0"/>
          <p:cNvSpPr/>
          <p:nvPr/>
        </p:nvSpPr>
        <p:spPr>
          <a:xfrm>
            <a:off x="548640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q3-dot-0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맞는 조치를 권고하나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새벽 2시 당직자가 "DB 프라이머리가 죽었다"고 물었는데 응답 지연 절차를 주면, 그 답은 장애를 키운다.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정답 런북 누락률 · 무관 런북 혼입률</a:t>
            </a:r>
            <a:endParaRPr lang="en-US" sz="1300" dirty="0"/>
          </a:p>
        </p:txBody>
      </p:sp>
      <p:sp>
        <p:nvSpPr>
          <p:cNvPr id="9" name="q3-1"/>
          <p:cNvSpPr/>
          <p:nvPr/>
        </p:nvSpPr>
        <p:spPr>
          <a:xfrm>
            <a:off x="4334256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q3-dot-1"/>
          <p:cNvSpPr/>
          <p:nvPr/>
        </p:nvSpPr>
        <p:spPr>
          <a:xfrm>
            <a:off x="4608576" y="160020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48656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그 판정을 믿어도 되나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"AI가 채점했더니 97점"은 채점한 AI가 관대하면 의미가 없다. 평가자 자체를 검증해야 한다.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독립 평가자와의 일치도 (kappa, 사람 표본은 예정) · Judge 무관 지표</a:t>
            </a:r>
            <a:endParaRPr lang="en-US" sz="1300" dirty="0"/>
          </a:p>
        </p:txBody>
      </p:sp>
      <p:sp>
        <p:nvSpPr>
          <p:cNvPr id="15" name="q3-2"/>
          <p:cNvSpPr/>
          <p:nvPr/>
        </p:nvSpPr>
        <p:spPr>
          <a:xfrm>
            <a:off x="8119872" y="1371600"/>
            <a:ext cx="35204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q3-dot-2"/>
          <p:cNvSpPr/>
          <p:nvPr/>
        </p:nvSpPr>
        <p:spPr>
          <a:xfrm>
            <a:off x="8394192" y="1600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941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34272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얼마에, 얼마나 빨리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94192" y="23317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품질을 올린 대가로 비용과 지연이 얼마나 늘었는지, 장애가 겹쳐 들어오거나 도구가 죽어도 버티는지.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37033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→ 장애 1건당 비용 · p95 지연 · 동시 처리 · 장애 주입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이 프로젝트는 기능을 더하는 것보다, 도입 판단에 쓸 수 있는 평가 체계를 만드는 데 무게를 뒀다.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2: 검증은 형식만 보고, 모델 분리는 이미 돼 있었다</a:t>
            </a:r>
            <a:endParaRPr lang="en-US" sz="2800" dirty="0"/>
          </a:p>
        </p:txBody>
      </p:sp>
      <p:sp>
        <p:nvSpPr>
          <p:cNvPr id="3" name="validator-card"/>
          <p:cNvSpPr/>
          <p:nvPr/>
        </p:nvSpPr>
        <p:spPr>
          <a:xfrm>
            <a:off x="548640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규칙 Validator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len(draft) &gt;= 30 and "1)" in draft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질문과 맞는지, 근거에 있는지는 보지 않는다.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실측: base 60건 x 3회에서 반려 0회. 응답 지연 절차로 DB 다운에 답해도 통과한다.</a:t>
            </a:r>
            <a:endParaRPr lang="en-US" sz="1500" dirty="0"/>
          </a:p>
        </p:txBody>
      </p:sp>
      <p:sp>
        <p:nvSpPr>
          <p:cNvPr id="7" name="tiering-card"/>
          <p:cNvSpPr/>
          <p:nvPr/>
        </p:nvSpPr>
        <p:spPr>
          <a:xfrm>
            <a:off x="6245352" y="1371600"/>
            <a:ext cx="539496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9672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계획했던 비용 개선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= gpt-4o-mini / quality = gpt-4o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7432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'역할별 모델 분리'는 base에 이미 있었다 (src/server.py:50-56).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그래서 비용 축을 다시 정했다: 1차 초안은 저가 모델, 반려될 때만 gpt-4o (캐스케이드) + 반복 질의 캐시.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→ 개선 대상: 런북 선택(RAG) · 검증 기준(LLM Judge) · 비용(캐스케이드·캐시) · 운영 안정성(비동기·부분 실패)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개선: 원본 노드는 그대로, 플래그로 하나씩 켜는 7구성</a:t>
            </a:r>
            <a:endParaRPr lang="en-US" sz="2800" dirty="0"/>
          </a:p>
        </p:txBody>
      </p:sp>
      <p:graphicFrame>
        <p:nvGraphicFramePr>
          <p:cNvPr id="9" name="confi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66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40080"/>
                <a:gridCol w="685800"/>
                <a:gridCol w="1280160"/>
                <a:gridCol w="822960"/>
                <a:gridCol w="77724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캐스케이드·캐시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런타임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알 수 있는 것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원본 (Before)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RAG 위 Judge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절감의 품질 대가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약점 보완 효과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230"/>
                          </a:solidFill>
                        </a:rPr>
                        <a:t>최종 (After)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35240" y="132588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v2 보완 = 1차 실측(24건)에서 찾은 약점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RAG 최소 유사도: 맞는 런북이 없으면 넣지 않고 '없음'을 알림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Judge v2: 근거 밖 요구 금지, 고칠 수 없는 반려는 재작성 생략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수치 코드 검증: 근거에 없는 수치는 Judge 호출 전에 반려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런타임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비동기 I/O: 동기 LLM 호출을 스레드로 빼 이벤트 루프 블로킹 제거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부분 실패 허용: 도구 하나가 죽어도 나머지 결과로 답함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원본 src/agent 는 이식 커밋(55e15f1) 이후 변경 0. base 는 원본 build_graph 를 그대로 호출. 개선은 src/ext/ 에 플래그로.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평가: 조정에 쓰지 않은 질의로, 반복해서, 짝지어 비교했다</a:t>
            </a:r>
            <a:endParaRPr lang="en-US" sz="2800" dirty="0"/>
          </a:p>
        </p:txBody>
      </p:sp>
      <p:sp>
        <p:nvSpPr>
          <p:cNvPr id="3" name="ev-0"/>
          <p:cNvSpPr/>
          <p:nvPr/>
        </p:nvSpPr>
        <p:spPr>
          <a:xfrm>
            <a:off x="548640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평가셋 60건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 24건: v2 기준값(RAG 최소 유사도) 조정에만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 36건: v2 구현 전에 고정해 커밋, 최종 보고에만 사용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정상 30 · 형식 제약 8 · 복합 8 · 미등록 7 · 모호 7</a:t>
            </a:r>
            <a:endParaRPr lang="en-US" sz="1350" dirty="0"/>
          </a:p>
        </p:txBody>
      </p:sp>
      <p:sp>
        <p:nvSpPr>
          <p:cNvPr id="6" name="ev-1"/>
          <p:cNvSpPr/>
          <p:nvPr/>
        </p:nvSpPr>
        <p:spPr>
          <a:xfrm>
            <a:off x="6153912" y="132588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28232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반복과 유의성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28232" y="20116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7구성 x 60건 x 3회 = 1,260회 실행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반복 간 95% CI (t 분포)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구성 간 차이는 질의 단위 paired bootstrap 2,000회</a:t>
            </a:r>
            <a:endParaRPr lang="en-US" sz="1350" dirty="0"/>
          </a:p>
        </p:txBody>
      </p:sp>
      <p:sp>
        <p:nvSpPr>
          <p:cNvPr id="9" name="ev-2"/>
          <p:cNvSpPr/>
          <p:nvPr/>
        </p:nvSpPr>
        <p:spPr>
          <a:xfrm>
            <a:off x="548640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측정 축 분리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검색: Recall@k, 정답 런북 누락·혼입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답변: 평가 Judge 4지표 + 런북 어구 포함(결정적)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운영: 건당 비용, p50/p95 지연, 재작성, 동시성, 장애 주입</a:t>
            </a:r>
            <a:endParaRPr lang="en-US" sz="1350" dirty="0"/>
          </a:p>
        </p:txBody>
      </p:sp>
      <p:sp>
        <p:nvSpPr>
          <p:cNvPr id="12" name="ev-3"/>
          <p:cNvSpPr/>
          <p:nvPr/>
        </p:nvSpPr>
        <p:spPr>
          <a:xfrm>
            <a:off x="6153912" y="3657600"/>
            <a:ext cx="545896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3840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평가자 검증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gpt-4o로 고정 (파이프라인 Judge gpt-4o-mini와 분리)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독립 평가자(Claude, LLM) 블라인드 60건 → 지표별 kappa, 오판 유형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사람 표본 20건 라벨은 아직 없음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1: 누락은 RAG가, 무관 런북 혼입은 v2가 줄였다</a:t>
            </a:r>
            <a:endParaRPr lang="en-US" sz="2800" dirty="0"/>
          </a:p>
        </p:txBody>
      </p:sp>
      <p:graphicFrame>
        <p:nvGraphicFramePr>
          <p:cNvPr id="3" name="chart-miss" descr=""/>
          <p:cNvGraphicFramePr/>
          <p:nvPr/>
        </p:nvGraphicFramePr>
        <p:xfrm>
          <a:off x="548640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-wrong" descr=""/>
          <p:cNvGraphicFramePr/>
          <p:nvPr/>
        </p:nvGraphicFramePr>
        <p:xfrm>
          <a:off x="6153912" y="128016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holdout, 3회 평균. 누락·혼입은 장애 경로 질의 기준. Recall@1·MRR은 gold 있는 holdout 질의 전체 기준: 33% → 52%, MRR 0.37 → 0.68. 누락 = 맞는 조치를 못 줄 위험, 혼입 = 잘못된 조치를 섞을 위험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2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3: 품질을 얻은 대가 — 트레이드오프 한 장</a:t>
            </a:r>
            <a:endParaRPr lang="en-US" sz="2800" dirty="0"/>
          </a:p>
        </p:txBody>
      </p:sp>
      <p:graphicFrame>
        <p:nvGraphicFramePr>
          <p:cNvPr id="13" name="tradeoff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234440"/>
                <a:gridCol w="1234440"/>
                <a:gridCol w="1234440"/>
                <a:gridCol w="1737360"/>
                <a:gridCol w="137160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장애 1건당 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p95 지연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재작성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8.3초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+RAG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81%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$0.00397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8.9초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+Judge만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46%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17.1초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RAG+Judge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12.0초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+비용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$0.00093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10.6초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2.3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+v2 보완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$0.00415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11.8초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final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35%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$0.00057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9.8초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읽는 법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Judge를 붙이면 비용과 지연이 오르지만, 품질 지표는 신뢰구간 안에서 움직이지 않았다.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캐스케이드는 장애 1건당 비용을 크게 줄이는 대신 런북 어구 포함이 내려갔다 (-5%p, 유의하지 않음). 이 대가를 받아들일지는 운영 정책의 선택이다.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10819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36건, 3회 평균. 비용은 OpenAI 공개 단가 x 실측 토큰 추정치 (평가 Judge 제외). 지연: 5구성은 7프로세스 동시 부하, +비용·final은 캐시 버그 수정 뒤 2프로세스로 재측정 → 두 구성의 지연 차이엔 부하 차이가 섞였을 수 있음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1차 실측이 찾은 약점을 v2가 고쳤고, holdout에서 확인했다</a:t>
            </a:r>
            <a:endParaRPr lang="en-US" sz="2800" dirty="0"/>
          </a:p>
        </p:txBody>
      </p:sp>
      <p:sp>
        <p:nvSpPr>
          <p:cNvPr id="3" name="stat-unreg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83% → 100%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미등록 질의 평가 통과율 (4건 x 3회)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전체 통과율 차이는 유의하지 않음</a:t>
            </a:r>
            <a:endParaRPr lang="en-US" sz="1350" dirty="0"/>
          </a:p>
        </p:txBody>
      </p:sp>
      <p:sp>
        <p:nvSpPr>
          <p:cNvPr id="6" name="stat-wrong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59% → 35%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무관 런북 혼입률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최소 유사도 기준 (dev로만 정함)</a:t>
            </a:r>
            <a:endParaRPr lang="en-US" sz="1350" dirty="0"/>
          </a:p>
        </p:txBody>
      </p:sp>
      <p:sp>
        <p:nvSpPr>
          <p:cNvPr id="9" name="stat-rw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2.0 → 0.0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Judge 재작성 (holdout 36건, 회당)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 밖 요구를 하지 않게 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747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1차 실측(dev 24건)에서 본 문제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Kafka처럼 런북이 없는 질문에 Judge가 '런북 절차를 반영하라'며 반려 → 답이 무관한 절차를 섞는 쪽으로 바뀜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RAG가 유사도와 상관없이 늘 런북을 넣음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833A"/>
                </a:solidFill>
              </a:rPr>
              <a:t>주의: 최소 유사도 0.3236는 dev에서 정답 있는 질의와 없는 질의의 간격이 0.0023뿐인 경계값이다. holdout에서 정답 누락은 9% → 10%로 거의 늘지 않았다.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운영 안정성: 동시 요청, 도구 장애, 반복 질문</a:t>
            </a:r>
            <a:endParaRPr lang="en-US" sz="2800" dirty="0"/>
          </a:p>
        </p:txBody>
      </p:sp>
      <p:graphicFrame>
        <p:nvGraphicFramePr>
          <p:cNvPr id="3" name="chart-conc" descr=""/>
          <p:cNvGraphicFramePr/>
          <p:nvPr/>
        </p:nvGraphicFramePr>
        <p:xfrm>
          <a:off x="548640" y="1280160"/>
          <a:ext cx="56692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fault-card"/>
          <p:cNvSpPr/>
          <p:nvPr/>
        </p:nvSpPr>
        <p:spPr>
          <a:xfrm>
            <a:off x="6492240" y="1280160"/>
            <a:ext cx="5148072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66560" y="1417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도구 장애 주입 (모니터링 호출 30% 실패)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</a:rPr>
              <a:t>장애를 맞은 질의 중 끝까지 답한 건수</a:t>
            </a:r>
            <a:endParaRPr lang="en-US" sz="14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55E4B"/>
                </a:solidFill>
              </a:rPr>
              <a:t>base 0/19 · 허용 끔 0/18 · final 18/18</a:t>
            </a:r>
            <a:endParaRPr lang="en-US" sz="1400" dirty="0"/>
          </a:p>
        </p:txBody>
      </p:sp>
      <p:sp>
        <p:nvSpPr>
          <p:cNvPr id="6" name="cache-card"/>
          <p:cNvSpPr/>
          <p:nvPr/>
        </p:nvSpPr>
        <p:spPr>
          <a:xfrm>
            <a:off x="6492240" y="3520440"/>
            <a:ext cx="5148072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36576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C"/>
                </a:solidFill>
              </a:rPr>
              <a:t>반복 질문 캐시 (같은 60건 2회, 실제 API)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5E4B"/>
                </a:solidFill>
              </a:rPr>
              <a:t>2회차 적중 112/160, 지연 p50 7.9초 → 5.6초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route·plan·임베딩만 캐시 (final 비용의 21%). 1회차 → 2회차 비용 $0.0272 → $0.0233. 모니터링·답변은 캐시하지 않음.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577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동시성·장애 주입·캐시 모두 실제 API (results/concurrency_bench_latest.json · fault_bench_latest.json · cache_bench_latest.json). 동시성은 N마다 1회 측정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평가자 검증: AI 채점을 그대로 믿지 않았다</a:t>
            </a:r>
            <a:endParaRPr lang="en-US" sz="2800" dirty="0"/>
          </a:p>
        </p:txBody>
      </p:sp>
      <p:graphicFrame>
        <p:nvGraphicFramePr>
          <p:cNvPr id="3" name="chart-pass" descr=""/>
          <p:cNvGraphicFramePr/>
          <p:nvPr/>
        </p:nvGraphicFramePr>
        <p:xfrm>
          <a:off x="548640" y="1280160"/>
          <a:ext cx="54864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claude-kappa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371600"/>
          <a:ext cx="53309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097280"/>
                <a:gridCol w="1097280"/>
                <a:gridCol w="1399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일치율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kappa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Judge 관대도*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관련성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0.44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완전성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0.02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83%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도메인 적합성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63%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명확성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67%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2230"/>
                          </a:solidFill>
                        </a:rPr>
                        <a:t>종합 (3/4)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70%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0.39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2230"/>
                          </a:solidFill>
                        </a:rPr>
                        <a:t>59%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309360" y="3931920"/>
            <a:ext cx="5330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평가 Judge vs 독립 평가자(Claude, Judge 판정을 가린 블라인드 채점) base 답변 60건. 사람 라벨이 아니다. * 독립 평가자가 Fail로 본 답을 Judge가 Pass로 준 비율. 사람 표본 라벨은 아직 없다.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Judge는 RAG가 들어간 구성에서 95%~99%로 포화돼 구성 차이를 잘 보지 못했다. 그래서 Judge 무관 지표(정답 누락·혼입, 런북 어구 포함)로 결론을 냈다.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기능을 더하기 전에, 효과를 재는 법부터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RAG가 조치 정확도를 올렸고, Judge는 품질 향상이 확인되지 않은 채 비용·지연만 늘렸으며, 캐스케이드로 장애 1건당 비용을 낮췄다. 모두 holdout에서, 반복과 짝지은 비교로 확인했다.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github.com/jang961111-hash/incident-agent-ablation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2026-10-22T00:45:57Z</dcterms:created>
  <dcterms:modified xsi:type="dcterms:W3CDTF">2026-10-22T00:45:57Z</dcterms:modified>
</cp:coreProperties>
</file>