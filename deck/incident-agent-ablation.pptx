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3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4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" id="{8078e257-acb0-2f09-42d3-b4421168a416}">
          <p14:sldIdLst>
            <p14:sldId id="256"/>
          </p14:sldIdLst>
        </p14:section>
        <p14:section name="요약" id="{e07c5b47-3f68-cf51-a8b8-9fac908e5a85}">
          <p14:sldIdLst>
            <p14:sldId id="257"/>
          </p14:sldIdLst>
        </p14:section>
        <p14:section name="문제" id="{133d0be2-aa54-c7c4-dcf9-f467a3b87e2f}">
          <p14:sldIdLst>
            <p14:sldId id="258"/>
            <p14:sldId id="259"/>
            <p14:sldId id="260"/>
          </p14:sldIdLst>
        </p14:section>
        <p14:section name="개선" id="{8ba578aa-fe49-0543-2538-5c67d03b9db0}">
          <p14:sldIdLst>
            <p14:sldId id="261"/>
          </p14:sldIdLst>
        </p14:section>
        <p14:section name="평가 설계" id="{343ef3d7-1544-6f7c-5023-8537db6abcb9}">
          <p14:sldIdLst>
            <p14:sldId id="262"/>
          </p14:sldIdLst>
        </p14:section>
        <p14:section name="Before/After" id="{2c15968b-7029-c279-2111-a7e6cd62f051}">
          <p14:sldIdLst>
            <p14:sldId id="263"/>
            <p14:sldId id="264"/>
            <p14:sldId id="265"/>
            <p14:sldId id="266"/>
            <p14:sldId id="267"/>
          </p14:sldIdLst>
        </p14:section>
        <p14:section name="평가자 검증" id="{f47ac5a6-394a-6fb5-4cd9-4d5b324e9dea}">
          <p14:sldIdLst>
            <p14:sldId id="268"/>
          </p14:sldIdLst>
        </p14:section>
        <p14:section name="시연" id="{3379d332-cc7e-a759-4fd4-b5a0e64744cd}">
          <p14:sldIdLst>
            <p14:sldId id="269"/>
          </p14:sldIdLst>
        </p14:section>
        <p14:section name="한계" id="{2b3e6d85-78fb-0120-81f7-f21a89daac52}">
          <p14:sldIdLst>
            <p14:sldId id="270"/>
          </p14:sldIdLst>
        </p14:section>
        <p14:section name="마무리" id="{91cea643-54f1-5582-026d-296fdda82e66}">
          <p14:sldIdLst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6202C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6202C"/>
                </a:solidFill>
                <a:latin typeface="Arial"/>
              </a:rPr>
              <a:t>정답 런북 누락률 (낮을수록 좋음)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정답 런북 누락률 (낮을수록 좋음)</c:v>
                </c:pt>
              </c:strCache>
            </c:strRef>
          </c:tx>
          <c:spPr>
            <a:solidFill>
              <a:srgbClr val="8A94A3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22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A94A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F8A7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9A15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9A227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6E9C8F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2C7A99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155E4B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base</c:v>
                  </c:pt>
                  <c:pt idx="1">
                    <c:v>+RAG</c:v>
                  </c:pt>
                  <c:pt idx="2">
                    <c:v>+Judge만</c:v>
                  </c:pt>
                  <c:pt idx="3">
                    <c:v>RAG+Judge</c:v>
                  </c:pt>
                  <c:pt idx="4">
                    <c:v>+비용</c:v>
                  </c:pt>
                  <c:pt idx="5">
                    <c:v>+v2 보완</c:v>
                  </c:pt>
                  <c:pt idx="6">
                    <c:v>final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0.5628019323671497</c:v>
                </c:pt>
                <c:pt idx="1">
                  <c:v>0.08695652173913043</c:v>
                </c:pt>
                <c:pt idx="2">
                  <c:v>0.5362318840579711</c:v>
                </c:pt>
                <c:pt idx="3">
                  <c:v>0.08695652173913043</c:v>
                </c:pt>
                <c:pt idx="4">
                  <c:v>0.08514492753623187</c:v>
                </c:pt>
                <c:pt idx="5">
                  <c:v>0.09842995169082125</c:v>
                </c:pt>
                <c:pt idx="6">
                  <c:v>0.08514492753623187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1100" u="none">
                  <a:solidFill>
                    <a:srgbClr val="1A22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223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6202C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6202C"/>
                </a:solidFill>
                <a:latin typeface="Arial"/>
              </a:rPr>
              <a:t>무관 런북 혼입률 (낮을수록 좋음)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무관 런북 혼입률 (낮을수록 좋음)</c:v>
                </c:pt>
              </c:strCache>
            </c:strRef>
          </c:tx>
          <c:spPr>
            <a:solidFill>
              <a:srgbClr val="8A94A3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22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A94A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F8A7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9A15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9A227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6E9C8F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2C7A99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155E4B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base</c:v>
                  </c:pt>
                  <c:pt idx="1">
                    <c:v>+RAG</c:v>
                  </c:pt>
                  <c:pt idx="2">
                    <c:v>+Judge만</c:v>
                  </c:pt>
                  <c:pt idx="3">
                    <c:v>RAG+Judge</c:v>
                  </c:pt>
                  <c:pt idx="4">
                    <c:v>+비용</c:v>
                  </c:pt>
                  <c:pt idx="5">
                    <c:v>+v2 보완</c:v>
                  </c:pt>
                  <c:pt idx="6">
                    <c:v>final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0.6513409961685824</c:v>
                </c:pt>
                <c:pt idx="1">
                  <c:v>0.5862068965517241</c:v>
                </c:pt>
                <c:pt idx="2">
                  <c:v>0.632183908045977</c:v>
                </c:pt>
                <c:pt idx="3">
                  <c:v>0.5862068965517241</c:v>
                </c:pt>
                <c:pt idx="4">
                  <c:v>0.5764367816091953</c:v>
                </c:pt>
                <c:pt idx="5">
                  <c:v>0.3482758620689655</c:v>
                </c:pt>
                <c:pt idx="6">
                  <c:v>0.3390804597701149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1100" u="none">
                  <a:solidFill>
                    <a:srgbClr val="1A22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223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6202C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6202C"/>
                </a:solidFill>
                <a:latin typeface="Arial"/>
              </a:rPr>
              <a:t>동시 N건 처리 시간 (초) — 모의 LLM, 호출당 0.5초 동기 지연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동기 (원본 방식)</c:v>
                </c:pt>
              </c:strCache>
            </c:strRef>
          </c:tx>
          <c:spPr>
            <a:solidFill>
              <a:srgbClr val="8A94A3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22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동시 1건</c:v>
                  </c:pt>
                  <c:pt idx="1">
                    <c:v>동시 3건</c:v>
                  </c:pt>
                  <c:pt idx="2">
                    <c:v>동시 5건</c:v>
                  </c:pt>
                  <c:pt idx="3">
                    <c:v>동시 10건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4.67237358399143</c:v>
                </c:pt>
                <c:pt idx="1">
                  <c:v>9.704944583005272</c:v>
                </c:pt>
                <c:pt idx="2">
                  <c:v>14.82982220800477</c:v>
                </c:pt>
                <c:pt idx="3">
                  <c:v>19.930124874998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비동기 I/O</c:v>
                </c:pt>
              </c:strCache>
            </c:strRef>
          </c:tx>
          <c:spPr>
            <a:solidFill>
              <a:srgbClr val="155E4B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22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동시 1건</c:v>
                  </c:pt>
                  <c:pt idx="1">
                    <c:v>동시 3건</c:v>
                  </c:pt>
                  <c:pt idx="2">
                    <c:v>동시 5건</c:v>
                  </c:pt>
                  <c:pt idx="3">
                    <c:v>동시 10건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4.6389495830080705</c:v>
                </c:pt>
                <c:pt idx="1">
                  <c:v>4.754600499989465</c:v>
                </c:pt>
                <c:pt idx="2">
                  <c:v>4.675857917012763</c:v>
                </c:pt>
                <c:pt idx="3">
                  <c:v>4.699182333002682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1A22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223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6202C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6202C"/>
                </a:solidFill>
                <a:latin typeface="Arial"/>
              </a:rPr>
              <a:t>평가 Judge 통과율 (holdout)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평가 Judge 통과율 (holdout)</c:v>
                </c:pt>
              </c:strCache>
            </c:strRef>
          </c:tx>
          <c:spPr>
            <a:solidFill>
              <a:srgbClr val="8A94A3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22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A94A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F8A7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9A15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9A227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6E9C8F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2C7A99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155E4B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base</c:v>
                  </c:pt>
                  <c:pt idx="1">
                    <c:v>+RAG</c:v>
                  </c:pt>
                  <c:pt idx="2">
                    <c:v>+Judge만</c:v>
                  </c:pt>
                  <c:pt idx="3">
                    <c:v>RAG+Judge</c:v>
                  </c:pt>
                  <c:pt idx="4">
                    <c:v>+비용</c:v>
                  </c:pt>
                  <c:pt idx="5">
                    <c:v>+v2 보완</c:v>
                  </c:pt>
                  <c:pt idx="6">
                    <c:v>final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0.7685185185185185</c:v>
                </c:pt>
                <c:pt idx="1">
                  <c:v>0.9722222222222222</c:v>
                </c:pt>
                <c:pt idx="2">
                  <c:v>0.7962962962962963</c:v>
                </c:pt>
                <c:pt idx="3">
                  <c:v>0.9722222222222222</c:v>
                </c:pt>
                <c:pt idx="4">
                  <c:v>0.9305555555555556</c:v>
                </c:pt>
                <c:pt idx="5">
                  <c:v>0.9907407407407408</c:v>
                </c:pt>
                <c:pt idx="6">
                  <c:v>0.9861111111111112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1100" u="none">
                  <a:solidFill>
                    <a:srgbClr val="1A22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223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개선을 많이 붙인 게 아니라, 어떤 개선이 실제로 효과였는지를 통계로 분리했고, 그 판정을 한 AI 평가자도 검증했습니다.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숫자가 결론입니다. 그리고 이 숫자를 어떻게 믿을 수 있는지가 이 발표의 나머지입니다.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SK AX가 고객사에 에이전트를 넣을 때 받는 질문 세 가지입니다. 이후 모든 지표는 이 세 질문에 대한 답입니다.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평가셋을 알림 문구와 같은 말로 묻는 질문과 자기 말로 묻는 질문으로 나눠 봤습니다. base는 자기 말로 물으면 거의 못 맞힙니다.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holdout은 개선 v2를 만들기 전에 커밋해 고정했습니다. 커밋 시각으로 증명됩니다.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왼쪽은 RAG를 켜는 순간 떨어지고, 오른쪽은 v2의 최소 유사도 기준을 켜는 순간 떨어집니다. 개선마다 고친 문제가 다릅니다.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표가 핵심입니다. RAG 행에 품질 별표가 몰려 있고, Judge 행에는 비용과 지연 별표만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원본은 노드가 async여도 LLM 호출이 동기라 동시 요청이 줄을 섭니다. 도구 하나가 죽으면 질의 전체가 실패합니다. 둘 다 고쳤습니다.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69848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SKALA 4기 AI Mini-Project · 과제1 · 장병헌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698480" cy="1645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개선 효과를 통계로 증명하고, 평가자까지 검증했다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인시던트 대응 에이전트 개선을 하나씩 켠 7구성 Ablation · 조정에 쓰지 않은 holdout 36건 · 3회 반복</a:t>
            </a:r>
            <a:endParaRPr lang="en-US" sz="18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SKALA 4기 AI Mini-Project 과제1 · 광주 2반 장병헌 (G062)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결론: 조치 정확도는 RAG가, 비용은 캐스케이드가 만들었다</a:t>
            </a:r>
            <a:endParaRPr lang="en-US" sz="2800" dirty="0"/>
          </a:p>
        </p:txBody>
      </p:sp>
      <p:sp>
        <p:nvSpPr>
          <p:cNvPr id="3" name="stat-miss"/>
          <p:cNvSpPr/>
          <p:nvPr/>
        </p:nvSpPr>
        <p:spPr>
          <a:xfrm>
            <a:off x="548640" y="1371600"/>
            <a:ext cx="352044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72768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56% → 9%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46888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정답 런북 누락률 (base → final)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= 맞는 조치를 권고하지 못할 위험</a:t>
            </a:r>
            <a:endParaRPr lang="en-US" sz="1350" dirty="0"/>
          </a:p>
        </p:txBody>
      </p:sp>
      <p:sp>
        <p:nvSpPr>
          <p:cNvPr id="6" name="stat-cost"/>
          <p:cNvSpPr/>
          <p:nvPr/>
        </p:nvSpPr>
        <p:spPr>
          <a:xfrm>
            <a:off x="4334256" y="1371600"/>
            <a:ext cx="352044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608576" y="1572768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6"/>
                </a:solidFill>
              </a:rPr>
              <a:t>-81%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4608576" y="246888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장애 1건당 처리 비용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$0.00343 → $0.00064</a:t>
            </a:r>
            <a:endParaRPr lang="en-US" sz="1350" dirty="0"/>
          </a:p>
        </p:txBody>
      </p:sp>
      <p:sp>
        <p:nvSpPr>
          <p:cNvPr id="9" name="stat-judge"/>
          <p:cNvSpPr/>
          <p:nvPr/>
        </p:nvSpPr>
        <p:spPr>
          <a:xfrm>
            <a:off x="8119872" y="1371600"/>
            <a:ext cx="352044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94192" y="1572768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효과 없음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8394192" y="246888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LLM Judge 단독: 품질 변화 유의하지 않음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지연만 +2.3초 (유의)</a:t>
            </a:r>
            <a:endParaRPr lang="en-US" sz="1350" dirty="0"/>
          </a:p>
        </p:txBody>
      </p:sp>
      <p:sp>
        <p:nvSpPr>
          <p:cNvPr id="12" name="method"/>
          <p:cNvSpPr/>
          <p:nvPr/>
        </p:nvSpPr>
        <p:spPr>
          <a:xfrm>
            <a:off x="548640" y="3520440"/>
            <a:ext cx="11064240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3657600"/>
            <a:ext cx="105156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16202C"/>
                </a:solidFill>
              </a:rPr>
              <a:t>어떻게 증명했나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평가셋 60건을 dev 24건(기준값 조정용)과 holdout 36건(조정 전에 고정, 최종 보고용)으로 나눴다. 이 덱의 수치는 모두 holdout.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개선을 하나씩 켠 7구성을 각 3회 반복하고, 구성 간 차이는 같은 질의끼리 짝지은 bootstrap 95% 신뢰구간으로 판정했다.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평가자(LLM Judge)가 관대할 수 있어, Judge와 무관한 결정적 지표(정답 런북 누락·혼입, 런북 어구 포함)로 결론을 냈다.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0533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accent3"/>
                </a:solidFill>
              </a:rPr>
              <a:t>출처: results/*_latest.json (7구성 x 60건 x 3회 = 1,260회, 실행 오류 0), results/stats_holdout.json, eval/extra_metrics.py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운영팀이 AI 에이전트 도입을 결정하려면 세 가지를 알아야 한다</a:t>
            </a:r>
            <a:endParaRPr lang="en-US" sz="2800" dirty="0"/>
          </a:p>
        </p:txBody>
      </p:sp>
      <p:sp>
        <p:nvSpPr>
          <p:cNvPr id="3" name="q3-0"/>
          <p:cNvSpPr/>
          <p:nvPr/>
        </p:nvSpPr>
        <p:spPr>
          <a:xfrm>
            <a:off x="548640" y="1371600"/>
            <a:ext cx="3520440" cy="3246120"/>
          </a:xfrm>
          <a:prstGeom prst="roundRect">
            <a:avLst>
              <a:gd name="adj" fmla="val 338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q3-dot-0"/>
          <p:cNvSpPr/>
          <p:nvPr/>
        </p:nvSpPr>
        <p:spPr>
          <a:xfrm>
            <a:off x="822960" y="16002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6002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맞는 조치를 권고하나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3172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새벽 2시 당직자가 "DB 프라이머리가 죽었다"고 물었는데 응답 지연 절차를 주면, 그 답은 장애를 키운다.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7033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→ 정답 런북 누락률 · 무관 런북 혼입률</a:t>
            </a:r>
            <a:endParaRPr lang="en-US" sz="1300" dirty="0"/>
          </a:p>
        </p:txBody>
      </p:sp>
      <p:sp>
        <p:nvSpPr>
          <p:cNvPr id="9" name="q3-1"/>
          <p:cNvSpPr/>
          <p:nvPr/>
        </p:nvSpPr>
        <p:spPr>
          <a:xfrm>
            <a:off x="4334256" y="1371600"/>
            <a:ext cx="3520440" cy="3246120"/>
          </a:xfrm>
          <a:prstGeom prst="roundRect">
            <a:avLst>
              <a:gd name="adj" fmla="val 338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q3-dot-1"/>
          <p:cNvSpPr/>
          <p:nvPr/>
        </p:nvSpPr>
        <p:spPr>
          <a:xfrm>
            <a:off x="4608576" y="1600200"/>
            <a:ext cx="502920" cy="5029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08576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248656" y="16002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그 판정을 믿어도 되나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608576" y="233172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"AI가 채점했더니 97점"은 채점한 AI가 관대하면 의미가 없다. 평가자 자체를 검증해야 한다.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608576" y="37033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→ Judge-사람 일치도 (kappa) · Judge 무관 지표</a:t>
            </a:r>
            <a:endParaRPr lang="en-US" sz="1300" dirty="0"/>
          </a:p>
        </p:txBody>
      </p:sp>
      <p:sp>
        <p:nvSpPr>
          <p:cNvPr id="15" name="q3-2"/>
          <p:cNvSpPr/>
          <p:nvPr/>
        </p:nvSpPr>
        <p:spPr>
          <a:xfrm>
            <a:off x="8119872" y="1371600"/>
            <a:ext cx="3520440" cy="3246120"/>
          </a:xfrm>
          <a:prstGeom prst="roundRect">
            <a:avLst>
              <a:gd name="adj" fmla="val 338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q3-dot-2"/>
          <p:cNvSpPr/>
          <p:nvPr/>
        </p:nvSpPr>
        <p:spPr>
          <a:xfrm>
            <a:off x="8394192" y="160020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394192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9034272" y="16002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얼마에, 얼마나 빨리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8394192" y="233172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품질을 올린 대가로 비용과 지연이 얼마나 늘었는지, 장애가 겹쳐 들어오거나 도구가 죽어도 버티는지.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394192" y="37033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→ 장애 1건당 비용 · p95 지연 · 동시 처리 · 장애 주입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49377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이 프로젝트는 기능을 더하는 것보다, 도입 판단에 쓸 수 있는 평가 체계를 만드는 데 무게를 뒀다.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문제 1: base는 질문을 읽지 않고, 알림 키워드로 런북을 고른다</a:t>
            </a:r>
            <a:endParaRPr lang="en-US" sz="2800" dirty="0"/>
          </a:p>
        </p:txBody>
      </p:sp>
      <p:sp>
        <p:nvSpPr>
          <p:cNvPr id="3" name="flow-0"/>
          <p:cNvSpPr/>
          <p:nvPr/>
        </p:nvSpPr>
        <p:spPr>
          <a:xfrm>
            <a:off x="548640" y="1371600"/>
            <a:ext cx="246888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5087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사용자 질의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92024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"DB 프라이머리가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다운됐습니다"</a:t>
            </a:r>
            <a:endParaRPr lang="en-US" sz="1500" dirty="0"/>
          </a:p>
        </p:txBody>
      </p:sp>
      <p:sp>
        <p:nvSpPr>
          <p:cNvPr id="6" name="arrow-0"/>
          <p:cNvSpPr/>
          <p:nvPr/>
        </p:nvSpPr>
        <p:spPr>
          <a:xfrm>
            <a:off x="3063240" y="2057400"/>
            <a:ext cx="274320" cy="365760"/>
          </a:xfrm>
          <a:prstGeom prst="righ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7" name="flow-1"/>
          <p:cNvSpPr/>
          <p:nvPr/>
        </p:nvSpPr>
        <p:spPr>
          <a:xfrm>
            <a:off x="3383280" y="1371600"/>
            <a:ext cx="246888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66160" y="15087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planner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566160" y="192024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시스템명 없음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→ auth-service 폴백</a:t>
            </a:r>
            <a:endParaRPr lang="en-US" sz="1500" dirty="0"/>
          </a:p>
        </p:txBody>
      </p:sp>
      <p:sp>
        <p:nvSpPr>
          <p:cNvPr id="10" name="arrow-1"/>
          <p:cNvSpPr/>
          <p:nvPr/>
        </p:nvSpPr>
        <p:spPr>
          <a:xfrm>
            <a:off x="5897880" y="2057400"/>
            <a:ext cx="274320" cy="365760"/>
          </a:xfrm>
          <a:prstGeom prst="righ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flow-2"/>
          <p:cNvSpPr/>
          <p:nvPr/>
        </p:nvSpPr>
        <p:spPr>
          <a:xfrm>
            <a:off x="6217920" y="1371600"/>
            <a:ext cx="246888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0" y="15087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모니터링 알림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0" y="192024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"p95 latency 2.4s"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키워드 'latency' 일치</a:t>
            </a:r>
            <a:endParaRPr lang="en-US" sz="1500" dirty="0"/>
          </a:p>
        </p:txBody>
      </p:sp>
      <p:sp>
        <p:nvSpPr>
          <p:cNvPr id="14" name="arrow-2"/>
          <p:cNvSpPr/>
          <p:nvPr/>
        </p:nvSpPr>
        <p:spPr>
          <a:xfrm>
            <a:off x="8732520" y="2057400"/>
            <a:ext cx="274320" cy="365760"/>
          </a:xfrm>
          <a:prstGeom prst="righ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flow-3"/>
          <p:cNvSpPr/>
          <p:nvPr/>
        </p:nvSpPr>
        <p:spPr>
          <a:xfrm>
            <a:off x="9052560" y="1371600"/>
            <a:ext cx="2468880" cy="1737360"/>
          </a:xfrm>
          <a:prstGeom prst="roundRect">
            <a:avLst>
              <a:gd name="adj" fmla="val 631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235440" y="15087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선택된 런북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9235440" y="192024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high-latency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(응답 지연 절차)</a:t>
            </a:r>
            <a:endParaRPr lang="en-US" sz="1500" dirty="0"/>
          </a:p>
        </p:txBody>
      </p:sp>
      <p:sp>
        <p:nvSpPr>
          <p:cNvPr id="18" name="stat-basemiss"/>
          <p:cNvSpPr/>
          <p:nvPr/>
        </p:nvSpPr>
        <p:spPr>
          <a:xfrm>
            <a:off x="548640" y="3429000"/>
            <a:ext cx="352044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2960" y="3630168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56%</a:t>
            </a:r>
            <a:endParaRPr lang="en-US" sz="36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452628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holdout에서 base가 정답 런북을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근거에 못 넣은 비율</a:t>
            </a:r>
            <a:endParaRPr lang="en-US" sz="1350" dirty="0"/>
          </a:p>
        </p:txBody>
      </p:sp>
      <p:sp>
        <p:nvSpPr>
          <p:cNvPr id="21" name="stat-bias"/>
          <p:cNvSpPr/>
          <p:nvPr/>
        </p:nvSpPr>
        <p:spPr>
          <a:xfrm>
            <a:off x="4334256" y="3429000"/>
            <a:ext cx="352044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608576" y="3630168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78% vs 11%</a:t>
            </a:r>
            <a:endParaRPr lang="en-US" sz="3600" dirty="0"/>
          </a:p>
        </p:txBody>
      </p:sp>
      <p:sp>
        <p:nvSpPr>
          <p:cNvPr id="23" name="Text 21"/>
          <p:cNvSpPr txBox="1"/>
          <p:nvPr/>
        </p:nvSpPr>
        <p:spPr>
          <a:xfrm>
            <a:off x="4608576" y="452628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알림 문구대로 물을 때 vs 자기 말로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물을 때 base Recall@1 (편향 검증)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8229600" y="3429000"/>
            <a:ext cx="341071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50" b="1" dirty="0">
                <a:solidFill>
                  <a:schemeClr val="tx1"/>
                </a:solidFill>
              </a:rPr>
              <a:t>원인 (src/agent/graph.py:192-213)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조사한 시스템의 알림 문구에서 키워드를 순서대로 찾아 첫 일치로 런북 1개를 고른다.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질의 문장은 쓰지 않는다. 당직자가 알림과 다른 말로 물으면 거의 맞히지 못한다.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0533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accent3"/>
                </a:solidFill>
              </a:rPr>
              <a:t>holdout 정상 질의 aligned 9건 / paraphrased 9건, 3회 평균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문제 2: 검증은 형식만 보고, 모델 분리는 이미 돼 있었다</a:t>
            </a:r>
            <a:endParaRPr lang="en-US" sz="2800" dirty="0"/>
          </a:p>
        </p:txBody>
      </p:sp>
      <p:sp>
        <p:nvSpPr>
          <p:cNvPr id="3" name="validator-card"/>
          <p:cNvSpPr/>
          <p:nvPr/>
        </p:nvSpPr>
        <p:spPr>
          <a:xfrm>
            <a:off x="548640" y="1371600"/>
            <a:ext cx="5394960" cy="347472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544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규칙 Validator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031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len(draft) &gt;= 30 and "1)" in draft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743200"/>
            <a:ext cx="4846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질문과 맞는지, 근거에 있는지는 보지 않는다.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실측: base 60건 x 3회에서 반려 0회. 응답 지연 절차로 DB 다운에 답해도 통과한다.</a:t>
            </a:r>
            <a:endParaRPr lang="en-US" sz="1500" dirty="0"/>
          </a:p>
        </p:txBody>
      </p:sp>
      <p:sp>
        <p:nvSpPr>
          <p:cNvPr id="7" name="tiering-card"/>
          <p:cNvSpPr/>
          <p:nvPr/>
        </p:nvSpPr>
        <p:spPr>
          <a:xfrm>
            <a:off x="6245352" y="1371600"/>
            <a:ext cx="5394960" cy="347472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19672" y="15544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계획했던 비용 개선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6519672" y="21031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fast = gpt-4o-mini / quality = gpt-4o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519672" y="2743200"/>
            <a:ext cx="4846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'역할별 모델 분리'는 base에 이미 있었다 (src/server.py:50-56).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그래서 비용 축을 다시 정했다: 1차 초안은 저가 모델, 반려될 때만 gpt-4o (캐스케이드) + 반복 질의 캐시.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1663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6"/>
                </a:solidFill>
              </a:rPr>
              <a:t>→ 개선 대상: 런북 선택(RAG) · 검증 기준(LLM Judge) · 비용(캐스케이드·캐시) · 운영 안정성(비동기·부분 실패)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개선: 원본 노드는 그대로, 플래그로 하나씩 켜는 7구성</a:t>
            </a:r>
            <a:endParaRPr lang="en-US" sz="2800" dirty="0"/>
          </a:p>
        </p:txBody>
      </p:sp>
      <p:graphicFrame>
        <p:nvGraphicFramePr>
          <p:cNvPr id="7" name="config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676656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640080"/>
                <a:gridCol w="685800"/>
                <a:gridCol w="1280160"/>
                <a:gridCol w="822960"/>
                <a:gridCol w="777240"/>
                <a:gridCol w="141732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구성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RAG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Judge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캐스케이드·캐시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v2 보완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런타임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알 수 있는 것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230"/>
                          </a:solidFill>
                        </a:rPr>
                        <a:t>base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230"/>
                          </a:solidFill>
                        </a:rPr>
                        <a:t>원본 (Before)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230"/>
                          </a:solidFill>
                        </a:rPr>
                        <a:t>+RAG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230"/>
                          </a:solidFill>
                        </a:rPr>
                        <a:t>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230"/>
                          </a:solidFill>
                        </a:rPr>
                        <a:t>RAG 단독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230"/>
                          </a:solidFill>
                        </a:rPr>
                        <a:t>+Judge만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230"/>
                          </a:solidFill>
                        </a:rPr>
                        <a:t>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230"/>
                          </a:solidFill>
                        </a:rPr>
                        <a:t>Judge 단독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230"/>
                          </a:solidFill>
                        </a:rPr>
                        <a:t>RAG+Judge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230"/>
                          </a:solidFill>
                        </a:rPr>
                        <a:t>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230"/>
                          </a:solidFill>
                        </a:rPr>
                        <a:t>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230"/>
                          </a:solidFill>
                        </a:rPr>
                        <a:t>RAG 위 Judge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230"/>
                          </a:solidFill>
                        </a:rPr>
                        <a:t>+비용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230"/>
                          </a:solidFill>
                        </a:rPr>
                        <a:t>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230"/>
                          </a:solidFill>
                        </a:rPr>
                        <a:t>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230"/>
                          </a:solidFill>
                        </a:rPr>
                        <a:t>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230"/>
                          </a:solidFill>
                        </a:rPr>
                        <a:t>절감의 품질 대가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230"/>
                          </a:solidFill>
                        </a:rPr>
                        <a:t>+v2 보완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230"/>
                          </a:solidFill>
                        </a:rPr>
                        <a:t>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230"/>
                          </a:solidFill>
                        </a:rPr>
                        <a:t>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230"/>
                          </a:solidFill>
                        </a:rPr>
                        <a:t>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230"/>
                          </a:solidFill>
                        </a:rPr>
                        <a:t>약점 보완 효과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230"/>
                          </a:solidFill>
                        </a:rPr>
                        <a:t>final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230"/>
                          </a:solidFill>
                        </a:rPr>
                        <a:t>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230"/>
                          </a:solidFill>
                        </a:rPr>
                        <a:t>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230"/>
                          </a:solidFill>
                        </a:rPr>
                        <a:t>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230"/>
                          </a:solidFill>
                        </a:rPr>
                        <a:t>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230"/>
                          </a:solidFill>
                        </a:rPr>
                        <a:t>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230"/>
                          </a:solidFill>
                        </a:rPr>
                        <a:t>최종 (After)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7635240" y="1325880"/>
            <a:ext cx="40233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v2 보완 = 1차 실측(24건)에서 찾은 약점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RAG 최소 유사도: 맞는 런북이 없으면 넣지 않고 '없음'을 알림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Judge v2: 근거 밖 요구 금지, 고칠 수 없는 반려는 재작성 생략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수치 코드 검증: 근거에 없는 수치는 Judge 호출 전에 반려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런타임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비동기 I/O: 동기 LLM 호출을 스레드로 빼 이벤트 루프 블로킹 제거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부분 실패 허용: 도구 하나가 죽어도 나머지 결과로 답함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58064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accent3"/>
                </a:solidFill>
              </a:rPr>
              <a:t>원본 src/agent 는 이식 커밋(55e15f1) 이후 변경 0. base 는 원본 build_graph 를 그대로 호출. 개선은 src/ext/ 에 플래그로.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평가: 조정에 쓰지 않은 질의로, 반복해서, 짝지어 비교했다</a:t>
            </a:r>
            <a:endParaRPr lang="en-US" sz="2800" dirty="0"/>
          </a:p>
        </p:txBody>
      </p:sp>
      <p:sp>
        <p:nvSpPr>
          <p:cNvPr id="3" name="ev-0"/>
          <p:cNvSpPr/>
          <p:nvPr/>
        </p:nvSpPr>
        <p:spPr>
          <a:xfrm>
            <a:off x="548640" y="1325880"/>
            <a:ext cx="5458968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087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평가셋 60건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01168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dev 24건: v2 기준값(RAG 최소 유사도) 조정에만 사용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holdout 36건: v2 구현 전에 고정해 커밋, 최종 보고에만 사용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정상 30 · 형식 제약 8 · 복합 8 · 미등록 7 · 모호 7</a:t>
            </a:r>
            <a:endParaRPr lang="en-US" sz="1350" dirty="0"/>
          </a:p>
        </p:txBody>
      </p:sp>
      <p:sp>
        <p:nvSpPr>
          <p:cNvPr id="6" name="ev-1"/>
          <p:cNvSpPr/>
          <p:nvPr/>
        </p:nvSpPr>
        <p:spPr>
          <a:xfrm>
            <a:off x="6153912" y="1325880"/>
            <a:ext cx="5458968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28232" y="15087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반복과 유의성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428232" y="201168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7구성 x 60건 x 3회 = 1,260회 실행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반복 간 95% CI (t 분포)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구성 간 차이는 질의 단위 paired bootstrap 2,000회</a:t>
            </a:r>
            <a:endParaRPr lang="en-US" sz="1350" dirty="0"/>
          </a:p>
        </p:txBody>
      </p:sp>
      <p:sp>
        <p:nvSpPr>
          <p:cNvPr id="9" name="ev-2"/>
          <p:cNvSpPr/>
          <p:nvPr/>
        </p:nvSpPr>
        <p:spPr>
          <a:xfrm>
            <a:off x="548640" y="3657600"/>
            <a:ext cx="5458968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8404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측정 축 분리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34340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검색: Recall@k, 정답 런북 누락·혼입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답변: 평가 Judge 4지표 + 런북 어구 포함(결정적)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운영: 건당 비용, p50/p95 지연, 재작성, 동시성, 장애 주입</a:t>
            </a:r>
            <a:endParaRPr lang="en-US" sz="1350" dirty="0"/>
          </a:p>
        </p:txBody>
      </p:sp>
      <p:sp>
        <p:nvSpPr>
          <p:cNvPr id="12" name="ev-3"/>
          <p:cNvSpPr/>
          <p:nvPr/>
        </p:nvSpPr>
        <p:spPr>
          <a:xfrm>
            <a:off x="6153912" y="3657600"/>
            <a:ext cx="5458968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28232" y="38404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평가자 검증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428232" y="434340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평가 Judge는 gpt-4o로 고정 (파이프라인 Judge gpt-4o-mini와 분리)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사람이 base 답변을 지표별로 블라인드 라벨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→ 지표별 kappa, 오판 유형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Before/After 1: 누락은 RAG가, 무관 런북 혼입은 v2가 줄였다</a:t>
            </a:r>
            <a:endParaRPr lang="en-US" sz="2800" dirty="0"/>
          </a:p>
        </p:txBody>
      </p:sp>
      <p:graphicFrame>
        <p:nvGraphicFramePr>
          <p:cNvPr id="3" name="chart-miss" descr=""/>
          <p:cNvGraphicFramePr/>
          <p:nvPr/>
        </p:nvGraphicFramePr>
        <p:xfrm>
          <a:off x="548640" y="1280160"/>
          <a:ext cx="548640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-wrong" descr=""/>
          <p:cNvGraphicFramePr/>
          <p:nvPr/>
        </p:nvGraphicFramePr>
        <p:xfrm>
          <a:off x="6153912" y="1280160"/>
          <a:ext cx="548640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48640" y="57150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accent3"/>
                </a:solidFill>
              </a:rPr>
              <a:t>holdout 장애 경로 질의, 3회 평균. Recall@1 33% → 52%, MRR 0.37 → 0.68. 누락 = 맞는 조치를 못 줄 위험, 혼입 = 잘못된 조치를 섞을 위험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Before/After 2: 개선별 기여도 — 같은 질의끼리 짝지어 비교했다</a:t>
            </a:r>
            <a:endParaRPr lang="en-US" sz="2800" dirty="0"/>
          </a:p>
        </p:txBody>
      </p:sp>
      <p:graphicFrame>
        <p:nvGraphicFramePr>
          <p:cNvPr id="10" name="contrib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325880"/>
                <a:gridCol w="1325880"/>
                <a:gridCol w="1325880"/>
                <a:gridCol w="1325880"/>
                <a:gridCol w="1463040"/>
                <a:gridCol w="146304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켠 것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정답 누락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무관 혼입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어구 포함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Judge 통과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질의당 비용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질의당 지연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230"/>
                          </a:solidFill>
                        </a:rPr>
                        <a:t>RAG 단독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A2230"/>
                          </a:solidFill>
                        </a:rPr>
                        <a:t>-46%p ★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F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230"/>
                          </a:solidFill>
                        </a:rPr>
                        <a:t>-6%p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A2230"/>
                          </a:solidFill>
                        </a:rPr>
                        <a:t>+37%p ★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F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A2230"/>
                          </a:solidFill>
                        </a:rPr>
                        <a:t>+20%p ★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F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A2230"/>
                          </a:solidFill>
                        </a:rPr>
                        <a:t>+0.0004 ★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A2230"/>
                          </a:solidFill>
                        </a:rPr>
                        <a:t>+0.4초 ★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230"/>
                          </a:solidFill>
                        </a:rPr>
                        <a:t>Judge 단독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230"/>
                          </a:solidFill>
                        </a:rPr>
                        <a:t>-1%p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230"/>
                          </a:solidFill>
                        </a:rPr>
                        <a:t>-1%p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230"/>
                          </a:solidFill>
                        </a:rPr>
                        <a:t>+2%p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230"/>
                          </a:solidFill>
                        </a:rPr>
                        <a:t>+3%p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A2230"/>
                          </a:solidFill>
                        </a:rPr>
                        <a:t>+0.0009 ★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A2230"/>
                          </a:solidFill>
                        </a:rPr>
                        <a:t>+2.3초 ★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230"/>
                          </a:solidFill>
                        </a:rPr>
                        <a:t>RAG 위에 Judge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230"/>
                          </a:solidFill>
                        </a:rPr>
                        <a:t>+0%p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230"/>
                          </a:solidFill>
                        </a:rPr>
                        <a:t>+0%p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230"/>
                          </a:solidFill>
                        </a:rPr>
                        <a:t>-3%p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230"/>
                          </a:solidFill>
                        </a:rPr>
                        <a:t>0%p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A2230"/>
                          </a:solidFill>
                        </a:rPr>
                        <a:t>+0.0005 ★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A2230"/>
                          </a:solidFill>
                        </a:rPr>
                        <a:t>+1.8초 ★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230"/>
                          </a:solidFill>
                        </a:rPr>
                        <a:t>캐스케이드+캐시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230"/>
                          </a:solidFill>
                        </a:rPr>
                        <a:t>+0%p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230"/>
                          </a:solidFill>
                        </a:rPr>
                        <a:t>+0%p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230"/>
                          </a:solidFill>
                        </a:rPr>
                        <a:t>-5%p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230"/>
                          </a:solidFill>
                        </a:rPr>
                        <a:t>-4%p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A2230"/>
                          </a:solidFill>
                        </a:rPr>
                        <a:t>-0.0030 ★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F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230"/>
                          </a:solidFill>
                        </a:rPr>
                        <a:t>-0.1초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230"/>
                          </a:solidFill>
                        </a:rPr>
                        <a:t>v2 보완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230"/>
                          </a:solidFill>
                        </a:rPr>
                        <a:t>+0%p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A2230"/>
                          </a:solidFill>
                        </a:rPr>
                        <a:t>-24%p ★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F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230"/>
                          </a:solidFill>
                        </a:rPr>
                        <a:t>-3%p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230"/>
                          </a:solidFill>
                        </a:rPr>
                        <a:t>+2%p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230"/>
                          </a:solidFill>
                        </a:rPr>
                        <a:t>-0.0003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230"/>
                          </a:solidFill>
                        </a:rPr>
                        <a:t>+0.1초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230"/>
                          </a:solidFill>
                        </a:rPr>
                        <a:t>v2 위에 비용·런타임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230"/>
                          </a:solidFill>
                        </a:rPr>
                        <a:t>+0%p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230"/>
                          </a:solidFill>
                        </a:rPr>
                        <a:t>+0%p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230"/>
                          </a:solidFill>
                        </a:rPr>
                        <a:t>+0%p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230"/>
                          </a:solidFill>
                        </a:rPr>
                        <a:t>0%p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A2230"/>
                          </a:solidFill>
                        </a:rPr>
                        <a:t>-0.0029 ★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F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A2230"/>
                          </a:solidFill>
                        </a:rPr>
                        <a:t>-0.4초 ★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FE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A2230"/>
                          </a:solidFill>
                        </a:rPr>
                        <a:t>전체 (Before→After)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A2230"/>
                          </a:solidFill>
                        </a:rPr>
                        <a:t>-46%p ★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F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A2230"/>
                          </a:solidFill>
                        </a:rPr>
                        <a:t>-30%p ★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F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A2230"/>
                          </a:solidFill>
                        </a:rPr>
                        <a:t>+31%p ★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F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A2230"/>
                          </a:solidFill>
                        </a:rPr>
                        <a:t>+22%p ★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F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A2230"/>
                          </a:solidFill>
                        </a:rPr>
                        <a:t>-0.0023 ★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F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A2230"/>
                          </a:solidFill>
                        </a:rPr>
                        <a:t>+1.8초 ★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3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1206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★ = 95% 신뢰구간이 0을 포함하지 않음 (holdout 36건, 질의 단위 paired bootstrap 2,000회). 초록 = 좋아짐, 주황 = 나빠짐. 표시 없는 칸은 차이가 있다고 말할 수 없음.</a:t>
            </a:r>
            <a:endParaRPr lang="en-US" sz="125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57607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accent3"/>
                </a:solidFill>
              </a:rPr>
              <a:t>results/stats_holdout.json · eval/stats.py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Before/After 3: 품질을 얻은 대가 — 트레이드오프 한 장</a:t>
            </a:r>
            <a:endParaRPr lang="en-US" sz="2800" dirty="0"/>
          </a:p>
        </p:txBody>
      </p:sp>
      <p:graphicFrame>
        <p:nvGraphicFramePr>
          <p:cNvPr id="11" name="tradeoff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234440"/>
                <a:gridCol w="1234440"/>
                <a:gridCol w="1234440"/>
                <a:gridCol w="1234440"/>
                <a:gridCol w="1737360"/>
                <a:gridCol w="1371600"/>
                <a:gridCol w="1280160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구성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정답 누락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무관 혼입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어구 포함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Judge 통과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장애 1건당 비용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p95 지연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재작성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2230"/>
                          </a:solidFill>
                        </a:rPr>
                        <a:t>base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230"/>
                          </a:solidFill>
                        </a:rPr>
                        <a:t>56%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230"/>
                          </a:solidFill>
                        </a:rPr>
                        <a:t>65%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230"/>
                          </a:solidFill>
                        </a:rPr>
                        <a:t>45%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230"/>
                          </a:solidFill>
                        </a:rPr>
                        <a:t>77%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230"/>
                          </a:solidFill>
                        </a:rPr>
                        <a:t>$0.00343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230"/>
                          </a:solidFill>
                        </a:rPr>
                        <a:t>8.3초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230"/>
                          </a:solidFill>
                        </a:rPr>
                        <a:t>0.0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230"/>
                          </a:solidFill>
                        </a:rPr>
                        <a:t>+RAG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230"/>
                          </a:solidFill>
                        </a:rPr>
                        <a:t>9%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230"/>
                          </a:solidFill>
                        </a:rPr>
                        <a:t>59%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230"/>
                          </a:solidFill>
                        </a:rPr>
                        <a:t>81%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230"/>
                          </a:solidFill>
                        </a:rPr>
                        <a:t>97%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230"/>
                          </a:solidFill>
                        </a:rPr>
                        <a:t>$0.00397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230"/>
                          </a:solidFill>
                        </a:rPr>
                        <a:t>8.9초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230"/>
                          </a:solidFill>
                        </a:rPr>
                        <a:t>0.0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230"/>
                          </a:solidFill>
                        </a:rPr>
                        <a:t>+Judge만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230"/>
                          </a:solidFill>
                        </a:rPr>
                        <a:t>54%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230"/>
                          </a:solidFill>
                        </a:rPr>
                        <a:t>63%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230"/>
                          </a:solidFill>
                        </a:rPr>
                        <a:t>46%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230"/>
                          </a:solidFill>
                        </a:rPr>
                        <a:t>80%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230"/>
                          </a:solidFill>
                        </a:rPr>
                        <a:t>$0.00460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230"/>
                          </a:solidFill>
                        </a:rPr>
                        <a:t>17.1초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230"/>
                          </a:solidFill>
                        </a:rPr>
                        <a:t>7.0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230"/>
                          </a:solidFill>
                        </a:rPr>
                        <a:t>RAG+Judge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230"/>
                          </a:solidFill>
                        </a:rPr>
                        <a:t>9%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230"/>
                          </a:solidFill>
                        </a:rPr>
                        <a:t>59%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230"/>
                          </a:solidFill>
                        </a:rPr>
                        <a:t>78%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230"/>
                          </a:solidFill>
                        </a:rPr>
                        <a:t>97%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230"/>
                          </a:solidFill>
                        </a:rPr>
                        <a:t>$0.00464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230"/>
                          </a:solidFill>
                        </a:rPr>
                        <a:t>12.0초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230"/>
                          </a:solidFill>
                        </a:rPr>
                        <a:t>2.0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230"/>
                          </a:solidFill>
                        </a:rPr>
                        <a:t>+비용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230"/>
                          </a:solidFill>
                        </a:rPr>
                        <a:t>9%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230"/>
                          </a:solidFill>
                        </a:rPr>
                        <a:t>58%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230"/>
                          </a:solidFill>
                        </a:rPr>
                        <a:t>72%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230"/>
                          </a:solidFill>
                        </a:rPr>
                        <a:t>93%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230"/>
                          </a:solidFill>
                        </a:rPr>
                        <a:t>$0.00086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230"/>
                          </a:solidFill>
                        </a:rPr>
                        <a:t>10.8초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230"/>
                          </a:solidFill>
                        </a:rPr>
                        <a:t>2.0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230"/>
                          </a:solidFill>
                        </a:rPr>
                        <a:t>+v2 보완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230"/>
                          </a:solidFill>
                        </a:rPr>
                        <a:t>10%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230"/>
                          </a:solidFill>
                        </a:rPr>
                        <a:t>35%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230"/>
                          </a:solidFill>
                        </a:rPr>
                        <a:t>75%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230"/>
                          </a:solidFill>
                        </a:rPr>
                        <a:t>99%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230"/>
                          </a:solidFill>
                        </a:rPr>
                        <a:t>$0.00415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230"/>
                          </a:solidFill>
                        </a:rPr>
                        <a:t>11.8초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230"/>
                          </a:solidFill>
                        </a:rPr>
                        <a:t>0.0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2230"/>
                          </a:solidFill>
                        </a:rPr>
                        <a:t>final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230"/>
                          </a:solidFill>
                        </a:rPr>
                        <a:t>9%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230"/>
                          </a:solidFill>
                        </a:rPr>
                        <a:t>34%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230"/>
                          </a:solidFill>
                        </a:rPr>
                        <a:t>74%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230"/>
                          </a:solidFill>
                        </a:rPr>
                        <a:t>99%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230"/>
                          </a:solidFill>
                        </a:rPr>
                        <a:t>$0.00064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230"/>
                          </a:solidFill>
                        </a:rPr>
                        <a:t>10.7초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230"/>
                          </a:solidFill>
                        </a:rPr>
                        <a:t>0.5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498348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b="1" dirty="0">
                <a:solidFill>
                  <a:schemeClr val="tx1"/>
                </a:solidFill>
              </a:rPr>
              <a:t>읽는 법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Judge를 붙이면 비용과 지연이 오르지만, 품질 지표는 신뢰구간 안에서 움직이지 않았다.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캐스케이드는 장애 1건당 비용을 크게 줄이는 대신 런북 어구 포함이 내려갔다 (-5%p, 유의하지 않음). 이 대가를 받아들일지는 운영 정책의 선택이다.</a:t>
            </a:r>
            <a:endParaRPr lang="en-US" sz="135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1081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accent3"/>
                </a:solidFill>
              </a:rPr>
              <a:t>holdout 36건, 3회 평균. 비용은 OpenAI 공개 단가 x 실측 토큰 추정치 (평가 Judge 제외). 지연은 7구성 동시 실행 부하에서 측정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1차 실측이 찾은 약점을 v2가 고쳤고, holdout에서 확인했다</a:t>
            </a:r>
            <a:endParaRPr lang="en-US" sz="2800" dirty="0"/>
          </a:p>
        </p:txBody>
      </p:sp>
      <p:sp>
        <p:nvSpPr>
          <p:cNvPr id="3" name="stat-unreg"/>
          <p:cNvSpPr/>
          <p:nvPr/>
        </p:nvSpPr>
        <p:spPr>
          <a:xfrm>
            <a:off x="548640" y="1371600"/>
            <a:ext cx="352044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72768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83% → 100%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46888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미등록 질의 평가 통과율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'등록된 런북에 없다'를 밝히게 됨</a:t>
            </a:r>
            <a:endParaRPr lang="en-US" sz="1350" dirty="0"/>
          </a:p>
        </p:txBody>
      </p:sp>
      <p:sp>
        <p:nvSpPr>
          <p:cNvPr id="6" name="stat-wrong"/>
          <p:cNvSpPr/>
          <p:nvPr/>
        </p:nvSpPr>
        <p:spPr>
          <a:xfrm>
            <a:off x="4334256" y="1371600"/>
            <a:ext cx="352044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608576" y="1572768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59% → 35%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4608576" y="246888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무관 런북 혼입률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최소 유사도 기준 (dev로만 정함)</a:t>
            </a:r>
            <a:endParaRPr lang="en-US" sz="1350" dirty="0"/>
          </a:p>
        </p:txBody>
      </p:sp>
      <p:sp>
        <p:nvSpPr>
          <p:cNvPr id="9" name="stat-rw"/>
          <p:cNvSpPr/>
          <p:nvPr/>
        </p:nvSpPr>
        <p:spPr>
          <a:xfrm>
            <a:off x="8119872" y="1371600"/>
            <a:ext cx="352044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94192" y="1572768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2.0 → 0.0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8394192" y="246888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Judge 재작성 (holdout 36건, 회당)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근거 밖 요구를 하지 않게 함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474720"/>
            <a:ext cx="11064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1차 실측(dev 24건)에서 본 문제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Kafka처럼 런북이 없는 질문에 Judge가 '런북 절차를 반영하라'며 반려 → 답이 무관한 절차를 섞는 쪽으로 바뀜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RAG가 유사도와 상관없이 늘 런북을 넣음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E8833A"/>
                </a:solidFill>
              </a:rPr>
              <a:t>주의: 최소 유사도 0.3236는 dev에서 정답 있는 질의와 없는 질의의 간격이 0.0023뿐인 경계값이다. holdout에서 정답 누락은 9% → 10%로 거의 늘지 않았다.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운영 안정성: 동시 요청, 도구 장애, 반복 질문</a:t>
            </a:r>
            <a:endParaRPr lang="en-US" sz="2800" dirty="0"/>
          </a:p>
        </p:txBody>
      </p:sp>
      <p:graphicFrame>
        <p:nvGraphicFramePr>
          <p:cNvPr id="3" name="chart-conc" descr=""/>
          <p:cNvGraphicFramePr/>
          <p:nvPr/>
        </p:nvGraphicFramePr>
        <p:xfrm>
          <a:off x="548640" y="1280160"/>
          <a:ext cx="566928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fault-card"/>
          <p:cNvSpPr/>
          <p:nvPr/>
        </p:nvSpPr>
        <p:spPr>
          <a:xfrm>
            <a:off x="6492240" y="1280160"/>
            <a:ext cx="5148072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766560" y="1417320"/>
            <a:ext cx="4663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02C"/>
                </a:solidFill>
              </a:rPr>
              <a:t>도구 장애 주입 (모니터링 호출 30% 실패)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8A94A3"/>
                </a:solidFill>
              </a:rPr>
              <a:t>장애를 맞은 질의 중 끝까지 답한 건수 (LLM 없이 코드 경로만 측정)</a:t>
            </a:r>
            <a:endParaRPr lang="en-US" sz="14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55E4B"/>
                </a:solidFill>
              </a:rPr>
              <a:t>base 0/21 · 허용 끔 0/21 · final 21/21</a:t>
            </a:r>
            <a:endParaRPr lang="en-US" sz="1400" dirty="0"/>
          </a:p>
        </p:txBody>
      </p:sp>
      <p:sp>
        <p:nvSpPr>
          <p:cNvPr id="6" name="cache-card"/>
          <p:cNvSpPr/>
          <p:nvPr/>
        </p:nvSpPr>
        <p:spPr>
          <a:xfrm>
            <a:off x="6492240" y="3520440"/>
            <a:ext cx="5148072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766560" y="3657600"/>
            <a:ext cx="4663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02C"/>
                </a:solidFill>
              </a:rPr>
              <a:t>반복 질문 캐시 (같은 60건 2회, 실제 API)</a:t>
            </a:r>
            <a:endParaRPr lang="en-US" sz="14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55E4B"/>
                </a:solidFill>
              </a:rPr>
              <a:t>2회차 적중 112/160, 지연 p50 7.9초 → 5.6초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route·plan·임베딩만 캐시 (final 비용의 19%). 2회차 비용 $0.0272 → $0.0233. 모니터링·답변은 캐시하지 않음.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55778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accent3"/>
                </a:solidFill>
              </a:rPr>
              <a:t>동시성·장애 주입은 API 지출 한도 소진 뒤 API 없이 측정 (results/concurrency_bench_simulated_latest.json · fault_bench_fake_latest.json). 캐시는 실제 API (cache_bench_latest.json)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평가자 검증: AI 채점을 그대로 믿지 않았다</a:t>
            </a:r>
            <a:endParaRPr lang="en-US" sz="2800" dirty="0"/>
          </a:p>
        </p:txBody>
      </p:sp>
      <p:graphicFrame>
        <p:nvGraphicFramePr>
          <p:cNvPr id="3" name="chart-pass" descr=""/>
          <p:cNvGraphicFramePr/>
          <p:nvPr/>
        </p:nvGraphicFramePr>
        <p:xfrm>
          <a:off x="548640" y="1280160"/>
          <a:ext cx="54864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4" name="claude-kappa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1371600"/>
          <a:ext cx="5330952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097280"/>
                <a:gridCol w="1097280"/>
                <a:gridCol w="1399032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지표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일치율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kappa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Judge 관대도*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230"/>
                          </a:solidFill>
                        </a:rPr>
                        <a:t>관련성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230"/>
                          </a:solidFill>
                        </a:rPr>
                        <a:t>73%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230"/>
                          </a:solidFill>
                        </a:rPr>
                        <a:t>0.44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230"/>
                          </a:solidFill>
                        </a:rPr>
                        <a:t>57%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230"/>
                          </a:solidFill>
                        </a:rPr>
                        <a:t>완전성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230"/>
                          </a:solidFill>
                        </a:rPr>
                        <a:t>78%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230"/>
                          </a:solidFill>
                        </a:rPr>
                        <a:t>0.02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230"/>
                          </a:solidFill>
                        </a:rPr>
                        <a:t>83%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230"/>
                          </a:solidFill>
                        </a:rPr>
                        <a:t>도메인 적합성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230"/>
                          </a:solidFill>
                        </a:rPr>
                        <a:t>55%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230"/>
                          </a:solidFill>
                        </a:rPr>
                        <a:t>0.25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230"/>
                          </a:solidFill>
                        </a:rPr>
                        <a:t>63%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230"/>
                          </a:solidFill>
                        </a:rPr>
                        <a:t>명확성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230"/>
                          </a:solidFill>
                        </a:rPr>
                        <a:t>95%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230"/>
                          </a:solidFill>
                        </a:rPr>
                        <a:t>0.37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230"/>
                          </a:solidFill>
                        </a:rPr>
                        <a:t>67%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2230"/>
                          </a:solidFill>
                        </a:rPr>
                        <a:t>종합 (3/4)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230"/>
                          </a:solidFill>
                        </a:rPr>
                        <a:t>70%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230"/>
                          </a:solidFill>
                        </a:rPr>
                        <a:t>0.39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230"/>
                          </a:solidFill>
                        </a:rPr>
                        <a:t>59%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6309360" y="3931920"/>
            <a:ext cx="5330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accent3"/>
                </a:solidFill>
              </a:rPr>
              <a:t>평가 Judge vs 독립 평가자(Claude, Judge 판정을 가린 블라인드 채점) base 답변 60건. 사람 라벨이 아니다. * 독립 평가자가 Fail로 본 답을 Judge가 Pass로 준 비율. 사람 표본 검증은 진행 중.</a:t>
            </a:r>
            <a:endParaRPr lang="en-US" sz="115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5349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평가 Judge는 RAG 이후 97% 이상에서 포화돼 구성 차이를 잘 보지 못했다. 그래서 Judge 무관 지표(정답 누락·혼입, 런북 어구 포함)로 결론을 냈다.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시연: 같은 질문, base와 final을 나란히</a:t>
            </a:r>
            <a:endParaRPr lang="en-US" sz="2800" dirty="0"/>
          </a:p>
        </p:txBody>
      </p:sp>
      <p:sp>
        <p:nvSpPr>
          <p:cNvPr id="3" name="demo-cmd"/>
          <p:cNvSpPr/>
          <p:nvPr/>
        </p:nvSpPr>
        <p:spPr>
          <a:xfrm>
            <a:off x="548640" y="1371600"/>
            <a:ext cx="11064240" cy="914400"/>
          </a:xfrm>
          <a:prstGeom prst="roundRect">
            <a:avLst>
              <a:gd name="adj" fmla="val 12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4630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.venv/bin/python scripts/demo_side_by_side.py --id Q01</a:t>
            </a:r>
            <a:endParaRPr lang="en-US" sz="1600" dirty="0"/>
          </a:p>
        </p:txBody>
      </p:sp>
      <p:sp>
        <p:nvSpPr>
          <p:cNvPr id="5" name="demo-base"/>
          <p:cNvSpPr/>
          <p:nvPr/>
        </p:nvSpPr>
        <p:spPr>
          <a:xfrm>
            <a:off x="548640" y="2560320"/>
            <a:ext cx="5458968" cy="29260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7432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[base]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572000" y="274320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오답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291840"/>
            <a:ext cx="4937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50" dirty="0">
                <a:solidFill>
                  <a:srgbClr val="8A94A3"/>
                </a:solidFill>
              </a:rPr>
              <a:t>고른 런북  </a:t>
            </a:r>
            <a:pPr indent="0" marL="0">
              <a:spcAft>
                <a:spcPts val="800"/>
              </a:spcAft>
              <a:buNone/>
            </a:pPr>
            <a:r>
              <a:rPr lang="en-US" sz="1450" b="1" dirty="0">
                <a:solidFill>
                  <a:schemeClr val="tx1"/>
                </a:solidFill>
              </a:rPr>
              <a:t>high-latency (응답 지연 절차)</a:t>
            </a:r>
            <a:endParaRPr lang="en-US" sz="14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50" dirty="0">
                <a:solidFill>
                  <a:srgbClr val="8A94A3"/>
                </a:solidFill>
              </a:rPr>
              <a:t>답의 핵심  </a:t>
            </a:r>
            <a:pPr indent="0" marL="0">
              <a:spcAft>
                <a:spcPts val="800"/>
              </a:spcAft>
              <a:buNone/>
            </a:pPr>
            <a:r>
              <a:rPr lang="en-US" sz="1450" dirty="0">
                <a:solidFill>
                  <a:schemeClr val="tx1"/>
                </a:solidFill>
              </a:rPr>
              <a:t>커넥션 풀 늘리기, 트래픽 분산…</a:t>
            </a:r>
            <a:endParaRPr lang="en-US" sz="1450" dirty="0"/>
          </a:p>
        </p:txBody>
      </p:sp>
      <p:sp>
        <p:nvSpPr>
          <p:cNvPr id="9" name="demo-final"/>
          <p:cNvSpPr/>
          <p:nvPr/>
        </p:nvSpPr>
        <p:spPr>
          <a:xfrm>
            <a:off x="6153912" y="2560320"/>
            <a:ext cx="5458968" cy="29260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28232" y="27432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[final]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0177272" y="274320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정답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428232" y="3291840"/>
            <a:ext cx="4937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50" dirty="0">
                <a:solidFill>
                  <a:srgbClr val="8A94A3"/>
                </a:solidFill>
              </a:rPr>
              <a:t>고른 런북  </a:t>
            </a:r>
            <a:pPr indent="0" marL="0">
              <a:spcAft>
                <a:spcPts val="800"/>
              </a:spcAft>
              <a:buNone/>
            </a:pPr>
            <a:r>
              <a:rPr lang="en-US" sz="1450" b="1" dirty="0">
                <a:solidFill>
                  <a:schemeClr val="tx1"/>
                </a:solidFill>
              </a:rPr>
              <a:t>db-down (+disk-full)</a:t>
            </a:r>
            <a:endParaRPr lang="en-US" sz="14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50" dirty="0">
                <a:solidFill>
                  <a:srgbClr val="8A94A3"/>
                </a:solidFill>
              </a:rPr>
              <a:t>답의 핵심  </a:t>
            </a:r>
            <a:pPr indent="0" marL="0">
              <a:spcAft>
                <a:spcPts val="800"/>
              </a:spcAft>
              <a:buNone/>
            </a:pPr>
            <a:r>
              <a:rPr lang="en-US" sz="1450" dirty="0">
                <a:solidFill>
                  <a:schemeClr val="tx1"/>
                </a:solidFill>
              </a:rPr>
              <a:t>커넥션 풀·리플리케이션 점검, failover 노드로 전환…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7150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accent3"/>
                </a:solidFill>
              </a:rPr>
              <a:t>질문: "DB 프라이머리가 다운됐습니다. 대응 절차를 알려주세요." 화면 하나에 런북 정오·답변·지연·비용·근거 없는 수치. 기록 results/raw/demo_*.json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한계와 다음 개선</a:t>
            </a:r>
            <a:endParaRPr lang="en-US" sz="2800" dirty="0"/>
          </a:p>
        </p:txBody>
      </p:sp>
      <p:sp>
        <p:nvSpPr>
          <p:cNvPr id="3" name="lim-0"/>
          <p:cNvSpPr/>
          <p:nvPr/>
        </p:nvSpPr>
        <p:spPr>
          <a:xfrm>
            <a:off x="548640" y="1280160"/>
            <a:ext cx="11064240" cy="1078992"/>
          </a:xfrm>
          <a:prstGeom prst="roundRect">
            <a:avLst>
              <a:gd name="adj" fmla="val 1016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lim-dot-0"/>
          <p:cNvSpPr/>
          <p:nvPr/>
        </p:nvSpPr>
        <p:spPr>
          <a:xfrm>
            <a:off x="777240" y="1609344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0934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!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389888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일반화 격차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792224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RAG Recall@1이 dev 72% → holdout 52%. 자기 말로 묻는 holdout 질의는 33%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1389888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accent6"/>
                </a:solidFill>
              </a:rPr>
              <a:t>다음: 런북 본문 외에 증상 예시 문장을 색인해 질문과 문서의 표현 차이를 줄임</a:t>
            </a:r>
            <a:endParaRPr lang="en-US" sz="1350" dirty="0"/>
          </a:p>
        </p:txBody>
      </p:sp>
      <p:sp>
        <p:nvSpPr>
          <p:cNvPr id="9" name="lim-1"/>
          <p:cNvSpPr/>
          <p:nvPr/>
        </p:nvSpPr>
        <p:spPr>
          <a:xfrm>
            <a:off x="548640" y="2487168"/>
            <a:ext cx="11064240" cy="1078992"/>
          </a:xfrm>
          <a:prstGeom prst="roundRect">
            <a:avLst>
              <a:gd name="adj" fmla="val 1016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lim-dot-1"/>
          <p:cNvSpPr/>
          <p:nvPr/>
        </p:nvSpPr>
        <p:spPr>
          <a:xfrm>
            <a:off x="777240" y="2816352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28163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!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417320" y="2596896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무관 런북 혼입이 남음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417320" y="299923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final 혼입 34%. 1위 점수와 가까운 런북을 함께 넣는 규칙 때문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2596896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accent6"/>
                </a:solidFill>
              </a:rPr>
              <a:t>다음: 재순위(reranker), 질문 속 증상 수에 맞춘 투입 개수</a:t>
            </a:r>
            <a:endParaRPr lang="en-US" sz="1350" dirty="0"/>
          </a:p>
        </p:txBody>
      </p:sp>
      <p:sp>
        <p:nvSpPr>
          <p:cNvPr id="15" name="lim-2"/>
          <p:cNvSpPr/>
          <p:nvPr/>
        </p:nvSpPr>
        <p:spPr>
          <a:xfrm>
            <a:off x="548640" y="3694176"/>
            <a:ext cx="11064240" cy="1078992"/>
          </a:xfrm>
          <a:prstGeom prst="roundRect">
            <a:avLst>
              <a:gd name="adj" fmla="val 1016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lim-dot-2"/>
          <p:cNvSpPr/>
          <p:nvPr/>
        </p:nvSpPr>
        <p:spPr>
          <a:xfrm>
            <a:off x="777240" y="402336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4023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!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417320" y="3803904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캐스케이드의 품질 대가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417320" y="420624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어구 포함 -5%p (유의하지 않음). 저가 초안이 런북 문구를 덜 인용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6492240" y="3803904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accent6"/>
                </a:solidFill>
              </a:rPr>
              <a:t>다음: Judge 대신 결정적 어구 대조로 승급 기준을 정함</a:t>
            </a:r>
            <a:endParaRPr lang="en-US" sz="1350" dirty="0"/>
          </a:p>
        </p:txBody>
      </p:sp>
      <p:sp>
        <p:nvSpPr>
          <p:cNvPr id="21" name="lim-3"/>
          <p:cNvSpPr/>
          <p:nvPr/>
        </p:nvSpPr>
        <p:spPr>
          <a:xfrm>
            <a:off x="548640" y="4901184"/>
            <a:ext cx="11064240" cy="1078992"/>
          </a:xfrm>
          <a:prstGeom prst="roundRect">
            <a:avLst>
              <a:gd name="adj" fmla="val 1016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lim-dot-3"/>
          <p:cNvSpPr/>
          <p:nvPr/>
        </p:nvSpPr>
        <p:spPr>
          <a:xfrm>
            <a:off x="777240" y="5230368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77240" y="52303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!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1417320" y="5010912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평가 규모와 범위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1417320" y="5413248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holdout 36건 x 3회 (1건 = 2.8%p). 평가 Judge 포화. 라우터는 개선 범위 밖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6492240" y="5010912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accent6"/>
                </a:solidFill>
              </a:rPr>
              <a:t>다음: 질의 확대, 라우팅 개선을 같은 체계로 재측정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698480" cy="1645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기능을 더하기 전에, 효과를 재는 법부터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RAG가 조치 정확도를 올렸고, Judge는 기준을 잘못 세우면 비용만 늘렸으며, 캐스케이드로 장애 1건당 비용을 낮췄다. 모두 holdout에서, 반복과 짝지은 비교로 확인했다.</a:t>
            </a:r>
            <a:endParaRPr lang="en-US" sz="18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github.com/jang961111-hash/incident-agent-ablation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ncident Ablation">
  <a:themeElements>
    <a:clrScheme name="Incident Ablation">
      <a:dk1>
        <a:srgbClr val="1A2230"/>
      </a:dk1>
      <a:lt1>
        <a:srgbClr val="FFFFFF"/>
      </a:lt1>
      <a:dk2>
        <a:srgbClr val="16202C"/>
      </a:dk2>
      <a:lt2>
        <a:srgbClr val="EEF2F6"/>
      </a:lt2>
      <a:accent1>
        <a:srgbClr val="E8833A"/>
      </a:accent1>
      <a:accent2>
        <a:srgbClr val="1F8A70"/>
      </a:accent2>
      <a:accent3>
        <a:srgbClr val="8A94A3"/>
      </a:accent3>
      <a:accent4>
        <a:srgbClr val="C9A227"/>
      </a:accent4>
      <a:accent5>
        <a:srgbClr val="D1495B"/>
      </a:accent5>
      <a:accent6>
        <a:srgbClr val="155E4B"/>
      </a:accent6>
      <a:hlink>
        <a:srgbClr val="1F8A70"/>
      </a:hlink>
      <a:folHlink>
        <a:srgbClr val="155E4B"/>
      </a:folHlink>
    </a:clrScheme>
    <a:fontScheme name="Incident Ablation">
      <a:majorFont>
        <a:latin typeface="Apple SD Gothic Ne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ple SD Gothic Ne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인시던트 에이전트 개선 Ablation</dc:title>
  <dc:subject>PptxGenJS Presentation</dc:subject>
  <dc:creator>장병헌 (G062)</dc:creator>
  <cp:lastModifiedBy>장병헌 (G062)</cp:lastModifiedBy>
  <cp:revision>1</cp:revision>
  <dcterms:created xsi:type="dcterms:W3CDTF">2026-10-21T06:44:45Z</dcterms:created>
  <dcterms:modified xsi:type="dcterms:W3CDTF">2026-10-21T06:44:45Z</dcterms:modified>
</cp:coreProperties>
</file>